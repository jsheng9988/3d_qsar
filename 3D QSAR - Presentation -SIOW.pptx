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1" r:id="rId16"/>
    <p:sldId id="272" r:id="rId17"/>
    <p:sldId id="275" r:id="rId18"/>
    <p:sldId id="277" r:id="rId19"/>
    <p:sldId id="279" r:id="rId20"/>
    <p:sldId id="280" r:id="rId21"/>
    <p:sldId id="281" r:id="rId22"/>
    <p:sldId id="282" r:id="rId23"/>
    <p:sldId id="283" r:id="rId24"/>
    <p:sldId id="284" r:id="rId25"/>
    <p:sldId id="289" r:id="rId26"/>
    <p:sldId id="276" r:id="rId27"/>
    <p:sldId id="273" r:id="rId28"/>
    <p:sldId id="285" r:id="rId29"/>
    <p:sldId id="286" r:id="rId30"/>
    <p:sldId id="287" r:id="rId31"/>
    <p:sldId id="288" r:id="rId3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6993" autoAdjust="0"/>
  </p:normalViewPr>
  <p:slideViewPr>
    <p:cSldViewPr snapToGrid="0">
      <p:cViewPr varScale="1">
        <p:scale>
          <a:sx n="63" d="100"/>
          <a:sy n="63" d="100"/>
        </p:scale>
        <p:origin x="1426"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MY"/>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74D4B8F-FE79-478A-9F62-7B7967B62A3F}" type="datetimeFigureOut">
              <a:rPr lang="en-MY" smtClean="0"/>
              <a:t>9/1/2025</a:t>
            </a:fld>
            <a:endParaRPr lang="en-MY"/>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MY"/>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MY"/>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0686A96-71B3-40B6-A18A-D2F7AB2C8874}" type="slidenum">
              <a:rPr lang="en-MY" smtClean="0"/>
              <a:t>‹#›</a:t>
            </a:fld>
            <a:endParaRPr lang="en-MY"/>
          </a:p>
        </p:txBody>
      </p:sp>
    </p:spTree>
    <p:extLst>
      <p:ext uri="{BB962C8B-B14F-4D97-AF65-F5344CB8AC3E}">
        <p14:creationId xmlns:p14="http://schemas.microsoft.com/office/powerpoint/2010/main" val="26492960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We have used QSAR (Quantitative structure-activity relationship) as computational mathematical methods to build models that show us the statistical significance of correlations between a series of molecular structure are their associated biological property. The usual 2D QSAR method, have limitations only one or two dimensions to describe the structure. Therefore, we use 3-D QSAR to view their spatial arrangement and graphical outputs that provides us more accurate potential drug-receptor interactions.</a:t>
            </a:r>
          </a:p>
          <a:p>
            <a:endParaRPr lang="en-MY" sz="1200" dirty="0">
              <a:effectLst/>
              <a:latin typeface="Aptos" panose="020B0004020202020204" pitchFamily="34" charset="0"/>
              <a:ea typeface="Aptos" panose="020B0004020202020204" pitchFamily="34" charset="0"/>
              <a:cs typeface="Times New Roman" panose="02020603050405020304" pitchFamily="18" charset="0"/>
            </a:endParaRPr>
          </a:p>
          <a:p>
            <a:r>
              <a:rPr lang="en-US" sz="1200"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A dataset named DAT, which has been chosen to analyze in this article. The dataset has 36 training molecules and 6 test molecules, which is less than the maximum value the of number of molecules we can upload into the web portal. This dataset is one of the 30 publicly available datasets that that were used to assess the </a:t>
            </a:r>
            <a:r>
              <a:rPr lang="en-US" sz="1200" dirty="0" err="1">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Py-CoMFA</a:t>
            </a:r>
            <a:r>
              <a:rPr lang="en-US" sz="1200"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 application and robustness. The datasets are all pre-aligned with their associated bioactivities were retrieved from the literature. The analysis and QSAR model building are done through the www.3d-qsar.com web applications suites portal. </a:t>
            </a:r>
            <a:endParaRPr lang="en-MY" sz="1200" dirty="0">
              <a:effectLst/>
              <a:latin typeface="Aptos" panose="020B0004020202020204" pitchFamily="34" charset="0"/>
              <a:ea typeface="Aptos" panose="020B0004020202020204" pitchFamily="34" charset="0"/>
              <a:cs typeface="Times New Roman" panose="02020603050405020304" pitchFamily="18" charset="0"/>
            </a:endParaRPr>
          </a:p>
          <a:p>
            <a:endParaRPr lang="en-MY" dirty="0"/>
          </a:p>
        </p:txBody>
      </p:sp>
      <p:sp>
        <p:nvSpPr>
          <p:cNvPr id="4" name="Slide Number Placeholder 3"/>
          <p:cNvSpPr>
            <a:spLocks noGrp="1"/>
          </p:cNvSpPr>
          <p:nvPr>
            <p:ph type="sldNum" sz="quarter" idx="5"/>
          </p:nvPr>
        </p:nvSpPr>
        <p:spPr/>
        <p:txBody>
          <a:bodyPr/>
          <a:lstStyle/>
          <a:p>
            <a:fld id="{50686A96-71B3-40B6-A18A-D2F7AB2C8874}" type="slidenum">
              <a:rPr lang="en-MY" smtClean="0"/>
              <a:t>2</a:t>
            </a:fld>
            <a:endParaRPr lang="en-MY"/>
          </a:p>
        </p:txBody>
      </p:sp>
    </p:spTree>
    <p:extLst>
      <p:ext uri="{BB962C8B-B14F-4D97-AF65-F5344CB8AC3E}">
        <p14:creationId xmlns:p14="http://schemas.microsoft.com/office/powerpoint/2010/main" val="39755120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This dataset chosen represents dopamine transporter (DAT), which suggest the key site of action for drugs, such as cocaine in the central nervous system. The findings from the QSAR model provide us the guide for the design of the improvement of compounds with DAT activity, that is important to treat cocaine addiction and some neurological disorders. </a:t>
            </a:r>
            <a:endParaRPr lang="en-MY" sz="1200" dirty="0">
              <a:effectLst/>
              <a:latin typeface="Aptos" panose="020B0004020202020204" pitchFamily="34" charset="0"/>
              <a:ea typeface="Aptos" panose="020B0004020202020204" pitchFamily="34" charset="0"/>
              <a:cs typeface="Times New Roman" panose="02020603050405020304" pitchFamily="18" charset="0"/>
            </a:endParaRPr>
          </a:p>
          <a:p>
            <a:endParaRPr lang="en-US" sz="1200" dirty="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endParaRPr>
          </a:p>
          <a:p>
            <a:r>
              <a:rPr lang="en-US" sz="1200" dirty="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Diagram shows the overlap of all molecules in the dataset. This is the DAT alignment rule, the molecules are aligned based on the scaffold.</a:t>
            </a:r>
            <a:endParaRPr lang="en-MY" sz="1200" dirty="0">
              <a:effectLst/>
              <a:latin typeface="Aptos" panose="020B0004020202020204" pitchFamily="34" charset="0"/>
              <a:ea typeface="Aptos" panose="020B0004020202020204" pitchFamily="34" charset="0"/>
              <a:cs typeface="Times New Roman" panose="02020603050405020304" pitchFamily="18" charset="0"/>
            </a:endParaRPr>
          </a:p>
          <a:p>
            <a:endParaRPr lang="en-MY" dirty="0"/>
          </a:p>
        </p:txBody>
      </p:sp>
      <p:sp>
        <p:nvSpPr>
          <p:cNvPr id="4" name="Slide Number Placeholder 3"/>
          <p:cNvSpPr>
            <a:spLocks noGrp="1"/>
          </p:cNvSpPr>
          <p:nvPr>
            <p:ph type="sldNum" sz="quarter" idx="5"/>
          </p:nvPr>
        </p:nvSpPr>
        <p:spPr/>
        <p:txBody>
          <a:bodyPr/>
          <a:lstStyle/>
          <a:p>
            <a:fld id="{50686A96-71B3-40B6-A18A-D2F7AB2C8874}" type="slidenum">
              <a:rPr lang="en-MY" smtClean="0"/>
              <a:t>3</a:t>
            </a:fld>
            <a:endParaRPr lang="en-MY"/>
          </a:p>
        </p:txBody>
      </p:sp>
    </p:spTree>
    <p:extLst>
      <p:ext uri="{BB962C8B-B14F-4D97-AF65-F5344CB8AC3E}">
        <p14:creationId xmlns:p14="http://schemas.microsoft.com/office/powerpoint/2010/main" val="20998269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lvl="0" indent="-342900" algn="just">
              <a:lnSpc>
                <a:spcPct val="150000"/>
              </a:lnSpc>
              <a:buFont typeface="+mj-lt"/>
              <a:buAutoNum type="arabicPeriod"/>
            </a:pPr>
            <a:r>
              <a:rPr lang="en-US" sz="1200" dirty="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The chosen dataset is: “15.DAT” data set, and 36 training set and 6 training set are selected to make 3D-QSAR model in the 3D-QSAR.com web application. The test set will prove the external predictivity of the resulting model. The unit for activity used is </a:t>
            </a:r>
            <a:r>
              <a:rPr lang="en-US" sz="1200" dirty="0" err="1">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pKi</a:t>
            </a:r>
            <a:r>
              <a:rPr lang="en-US" sz="1200" dirty="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a:t>
            </a:r>
          </a:p>
          <a:p>
            <a:pPr marL="342900" lvl="0" indent="-342900" algn="just">
              <a:lnSpc>
                <a:spcPct val="150000"/>
              </a:lnSpc>
              <a:buFont typeface="+mj-lt"/>
              <a:buAutoNum type="arabicPeriod"/>
            </a:pPr>
            <a:endParaRPr lang="en-US" sz="1200" dirty="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endParaRPr>
          </a:p>
          <a:p>
            <a:pPr marL="342900" lvl="0" indent="-342900" algn="just">
              <a:lnSpc>
                <a:spcPct val="150000"/>
              </a:lnSpc>
              <a:buFont typeface="+mj-lt"/>
              <a:buAutoNum type="arabicPeriod"/>
            </a:pPr>
            <a:endParaRPr lang="en-MY" sz="12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gn="just">
              <a:lnSpc>
                <a:spcPct val="150000"/>
              </a:lnSpc>
              <a:buFont typeface="+mj-lt"/>
              <a:buAutoNum type="arabicPeriod"/>
            </a:pPr>
            <a:r>
              <a:rPr lang="en-US" sz="1200" dirty="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The molecules are first submitted to make 3D QSAR model, with default model used by Cramer in original </a:t>
            </a:r>
            <a:r>
              <a:rPr lang="en-US" sz="1200" dirty="0" err="1">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CoMFA</a:t>
            </a:r>
            <a:r>
              <a:rPr lang="en-US" sz="1200" dirty="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 to compare the values obtained later. </a:t>
            </a:r>
          </a:p>
          <a:p>
            <a:pPr marL="342900" lvl="0" indent="-342900" algn="just">
              <a:lnSpc>
                <a:spcPct val="150000"/>
              </a:lnSpc>
              <a:buFont typeface="+mj-lt"/>
              <a:buAutoNum type="arabicPeriod"/>
            </a:pPr>
            <a:endParaRPr lang="en-US" sz="1200" dirty="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endParaRPr>
          </a:p>
          <a:p>
            <a:pPr marL="342900" lvl="0" indent="-342900" algn="just">
              <a:lnSpc>
                <a:spcPct val="150000"/>
              </a:lnSpc>
              <a:buFont typeface="+mj-lt"/>
              <a:buAutoNum type="arabicPeriod"/>
            </a:pPr>
            <a:endParaRPr lang="en-MY" sz="12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gn="just">
              <a:lnSpc>
                <a:spcPct val="150000"/>
              </a:lnSpc>
              <a:spcAft>
                <a:spcPts val="800"/>
              </a:spcAft>
              <a:buFont typeface="+mj-lt"/>
              <a:buAutoNum type="arabicPeriod"/>
            </a:pPr>
            <a:r>
              <a:rPr lang="en-US" sz="1200" dirty="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Then the CV is set to “true” to compare the result with the previous one. This means that the model’s robustness was evaluated by the means of cross validation using leave-one-out method (LOO). </a:t>
            </a:r>
            <a:endParaRPr lang="en-MY" sz="1200" dirty="0">
              <a:effectLst/>
              <a:latin typeface="Aptos" panose="020B0004020202020204" pitchFamily="34" charset="0"/>
              <a:ea typeface="Aptos" panose="020B0004020202020204" pitchFamily="34" charset="0"/>
              <a:cs typeface="Times New Roman" panose="02020603050405020304" pitchFamily="18" charset="0"/>
            </a:endParaRPr>
          </a:p>
          <a:p>
            <a:endParaRPr lang="en-MY" dirty="0"/>
          </a:p>
        </p:txBody>
      </p:sp>
      <p:sp>
        <p:nvSpPr>
          <p:cNvPr id="4" name="Slide Number Placeholder 3"/>
          <p:cNvSpPr>
            <a:spLocks noGrp="1"/>
          </p:cNvSpPr>
          <p:nvPr>
            <p:ph type="sldNum" sz="quarter" idx="5"/>
          </p:nvPr>
        </p:nvSpPr>
        <p:spPr/>
        <p:txBody>
          <a:bodyPr/>
          <a:lstStyle/>
          <a:p>
            <a:fld id="{50686A96-71B3-40B6-A18A-D2F7AB2C8874}" type="slidenum">
              <a:rPr lang="en-MY" smtClean="0"/>
              <a:t>4</a:t>
            </a:fld>
            <a:endParaRPr lang="en-MY"/>
          </a:p>
        </p:txBody>
      </p:sp>
    </p:spTree>
    <p:extLst>
      <p:ext uri="{BB962C8B-B14F-4D97-AF65-F5344CB8AC3E}">
        <p14:creationId xmlns:p14="http://schemas.microsoft.com/office/powerpoint/2010/main" val="327650229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lvl="0" indent="-228600" algn="just">
              <a:lnSpc>
                <a:spcPct val="150000"/>
              </a:lnSpc>
              <a:buAutoNum type="arabicPeriod" startAt="4"/>
            </a:pPr>
            <a:r>
              <a:rPr lang="en-US" sz="1200" dirty="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The dataset is calculated </a:t>
            </a:r>
            <a:r>
              <a:rPr lang="en-US" sz="1200" dirty="0" err="1">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throught</a:t>
            </a:r>
            <a:r>
              <a:rPr lang="en-US" sz="1200" dirty="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 VPO calculation, and submitted 10 times to have 100 combinations of parameters to get the best result. This vary all the pre-treatment settings such as method TRIPOS, </a:t>
            </a:r>
            <a:r>
              <a:rPr lang="en-US" sz="1200" dirty="0" err="1">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Autogrid</a:t>
            </a:r>
            <a:r>
              <a:rPr lang="en-US" sz="1200" dirty="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 O3G, </a:t>
            </a:r>
            <a:r>
              <a:rPr lang="en-US" sz="1200" dirty="0" err="1">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EasyMIF</a:t>
            </a:r>
            <a:r>
              <a:rPr lang="en-US" sz="1200" dirty="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 and different charge model, etc. Random combinations were run until no substantial increment of q</a:t>
            </a:r>
            <a:r>
              <a:rPr lang="en-US" sz="1200" baseline="30000" dirty="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2</a:t>
            </a:r>
            <a:r>
              <a:rPr lang="en-US" sz="1200" dirty="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 value was reached. </a:t>
            </a:r>
          </a:p>
          <a:p>
            <a:pPr marL="228600" lvl="0" indent="-228600" algn="just">
              <a:lnSpc>
                <a:spcPct val="150000"/>
              </a:lnSpc>
              <a:buAutoNum type="arabicPeriod" startAt="4"/>
            </a:pPr>
            <a:endParaRPr lang="en-MY" sz="1200" dirty="0">
              <a:effectLst/>
              <a:latin typeface="Aptos" panose="020B0004020202020204" pitchFamily="34" charset="0"/>
              <a:ea typeface="Aptos" panose="020B0004020202020204" pitchFamily="34" charset="0"/>
              <a:cs typeface="Times New Roman" panose="02020603050405020304" pitchFamily="18" charset="0"/>
            </a:endParaRPr>
          </a:p>
          <a:p>
            <a:pPr marL="228600" lvl="0" indent="-228600" algn="just">
              <a:lnSpc>
                <a:spcPct val="150000"/>
              </a:lnSpc>
              <a:buAutoNum type="arabicPeriod" startAt="5"/>
            </a:pPr>
            <a:r>
              <a:rPr lang="en-US" sz="1200" dirty="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The results are rearranged with the best Combined CV score, and the selected result with highest score will then generate the maps. </a:t>
            </a:r>
          </a:p>
          <a:p>
            <a:pPr marL="228600" lvl="0" indent="-228600" algn="just">
              <a:lnSpc>
                <a:spcPct val="150000"/>
              </a:lnSpc>
              <a:buAutoNum type="arabicPeriod" startAt="5"/>
            </a:pPr>
            <a:endParaRPr lang="en-MY" sz="1200" dirty="0">
              <a:effectLst/>
              <a:latin typeface="Aptos" panose="020B0004020202020204" pitchFamily="34" charset="0"/>
              <a:ea typeface="Aptos" panose="020B0004020202020204" pitchFamily="34" charset="0"/>
              <a:cs typeface="Times New Roman" panose="02020603050405020304" pitchFamily="18" charset="0"/>
            </a:endParaRPr>
          </a:p>
          <a:p>
            <a:pPr marL="228600" lvl="0" indent="-228600" algn="just">
              <a:lnSpc>
                <a:spcPct val="150000"/>
              </a:lnSpc>
              <a:buAutoNum type="arabicPeriod" startAt="6"/>
            </a:pPr>
            <a:r>
              <a:rPr lang="en-US" sz="1200" dirty="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We repeated the above steps with original parameters, then with run through VPO, and run with Y scrambling, and with Y-scrambling and validate with external test set. Y-scrambling is set to true and is run through 10 iterations. More iterations (100 iterations) would give more promising results, but the time taken is too long and not feasible.</a:t>
            </a:r>
          </a:p>
          <a:p>
            <a:pPr marL="228600" lvl="0" indent="-228600" algn="just">
              <a:lnSpc>
                <a:spcPct val="150000"/>
              </a:lnSpc>
              <a:buAutoNum type="arabicPeriod" startAt="6"/>
            </a:pPr>
            <a:endParaRPr lang="en-MY" sz="1200" dirty="0">
              <a:effectLst/>
              <a:latin typeface="Aptos" panose="020B0004020202020204" pitchFamily="34" charset="0"/>
              <a:ea typeface="Aptos" panose="020B0004020202020204" pitchFamily="34" charset="0"/>
              <a:cs typeface="Times New Roman" panose="02020603050405020304" pitchFamily="18" charset="0"/>
            </a:endParaRPr>
          </a:p>
          <a:p>
            <a:pPr marL="228600" lvl="0" indent="-228600" algn="just">
              <a:lnSpc>
                <a:spcPct val="150000"/>
              </a:lnSpc>
              <a:spcAft>
                <a:spcPts val="800"/>
              </a:spcAft>
              <a:buAutoNum type="arabicPeriod" startAt="7"/>
            </a:pPr>
            <a:r>
              <a:rPr lang="en-US" sz="1200" dirty="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The values and maps are inspected. The results are in the attachment.</a:t>
            </a:r>
          </a:p>
          <a:p>
            <a:pPr marL="228600" lvl="0" indent="-228600" algn="just">
              <a:lnSpc>
                <a:spcPct val="150000"/>
              </a:lnSpc>
              <a:spcAft>
                <a:spcPts val="800"/>
              </a:spcAft>
              <a:buAutoNum type="arabicPeriod" startAt="7"/>
            </a:pPr>
            <a:endParaRPr lang="en-MY" sz="1200" dirty="0">
              <a:effectLst/>
              <a:latin typeface="Aptos" panose="020B0004020202020204" pitchFamily="34" charset="0"/>
              <a:ea typeface="Aptos" panose="020B0004020202020204" pitchFamily="34" charset="0"/>
              <a:cs typeface="Times New Roman" panose="02020603050405020304" pitchFamily="18" charset="0"/>
            </a:endParaRPr>
          </a:p>
          <a:p>
            <a:endParaRPr lang="en-MY" dirty="0"/>
          </a:p>
        </p:txBody>
      </p:sp>
      <p:sp>
        <p:nvSpPr>
          <p:cNvPr id="4" name="Slide Number Placeholder 3"/>
          <p:cNvSpPr>
            <a:spLocks noGrp="1"/>
          </p:cNvSpPr>
          <p:nvPr>
            <p:ph type="sldNum" sz="quarter" idx="5"/>
          </p:nvPr>
        </p:nvSpPr>
        <p:spPr/>
        <p:txBody>
          <a:bodyPr/>
          <a:lstStyle/>
          <a:p>
            <a:fld id="{50686A96-71B3-40B6-A18A-D2F7AB2C8874}" type="slidenum">
              <a:rPr lang="en-MY" smtClean="0"/>
              <a:t>5</a:t>
            </a:fld>
            <a:endParaRPr lang="en-MY"/>
          </a:p>
        </p:txBody>
      </p:sp>
    </p:spTree>
    <p:extLst>
      <p:ext uri="{BB962C8B-B14F-4D97-AF65-F5344CB8AC3E}">
        <p14:creationId xmlns:p14="http://schemas.microsoft.com/office/powerpoint/2010/main" val="42310897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indent="457200" algn="just">
              <a:lnSpc>
                <a:spcPct val="150000"/>
              </a:lnSpc>
              <a:spcAft>
                <a:spcPts val="800"/>
              </a:spcAft>
            </a:pPr>
            <a:r>
              <a:rPr lang="en-MY" sz="1200"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A model with high value of score (higher than 0.7) is considered a good model. For this </a:t>
            </a:r>
            <a:r>
              <a:rPr lang="en-MY" sz="1200" dirty="0" err="1">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qsar</a:t>
            </a:r>
            <a:r>
              <a:rPr lang="en-MY" sz="1200"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 model after running through iterations and calculations with different combination, </a:t>
            </a:r>
            <a:r>
              <a:rPr lang="en-US" sz="1200"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Since the most informative model is the COMBINED one, we arranged the 100 models with the highest score of COMBINED values, and generate the map. W</a:t>
            </a:r>
            <a:r>
              <a:rPr lang="en-MY" sz="1200"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e get a high score of 0.744 for q</a:t>
            </a:r>
            <a:r>
              <a:rPr lang="en-MY" sz="1200" baseline="30000"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2</a:t>
            </a:r>
            <a:r>
              <a:rPr lang="en-MY" sz="1200"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 Combined CV score. Therefore we selected this model to generate the map and further analyse. </a:t>
            </a:r>
          </a:p>
          <a:p>
            <a:pPr indent="457200" algn="just">
              <a:lnSpc>
                <a:spcPct val="150000"/>
              </a:lnSpc>
              <a:spcAft>
                <a:spcPts val="800"/>
              </a:spcAft>
            </a:pPr>
            <a:endParaRPr lang="en-MY" sz="1200"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endParaRPr>
          </a:p>
          <a:p>
            <a:pPr indent="457200" algn="just">
              <a:lnSpc>
                <a:spcPct val="150000"/>
              </a:lnSpc>
              <a:spcAft>
                <a:spcPts val="800"/>
              </a:spcAft>
            </a:pPr>
            <a:endParaRPr lang="en-MY" sz="1200" dirty="0">
              <a:effectLst/>
              <a:latin typeface="Aptos" panose="020B0004020202020204" pitchFamily="34" charset="0"/>
              <a:ea typeface="Aptos" panose="020B0004020202020204" pitchFamily="34" charset="0"/>
              <a:cs typeface="Times New Roman" panose="02020603050405020304" pitchFamily="18" charset="0"/>
            </a:endParaRPr>
          </a:p>
          <a:p>
            <a:pPr indent="457200">
              <a:lnSpc>
                <a:spcPct val="150000"/>
              </a:lnSpc>
              <a:spcAft>
                <a:spcPts val="800"/>
              </a:spcAft>
            </a:pPr>
            <a:r>
              <a:rPr lang="en-US" sz="1200"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The </a:t>
            </a:r>
            <a:r>
              <a:rPr lang="en-US" sz="1200" dirty="0" err="1">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datset</a:t>
            </a:r>
            <a:r>
              <a:rPr lang="en-US" sz="1200"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 used is the DAT, where it has 36 training molecules and 6 test set molecules. Among these molecules, we can see that the maximum potency obtained is 7.81, and the minimum potency is the 3.76, so that the activity range is 4. </a:t>
            </a:r>
            <a:endParaRPr lang="en-MY" sz="1800" dirty="0"/>
          </a:p>
          <a:p>
            <a:endParaRPr lang="en-MY" dirty="0"/>
          </a:p>
        </p:txBody>
      </p:sp>
      <p:sp>
        <p:nvSpPr>
          <p:cNvPr id="4" name="Slide Number Placeholder 3"/>
          <p:cNvSpPr>
            <a:spLocks noGrp="1"/>
          </p:cNvSpPr>
          <p:nvPr>
            <p:ph type="sldNum" sz="quarter" idx="5"/>
          </p:nvPr>
        </p:nvSpPr>
        <p:spPr/>
        <p:txBody>
          <a:bodyPr/>
          <a:lstStyle/>
          <a:p>
            <a:fld id="{50686A96-71B3-40B6-A18A-D2F7AB2C8874}" type="slidenum">
              <a:rPr lang="en-MY" smtClean="0"/>
              <a:t>6</a:t>
            </a:fld>
            <a:endParaRPr lang="en-MY"/>
          </a:p>
        </p:txBody>
      </p:sp>
    </p:spTree>
    <p:extLst>
      <p:ext uri="{BB962C8B-B14F-4D97-AF65-F5344CB8AC3E}">
        <p14:creationId xmlns:p14="http://schemas.microsoft.com/office/powerpoint/2010/main" val="414809156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The structure of the molecules with the highest potency is below, it has </a:t>
            </a:r>
            <a:r>
              <a:rPr lang="en-US" sz="1200" dirty="0" err="1">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pAct</a:t>
            </a:r>
            <a:r>
              <a:rPr lang="en-US" sz="1200"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 value of 7.81, the molecule name is 2g. (SMILES: CN(C)C(C[C@H]1C[N@@H+](C)CC[C@@H]1c1ccc(cc1)[Cl])=O )</a:t>
            </a:r>
            <a:endParaRPr lang="en-MY" sz="1200" dirty="0">
              <a:effectLst/>
              <a:latin typeface="Aptos" panose="020B0004020202020204" pitchFamily="34" charset="0"/>
              <a:ea typeface="Aptos" panose="020B0004020202020204" pitchFamily="34" charset="0"/>
              <a:cs typeface="Times New Roman" panose="02020603050405020304" pitchFamily="18" charset="0"/>
            </a:endParaRPr>
          </a:p>
          <a:p>
            <a:endParaRPr lang="en-MY" dirty="0"/>
          </a:p>
        </p:txBody>
      </p:sp>
      <p:sp>
        <p:nvSpPr>
          <p:cNvPr id="4" name="Slide Number Placeholder 3"/>
          <p:cNvSpPr>
            <a:spLocks noGrp="1"/>
          </p:cNvSpPr>
          <p:nvPr>
            <p:ph type="sldNum" sz="quarter" idx="5"/>
          </p:nvPr>
        </p:nvSpPr>
        <p:spPr/>
        <p:txBody>
          <a:bodyPr/>
          <a:lstStyle/>
          <a:p>
            <a:fld id="{50686A96-71B3-40B6-A18A-D2F7AB2C8874}" type="slidenum">
              <a:rPr lang="en-MY" smtClean="0"/>
              <a:t>7</a:t>
            </a:fld>
            <a:endParaRPr lang="en-MY"/>
          </a:p>
        </p:txBody>
      </p:sp>
    </p:spTree>
    <p:extLst>
      <p:ext uri="{BB962C8B-B14F-4D97-AF65-F5344CB8AC3E}">
        <p14:creationId xmlns:p14="http://schemas.microsoft.com/office/powerpoint/2010/main" val="227559388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Meanwhile, the structure of the molecule with the lowest potency is below, it has </a:t>
            </a:r>
            <a:r>
              <a:rPr lang="en-US" sz="1200" dirty="0" err="1">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pAct</a:t>
            </a:r>
            <a:r>
              <a:rPr lang="en-US" sz="1200"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 value of 3,76, the molecule name is 1a. (SMILES: C[N@H+]1CC[C@H](c2ccc(cc2)[Cl])[C@H](C1)C([O-])=O)</a:t>
            </a:r>
            <a:endParaRPr lang="en-MY" sz="1200" dirty="0">
              <a:effectLst/>
              <a:latin typeface="Aptos" panose="020B0004020202020204" pitchFamily="34" charset="0"/>
              <a:ea typeface="Aptos" panose="020B0004020202020204" pitchFamily="34" charset="0"/>
              <a:cs typeface="Times New Roman" panose="02020603050405020304" pitchFamily="18" charset="0"/>
            </a:endParaRPr>
          </a:p>
          <a:p>
            <a:endParaRPr lang="en-MY" dirty="0"/>
          </a:p>
        </p:txBody>
      </p:sp>
      <p:sp>
        <p:nvSpPr>
          <p:cNvPr id="4" name="Slide Number Placeholder 3"/>
          <p:cNvSpPr>
            <a:spLocks noGrp="1"/>
          </p:cNvSpPr>
          <p:nvPr>
            <p:ph type="sldNum" sz="quarter" idx="5"/>
          </p:nvPr>
        </p:nvSpPr>
        <p:spPr/>
        <p:txBody>
          <a:bodyPr/>
          <a:lstStyle/>
          <a:p>
            <a:fld id="{50686A96-71B3-40B6-A18A-D2F7AB2C8874}" type="slidenum">
              <a:rPr lang="en-MY" smtClean="0"/>
              <a:t>8</a:t>
            </a:fld>
            <a:endParaRPr lang="en-MY"/>
          </a:p>
        </p:txBody>
      </p:sp>
    </p:spTree>
    <p:extLst>
      <p:ext uri="{BB962C8B-B14F-4D97-AF65-F5344CB8AC3E}">
        <p14:creationId xmlns:p14="http://schemas.microsoft.com/office/powerpoint/2010/main" val="186018388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We evaluate the statistical coefficients through several following parameters: </a:t>
            </a:r>
            <a:endParaRPr lang="en-MY" sz="1200" dirty="0">
              <a:effectLst/>
              <a:latin typeface="Aptos" panose="020B0004020202020204" pitchFamily="34" charset="0"/>
              <a:ea typeface="Aptos" panose="020B0004020202020204" pitchFamily="34" charset="0"/>
              <a:cs typeface="Times New Roman" panose="02020603050405020304" pitchFamily="18" charset="0"/>
            </a:endParaRPr>
          </a:p>
          <a:p>
            <a:endParaRPr lang="en-MY" dirty="0"/>
          </a:p>
        </p:txBody>
      </p:sp>
      <p:sp>
        <p:nvSpPr>
          <p:cNvPr id="4" name="Slide Number Placeholder 3"/>
          <p:cNvSpPr>
            <a:spLocks noGrp="1"/>
          </p:cNvSpPr>
          <p:nvPr>
            <p:ph type="sldNum" sz="quarter" idx="5"/>
          </p:nvPr>
        </p:nvSpPr>
        <p:spPr/>
        <p:txBody>
          <a:bodyPr/>
          <a:lstStyle/>
          <a:p>
            <a:fld id="{50686A96-71B3-40B6-A18A-D2F7AB2C8874}" type="slidenum">
              <a:rPr lang="en-MY" smtClean="0"/>
              <a:t>9</a:t>
            </a:fld>
            <a:endParaRPr lang="en-MY"/>
          </a:p>
        </p:txBody>
      </p:sp>
    </p:spTree>
    <p:extLst>
      <p:ext uri="{BB962C8B-B14F-4D97-AF65-F5344CB8AC3E}">
        <p14:creationId xmlns:p14="http://schemas.microsoft.com/office/powerpoint/2010/main" val="255552892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just">
              <a:lnSpc>
                <a:spcPct val="150000"/>
              </a:lnSpc>
              <a:spcAft>
                <a:spcPts val="800"/>
              </a:spcAft>
              <a:buNone/>
            </a:pPr>
            <a:r>
              <a:rPr lang="en-US" sz="1200" dirty="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The value of q</a:t>
            </a:r>
            <a:r>
              <a:rPr lang="en-US" sz="1200" baseline="30000" dirty="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2</a:t>
            </a:r>
            <a:r>
              <a:rPr lang="en-US" sz="1200" dirty="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 is -∞ ≤ q</a:t>
            </a:r>
            <a:r>
              <a:rPr lang="en-US" sz="1200" baseline="30000" dirty="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2</a:t>
            </a:r>
            <a:r>
              <a:rPr lang="en-US" sz="1200" dirty="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 ≤ 1. This is used as a criterion for </a:t>
            </a:r>
          </a:p>
          <a:p>
            <a:pPr marL="0" lvl="0" indent="0" algn="just">
              <a:lnSpc>
                <a:spcPct val="150000"/>
              </a:lnSpc>
              <a:spcAft>
                <a:spcPts val="800"/>
              </a:spcAft>
              <a:buNone/>
            </a:pPr>
            <a:r>
              <a:rPr lang="en-US" sz="1200" dirty="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both robustness and predictive ability of the model. </a:t>
            </a:r>
            <a:endParaRPr lang="en-MY" sz="1200" dirty="0">
              <a:effectLst/>
              <a:latin typeface="Aptos" panose="020B0004020202020204" pitchFamily="34" charset="0"/>
              <a:ea typeface="Aptos" panose="020B0004020202020204" pitchFamily="34" charset="0"/>
              <a:cs typeface="Times New Roman" panose="02020603050405020304" pitchFamily="18" charset="0"/>
            </a:endParaRPr>
          </a:p>
          <a:p>
            <a:endParaRPr lang="en-MY" dirty="0"/>
          </a:p>
          <a:p>
            <a:endParaRPr lang="en-MY" dirty="0"/>
          </a:p>
          <a:p>
            <a:pPr marL="0" lvl="0" indent="0" algn="just">
              <a:lnSpc>
                <a:spcPct val="150000"/>
              </a:lnSpc>
              <a:spcAft>
                <a:spcPts val="800"/>
              </a:spcAft>
              <a:buNone/>
            </a:pPr>
            <a:r>
              <a:rPr lang="en-US" sz="1200" dirty="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SDEP: cross validated q</a:t>
            </a:r>
            <a:r>
              <a:rPr lang="en-US" sz="1200" baseline="30000" dirty="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2</a:t>
            </a:r>
            <a:r>
              <a:rPr lang="en-US" sz="1200" dirty="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  where N is the number of predicted compounds. </a:t>
            </a:r>
          </a:p>
          <a:p>
            <a:pPr marL="0" lvl="0" indent="0" algn="just">
              <a:lnSpc>
                <a:spcPct val="150000"/>
              </a:lnSpc>
              <a:spcAft>
                <a:spcPts val="800"/>
              </a:spcAft>
              <a:buNone/>
            </a:pPr>
            <a:r>
              <a:rPr lang="en-US" sz="1200" dirty="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The best result is as low as possible, approaching 0. </a:t>
            </a:r>
            <a:endParaRPr lang="en-MY" sz="1200" dirty="0">
              <a:effectLst/>
              <a:latin typeface="Aptos" panose="020B0004020202020204" pitchFamily="34" charset="0"/>
              <a:ea typeface="Aptos" panose="020B0004020202020204" pitchFamily="34" charset="0"/>
              <a:cs typeface="Times New Roman" panose="02020603050405020304" pitchFamily="18" charset="0"/>
            </a:endParaRPr>
          </a:p>
          <a:p>
            <a:endParaRPr lang="en-MY" dirty="0"/>
          </a:p>
        </p:txBody>
      </p:sp>
      <p:sp>
        <p:nvSpPr>
          <p:cNvPr id="4" name="Slide Number Placeholder 3"/>
          <p:cNvSpPr>
            <a:spLocks noGrp="1"/>
          </p:cNvSpPr>
          <p:nvPr>
            <p:ph type="sldNum" sz="quarter" idx="5"/>
          </p:nvPr>
        </p:nvSpPr>
        <p:spPr/>
        <p:txBody>
          <a:bodyPr/>
          <a:lstStyle/>
          <a:p>
            <a:fld id="{50686A96-71B3-40B6-A18A-D2F7AB2C8874}" type="slidenum">
              <a:rPr lang="en-MY" smtClean="0"/>
              <a:t>10</a:t>
            </a:fld>
            <a:endParaRPr lang="en-MY"/>
          </a:p>
        </p:txBody>
      </p:sp>
    </p:spTree>
    <p:extLst>
      <p:ext uri="{BB962C8B-B14F-4D97-AF65-F5344CB8AC3E}">
        <p14:creationId xmlns:p14="http://schemas.microsoft.com/office/powerpoint/2010/main" val="67543261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Therefore, we want the result that results the highest r</a:t>
            </a:r>
            <a:r>
              <a:rPr lang="en-US" sz="1200" baseline="30000" dirty="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2</a:t>
            </a:r>
            <a:r>
              <a:rPr lang="en-US" sz="1200" dirty="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 and q</a:t>
            </a:r>
            <a:r>
              <a:rPr lang="en-US" sz="1200" baseline="30000" dirty="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2</a:t>
            </a:r>
            <a:r>
              <a:rPr lang="en-US" sz="1200" dirty="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 approaching 1, and with SDEP approaching 0. The cross validation set used in our models is LOO (leave-one-out) cross validation. This means that we split the dataset into training and testing set, but only use one observation as part of the training set. After we build the model out of training set, the model is used to predict the response value of the one observation left out of model. </a:t>
            </a:r>
            <a:endParaRPr lang="en-MY" sz="1200" dirty="0">
              <a:effectLst/>
              <a:latin typeface="Aptos" panose="020B0004020202020204" pitchFamily="34" charset="0"/>
              <a:ea typeface="Aptos" panose="020B0004020202020204" pitchFamily="34" charset="0"/>
              <a:cs typeface="Times New Roman" panose="02020603050405020304" pitchFamily="18" charset="0"/>
            </a:endParaRPr>
          </a:p>
          <a:p>
            <a:endParaRPr lang="en-MY" dirty="0"/>
          </a:p>
        </p:txBody>
      </p:sp>
      <p:sp>
        <p:nvSpPr>
          <p:cNvPr id="4" name="Slide Number Placeholder 3"/>
          <p:cNvSpPr>
            <a:spLocks noGrp="1"/>
          </p:cNvSpPr>
          <p:nvPr>
            <p:ph type="sldNum" sz="quarter" idx="5"/>
          </p:nvPr>
        </p:nvSpPr>
        <p:spPr/>
        <p:txBody>
          <a:bodyPr/>
          <a:lstStyle/>
          <a:p>
            <a:fld id="{50686A96-71B3-40B6-A18A-D2F7AB2C8874}" type="slidenum">
              <a:rPr lang="en-MY" smtClean="0"/>
              <a:t>11</a:t>
            </a:fld>
            <a:endParaRPr lang="en-MY"/>
          </a:p>
        </p:txBody>
      </p:sp>
    </p:spTree>
    <p:extLst>
      <p:ext uri="{BB962C8B-B14F-4D97-AF65-F5344CB8AC3E}">
        <p14:creationId xmlns:p14="http://schemas.microsoft.com/office/powerpoint/2010/main" val="48615287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 We can compare the values before and after optimized the best model we get though VPO, we arranged the best score with best COMBINED q</a:t>
            </a:r>
            <a:r>
              <a:rPr lang="en-US" sz="1200" baseline="30000" dirty="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2</a:t>
            </a:r>
            <a:r>
              <a:rPr lang="en-US" sz="1200" dirty="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 CV:</a:t>
            </a:r>
            <a:endParaRPr lang="en-MY" sz="1200" dirty="0">
              <a:effectLst/>
              <a:latin typeface="Aptos" panose="020B0004020202020204" pitchFamily="34" charset="0"/>
              <a:ea typeface="Aptos" panose="020B0004020202020204" pitchFamily="34" charset="0"/>
              <a:cs typeface="Times New Roman" panose="02020603050405020304" pitchFamily="18" charset="0"/>
            </a:endParaRPr>
          </a:p>
          <a:p>
            <a:endParaRPr lang="en-MY" dirty="0"/>
          </a:p>
        </p:txBody>
      </p:sp>
      <p:sp>
        <p:nvSpPr>
          <p:cNvPr id="4" name="Slide Number Placeholder 3"/>
          <p:cNvSpPr>
            <a:spLocks noGrp="1"/>
          </p:cNvSpPr>
          <p:nvPr>
            <p:ph type="sldNum" sz="quarter" idx="5"/>
          </p:nvPr>
        </p:nvSpPr>
        <p:spPr/>
        <p:txBody>
          <a:bodyPr/>
          <a:lstStyle/>
          <a:p>
            <a:fld id="{50686A96-71B3-40B6-A18A-D2F7AB2C8874}" type="slidenum">
              <a:rPr lang="en-MY" smtClean="0"/>
              <a:t>12</a:t>
            </a:fld>
            <a:endParaRPr lang="en-MY"/>
          </a:p>
        </p:txBody>
      </p:sp>
    </p:spTree>
    <p:extLst>
      <p:ext uri="{BB962C8B-B14F-4D97-AF65-F5344CB8AC3E}">
        <p14:creationId xmlns:p14="http://schemas.microsoft.com/office/powerpoint/2010/main" val="95109203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indent="457200" algn="just">
              <a:lnSpc>
                <a:spcPct val="150000"/>
              </a:lnSpc>
              <a:spcAft>
                <a:spcPts val="800"/>
              </a:spcAft>
            </a:pPr>
            <a:r>
              <a:rPr lang="en-US" sz="1200" dirty="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The above best result ( Optimized VPO with Y-scrambling and external test set) setting were obtained with minimum sigma 0.900, grid space 1.700 </a:t>
            </a:r>
            <a:r>
              <a:rPr lang="it-IT" sz="1200" dirty="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Å</a:t>
            </a:r>
            <a:r>
              <a:rPr lang="en-US" sz="1200" dirty="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 grid extension 9.000 </a:t>
            </a:r>
            <a:r>
              <a:rPr lang="it-IT" sz="1200" dirty="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Å</a:t>
            </a:r>
            <a:r>
              <a:rPr lang="en-US" sz="1200" dirty="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 and cutoff energy of 16.000 kcal/mol. </a:t>
            </a:r>
          </a:p>
          <a:p>
            <a:pPr indent="457200" algn="just">
              <a:lnSpc>
                <a:spcPct val="150000"/>
              </a:lnSpc>
              <a:spcAft>
                <a:spcPts val="800"/>
              </a:spcAft>
            </a:pPr>
            <a:endParaRPr lang="en-MY" sz="1200" dirty="0">
              <a:effectLst/>
              <a:latin typeface="Aptos" panose="020B0004020202020204" pitchFamily="34" charset="0"/>
              <a:ea typeface="Aptos" panose="020B0004020202020204" pitchFamily="34" charset="0"/>
              <a:cs typeface="Times New Roman" panose="02020603050405020304" pitchFamily="18" charset="0"/>
            </a:endParaRPr>
          </a:p>
          <a:p>
            <a:pPr indent="457200" algn="just">
              <a:lnSpc>
                <a:spcPct val="150000"/>
              </a:lnSpc>
              <a:spcAft>
                <a:spcPts val="800"/>
              </a:spcAft>
            </a:pPr>
            <a:r>
              <a:rPr lang="en-US" sz="1200" dirty="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The method are same for 3 best results, but the q</a:t>
            </a:r>
            <a:r>
              <a:rPr lang="en-US" sz="1200" baseline="30000" dirty="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2</a:t>
            </a:r>
            <a:r>
              <a:rPr lang="en-US" sz="1200" baseline="-25000" dirty="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cv</a:t>
            </a:r>
            <a:r>
              <a:rPr lang="en-US" sz="1200" dirty="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 value lowers a bit when we compare without and with Y-scrambling. This is expected because we are using Y-scrambling in the calculation, and r</a:t>
            </a:r>
            <a:r>
              <a:rPr lang="en-US" sz="1200" baseline="30000" dirty="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2</a:t>
            </a:r>
            <a:r>
              <a:rPr lang="en-US" sz="1200" baseline="-25000" dirty="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ys</a:t>
            </a:r>
            <a:r>
              <a:rPr lang="en-US" sz="1200" dirty="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 &lt; r</a:t>
            </a:r>
            <a:r>
              <a:rPr lang="en-US" sz="1200" baseline="30000" dirty="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2</a:t>
            </a:r>
            <a:r>
              <a:rPr lang="en-US" sz="1200" dirty="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 and q</a:t>
            </a:r>
            <a:r>
              <a:rPr lang="en-US" sz="1200" baseline="30000" dirty="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2</a:t>
            </a:r>
            <a:r>
              <a:rPr lang="en-US" sz="1200" baseline="-25000" dirty="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ys</a:t>
            </a:r>
            <a:r>
              <a:rPr lang="en-US" sz="1200" dirty="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 &lt; q</a:t>
            </a:r>
            <a:r>
              <a:rPr lang="en-US" sz="1200" baseline="30000" dirty="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2</a:t>
            </a:r>
            <a:r>
              <a:rPr lang="en-US" sz="1200" dirty="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 Scrambling helps find biases, overfitting and make fair comparison between model, and verify lack of correlation. This is a statistical test of prediction tool, that the model are fitted to randomly reordered property or activity values, and compared with the model obtained for the actual property or activity values. We use this to know the model prediction are not made by chance. We will expect that the model performs well on the original data, and poorly on the shuffled data. The good Y-scrambling values are being 50 to 100 iterations. But due to limited resources on the portal and time constraints, 100 iterations are not feasible. In this investigation, the Y-scrambling here are set to 10 permutations, and used few days to calculate. The presence of Y-scrambling gives a more reliable and accurate for model. </a:t>
            </a:r>
            <a:endParaRPr lang="en-MY" sz="1200" dirty="0">
              <a:effectLst/>
              <a:latin typeface="Aptos" panose="020B0004020202020204" pitchFamily="34" charset="0"/>
              <a:ea typeface="Aptos" panose="020B0004020202020204" pitchFamily="34" charset="0"/>
              <a:cs typeface="Times New Roman" panose="02020603050405020304" pitchFamily="18" charset="0"/>
            </a:endParaRPr>
          </a:p>
          <a:p>
            <a:endParaRPr lang="en-MY" dirty="0"/>
          </a:p>
        </p:txBody>
      </p:sp>
      <p:sp>
        <p:nvSpPr>
          <p:cNvPr id="4" name="Slide Number Placeholder 3"/>
          <p:cNvSpPr>
            <a:spLocks noGrp="1"/>
          </p:cNvSpPr>
          <p:nvPr>
            <p:ph type="sldNum" sz="quarter" idx="5"/>
          </p:nvPr>
        </p:nvSpPr>
        <p:spPr/>
        <p:txBody>
          <a:bodyPr/>
          <a:lstStyle/>
          <a:p>
            <a:fld id="{50686A96-71B3-40B6-A18A-D2F7AB2C8874}" type="slidenum">
              <a:rPr lang="en-MY" smtClean="0"/>
              <a:t>13</a:t>
            </a:fld>
            <a:endParaRPr lang="en-MY"/>
          </a:p>
        </p:txBody>
      </p:sp>
    </p:spTree>
    <p:extLst>
      <p:ext uri="{BB962C8B-B14F-4D97-AF65-F5344CB8AC3E}">
        <p14:creationId xmlns:p14="http://schemas.microsoft.com/office/powerpoint/2010/main" val="367187945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Then we run the model with test set, we get even better result. We further inspect the best model, which is with Y-scrambling and external test set. The following result is the COMBINED result, because it is the most important to inspect, and the statistical values and contour map we inspecting is the PC7, which is the most optimal result.</a:t>
            </a:r>
            <a:endParaRPr lang="en-MY" sz="1200" dirty="0">
              <a:effectLst/>
              <a:latin typeface="Aptos" panose="020B0004020202020204" pitchFamily="34" charset="0"/>
              <a:ea typeface="Aptos" panose="020B0004020202020204" pitchFamily="34" charset="0"/>
              <a:cs typeface="Times New Roman" panose="02020603050405020304" pitchFamily="18" charset="0"/>
            </a:endParaRPr>
          </a:p>
          <a:p>
            <a:endParaRPr lang="en-MY" dirty="0"/>
          </a:p>
        </p:txBody>
      </p:sp>
      <p:sp>
        <p:nvSpPr>
          <p:cNvPr id="4" name="Slide Number Placeholder 3"/>
          <p:cNvSpPr>
            <a:spLocks noGrp="1"/>
          </p:cNvSpPr>
          <p:nvPr>
            <p:ph type="sldNum" sz="quarter" idx="5"/>
          </p:nvPr>
        </p:nvSpPr>
        <p:spPr/>
        <p:txBody>
          <a:bodyPr/>
          <a:lstStyle/>
          <a:p>
            <a:fld id="{50686A96-71B3-40B6-A18A-D2F7AB2C8874}" type="slidenum">
              <a:rPr lang="en-MY" smtClean="0"/>
              <a:t>14</a:t>
            </a:fld>
            <a:endParaRPr lang="en-MY"/>
          </a:p>
        </p:txBody>
      </p:sp>
    </p:spTree>
    <p:extLst>
      <p:ext uri="{BB962C8B-B14F-4D97-AF65-F5344CB8AC3E}">
        <p14:creationId xmlns:p14="http://schemas.microsoft.com/office/powerpoint/2010/main" val="20538446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This is the plot, comparing the experimental potencies, with those recalculated / predicted by the model. The data is from the PC7. The values are in the table below, arranged by the number: We can see that the molecule highlighted in yellow, which has the lowest activity, while the molecule highlighted in green has the highest activity.  </a:t>
            </a:r>
            <a:endParaRPr lang="en-MY" sz="1200" dirty="0">
              <a:effectLst/>
              <a:latin typeface="Aptos" panose="020B0004020202020204" pitchFamily="34" charset="0"/>
              <a:ea typeface="Aptos" panose="020B0004020202020204" pitchFamily="34" charset="0"/>
              <a:cs typeface="Times New Roman" panose="02020603050405020304" pitchFamily="18" charset="0"/>
            </a:endParaRPr>
          </a:p>
          <a:p>
            <a:endParaRPr lang="en-MY" dirty="0"/>
          </a:p>
        </p:txBody>
      </p:sp>
      <p:sp>
        <p:nvSpPr>
          <p:cNvPr id="4" name="Slide Number Placeholder 3"/>
          <p:cNvSpPr>
            <a:spLocks noGrp="1"/>
          </p:cNvSpPr>
          <p:nvPr>
            <p:ph type="sldNum" sz="quarter" idx="5"/>
          </p:nvPr>
        </p:nvSpPr>
        <p:spPr/>
        <p:txBody>
          <a:bodyPr/>
          <a:lstStyle/>
          <a:p>
            <a:fld id="{50686A96-71B3-40B6-A18A-D2F7AB2C8874}" type="slidenum">
              <a:rPr lang="en-MY" smtClean="0"/>
              <a:t>18</a:t>
            </a:fld>
            <a:endParaRPr lang="en-MY"/>
          </a:p>
        </p:txBody>
      </p:sp>
    </p:spTree>
    <p:extLst>
      <p:ext uri="{BB962C8B-B14F-4D97-AF65-F5344CB8AC3E}">
        <p14:creationId xmlns:p14="http://schemas.microsoft.com/office/powerpoint/2010/main" val="363175440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457200" algn="just" defTabSz="914400" rtl="0" eaLnBrk="1" fontAlgn="auto" latinLnBrk="0" hangingPunct="1">
              <a:lnSpc>
                <a:spcPct val="150000"/>
              </a:lnSpc>
              <a:spcBef>
                <a:spcPts val="0"/>
              </a:spcBef>
              <a:spcAft>
                <a:spcPts val="800"/>
              </a:spcAft>
              <a:buClrTx/>
              <a:buSzTx/>
              <a:buFontTx/>
              <a:buNone/>
              <a:tabLst/>
              <a:defRPr/>
            </a:pPr>
            <a:r>
              <a:rPr lang="en-US" sz="1200" b="1" dirty="0">
                <a:solidFill>
                  <a:srgbClr val="000000"/>
                </a:solidFill>
                <a:effectLst/>
                <a:latin typeface="Times New Roman" panose="02020603050405020304" pitchFamily="18" charset="0"/>
                <a:ea typeface="DengXian Light" panose="02010600030101010101" pitchFamily="2" charset="-122"/>
              </a:rPr>
              <a:t>Dataset contour maps</a:t>
            </a:r>
            <a:endParaRPr lang="en-MY" sz="1200" b="1" dirty="0">
              <a:solidFill>
                <a:srgbClr val="FF0000"/>
              </a:solidFill>
              <a:effectLst/>
              <a:latin typeface="Times New Roman" panose="02020603050405020304" pitchFamily="18" charset="0"/>
              <a:ea typeface="DengXian Light" panose="02010600030101010101" pitchFamily="2" charset="-122"/>
            </a:endParaRPr>
          </a:p>
          <a:p>
            <a:pPr indent="457200" algn="just">
              <a:lnSpc>
                <a:spcPct val="150000"/>
              </a:lnSpc>
              <a:spcAft>
                <a:spcPts val="800"/>
              </a:spcAft>
            </a:pPr>
            <a:endParaRPr lang="en-US" sz="1200"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endParaRPr>
          </a:p>
          <a:p>
            <a:pPr indent="457200" algn="just">
              <a:lnSpc>
                <a:spcPct val="150000"/>
              </a:lnSpc>
              <a:spcAft>
                <a:spcPts val="800"/>
              </a:spcAft>
            </a:pPr>
            <a:r>
              <a:rPr lang="en-US" sz="1200"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In this map, we have four models to inspect, which are STE</a:t>
            </a:r>
            <a:r>
              <a:rPr lang="en-US" sz="1200" dirty="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 (steric)</a:t>
            </a:r>
            <a:r>
              <a:rPr lang="en-US" sz="1200"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 ELE</a:t>
            </a:r>
            <a:r>
              <a:rPr lang="en-US" sz="1200" dirty="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 (electrostatic)</a:t>
            </a:r>
            <a:r>
              <a:rPr lang="en-US" sz="1200"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 SUM(ELE + STE), and the COMBINED(ELE_STE). We will inspect the COMBINED one because it gives us most informative about the model.</a:t>
            </a:r>
            <a:endParaRPr lang="en-MY" sz="1200" dirty="0">
              <a:effectLst/>
              <a:latin typeface="Aptos" panose="020B0004020202020204" pitchFamily="34" charset="0"/>
              <a:ea typeface="Aptos" panose="020B0004020202020204" pitchFamily="34" charset="0"/>
              <a:cs typeface="Times New Roman" panose="02020603050405020304" pitchFamily="18" charset="0"/>
            </a:endParaRPr>
          </a:p>
          <a:p>
            <a:pPr indent="457200" algn="just">
              <a:lnSpc>
                <a:spcPct val="150000"/>
              </a:lnSpc>
              <a:spcAft>
                <a:spcPts val="800"/>
              </a:spcAft>
            </a:pPr>
            <a:r>
              <a:rPr lang="en-US" sz="1200"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We will investigate the most important contour, which is the one obtained by multiplying the PLS coefficient values, by the average MIF values. By looking at this, we can know how to modify the molecules, to increase the activity in the given space around them.</a:t>
            </a:r>
            <a:r>
              <a:rPr lang="en-US" sz="1200" dirty="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 Therefore, we can see the steric, electrostatic, hydrophobic, and hydrogen bond donor and acceptor fields from the contour maps. </a:t>
            </a:r>
            <a:endParaRPr lang="en-MY" sz="1200" dirty="0">
              <a:effectLst/>
              <a:latin typeface="Aptos" panose="020B0004020202020204" pitchFamily="34" charset="0"/>
              <a:ea typeface="Aptos" panose="020B0004020202020204" pitchFamily="34" charset="0"/>
              <a:cs typeface="Times New Roman" panose="02020603050405020304" pitchFamily="18" charset="0"/>
            </a:endParaRPr>
          </a:p>
          <a:p>
            <a:pPr indent="457200" algn="just">
              <a:lnSpc>
                <a:spcPct val="150000"/>
              </a:lnSpc>
              <a:spcAft>
                <a:spcPts val="800"/>
              </a:spcAft>
            </a:pPr>
            <a:r>
              <a:rPr lang="en-US" sz="1200"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The red area and blue area contour are the area for electrostatic interactions, and are mostly related to the ability of molecules to establish hydrogen bond (acceptor and donator)</a:t>
            </a:r>
            <a:r>
              <a:rPr lang="en-US" sz="1200" dirty="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 It is the attractive or repulsive interaction between charged molecules. The red shows the region of higher electron density, that with high binding affinity (negative charge), meanwhile the blue shows lower electron density, with less affinity of the compound to bind the protein (partial positive charge).</a:t>
            </a:r>
            <a:endParaRPr lang="en-MY" sz="1200" dirty="0">
              <a:effectLst/>
              <a:latin typeface="Aptos" panose="020B0004020202020204" pitchFamily="34" charset="0"/>
              <a:ea typeface="Aptos" panose="020B0004020202020204" pitchFamily="34" charset="0"/>
              <a:cs typeface="Times New Roman" panose="02020603050405020304" pitchFamily="18" charset="0"/>
            </a:endParaRPr>
          </a:p>
          <a:p>
            <a:endParaRPr lang="en-MY" dirty="0"/>
          </a:p>
        </p:txBody>
      </p:sp>
      <p:sp>
        <p:nvSpPr>
          <p:cNvPr id="4" name="Slide Number Placeholder 3"/>
          <p:cNvSpPr>
            <a:spLocks noGrp="1"/>
          </p:cNvSpPr>
          <p:nvPr>
            <p:ph type="sldNum" sz="quarter" idx="5"/>
          </p:nvPr>
        </p:nvSpPr>
        <p:spPr/>
        <p:txBody>
          <a:bodyPr/>
          <a:lstStyle/>
          <a:p>
            <a:fld id="{50686A96-71B3-40B6-A18A-D2F7AB2C8874}" type="slidenum">
              <a:rPr lang="en-MY" smtClean="0"/>
              <a:t>21</a:t>
            </a:fld>
            <a:endParaRPr lang="en-MY"/>
          </a:p>
        </p:txBody>
      </p:sp>
    </p:spTree>
    <p:extLst>
      <p:ext uri="{BB962C8B-B14F-4D97-AF65-F5344CB8AC3E}">
        <p14:creationId xmlns:p14="http://schemas.microsoft.com/office/powerpoint/2010/main" val="355136441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indent="457200" algn="just">
              <a:lnSpc>
                <a:spcPct val="150000"/>
              </a:lnSpc>
              <a:spcAft>
                <a:spcPts val="800"/>
              </a:spcAft>
            </a:pPr>
            <a:r>
              <a:rPr lang="en-US" sz="1200"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The green and yellow area are related to steric hindrance of the molecules. Steric hindrance is the slowing of chemical reactions, due to steric bulk, because the large group prevent chemical reactions.  The Green area means we can increase the volume of the molecule, in the region overlapping.</a:t>
            </a:r>
            <a:r>
              <a:rPr lang="en-US" sz="1200" dirty="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 </a:t>
            </a:r>
            <a:r>
              <a:rPr lang="en-US" sz="1200"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Yellow are means we have to decrease the volume to increase the potency of molecules.</a:t>
            </a:r>
            <a:endParaRPr lang="en-MY" sz="1200" dirty="0">
              <a:effectLst/>
              <a:latin typeface="Aptos" panose="020B0004020202020204" pitchFamily="34" charset="0"/>
              <a:ea typeface="Aptos" panose="020B0004020202020204" pitchFamily="34" charset="0"/>
              <a:cs typeface="Times New Roman" panose="02020603050405020304" pitchFamily="18" charset="0"/>
            </a:endParaRPr>
          </a:p>
          <a:p>
            <a:pPr indent="457200" algn="just">
              <a:lnSpc>
                <a:spcPct val="150000"/>
              </a:lnSpc>
              <a:spcAft>
                <a:spcPts val="800"/>
              </a:spcAft>
            </a:pPr>
            <a:r>
              <a:rPr lang="en-US" sz="1200" dirty="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We inspect the best model contour maps generated using the Coeff </a:t>
            </a:r>
            <a:r>
              <a:rPr lang="en-MY" sz="1200" dirty="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x Mean, to observe the steric and electrostatic </a:t>
            </a:r>
            <a:r>
              <a:rPr lang="en-MY" sz="1200" dirty="0" err="1">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ComFA</a:t>
            </a:r>
            <a:r>
              <a:rPr lang="en-MY" sz="1200" dirty="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 like maps. The least and most active molecules are superimposed as shown below. </a:t>
            </a:r>
          </a:p>
          <a:p>
            <a:pPr indent="457200" algn="just">
              <a:lnSpc>
                <a:spcPct val="150000"/>
              </a:lnSpc>
              <a:spcAft>
                <a:spcPts val="800"/>
              </a:spcAft>
            </a:pPr>
            <a:r>
              <a:rPr lang="en-MY" sz="1200" dirty="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Due to the presence of oxygen (red atom), there is a large region of green contour around the atom. The steric contour maps can give us information to increase (positive, green) or decrease (negative, yellow) in activity, based on the presence of certain steric hindrance.</a:t>
            </a:r>
            <a:endParaRPr lang="en-MY" sz="1200" dirty="0">
              <a:effectLst/>
              <a:latin typeface="Aptos" panose="020B0004020202020204" pitchFamily="34" charset="0"/>
              <a:ea typeface="Aptos" panose="020B0004020202020204" pitchFamily="34" charset="0"/>
              <a:cs typeface="Times New Roman" panose="02020603050405020304" pitchFamily="18" charset="0"/>
            </a:endParaRPr>
          </a:p>
          <a:p>
            <a:endParaRPr lang="en-MY" dirty="0"/>
          </a:p>
        </p:txBody>
      </p:sp>
      <p:sp>
        <p:nvSpPr>
          <p:cNvPr id="4" name="Slide Number Placeholder 3"/>
          <p:cNvSpPr>
            <a:spLocks noGrp="1"/>
          </p:cNvSpPr>
          <p:nvPr>
            <p:ph type="sldNum" sz="quarter" idx="5"/>
          </p:nvPr>
        </p:nvSpPr>
        <p:spPr/>
        <p:txBody>
          <a:bodyPr/>
          <a:lstStyle/>
          <a:p>
            <a:fld id="{50686A96-71B3-40B6-A18A-D2F7AB2C8874}" type="slidenum">
              <a:rPr lang="en-MY" smtClean="0"/>
              <a:t>22</a:t>
            </a:fld>
            <a:endParaRPr lang="en-MY"/>
          </a:p>
        </p:txBody>
      </p:sp>
    </p:spTree>
    <p:extLst>
      <p:ext uri="{BB962C8B-B14F-4D97-AF65-F5344CB8AC3E}">
        <p14:creationId xmlns:p14="http://schemas.microsoft.com/office/powerpoint/2010/main" val="43638715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MY" dirty="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Near the chlorine atom (in light green) has red contour, can be hypothesised by the contribution to the molecules activity. The area around the structure of the molecules show blue contour, shows that activity might not happen in the area.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MY" dirty="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MY" dirty="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This electrostatic contour maps give us information about molecules’ charge, to see whether the area is attractive or repulsive forces favoured. In positive electrostatic contour maps (blue) , the attractive forces are favoured, while the negative electrostatic contour maps (red) the repulsive forces are favoured.</a:t>
            </a:r>
            <a:endParaRPr lang="en-MY" dirty="0">
              <a:effectLst/>
              <a:latin typeface="Aptos" panose="020B0004020202020204" pitchFamily="34" charset="0"/>
              <a:ea typeface="Aptos" panose="020B0004020202020204" pitchFamily="34" charset="0"/>
              <a:cs typeface="Times New Roman" panose="02020603050405020304" pitchFamily="18" charset="0"/>
            </a:endParaRPr>
          </a:p>
          <a:p>
            <a:endParaRPr lang="en-MY" dirty="0"/>
          </a:p>
        </p:txBody>
      </p:sp>
      <p:sp>
        <p:nvSpPr>
          <p:cNvPr id="4" name="Slide Number Placeholder 3"/>
          <p:cNvSpPr>
            <a:spLocks noGrp="1"/>
          </p:cNvSpPr>
          <p:nvPr>
            <p:ph type="sldNum" sz="quarter" idx="5"/>
          </p:nvPr>
        </p:nvSpPr>
        <p:spPr/>
        <p:txBody>
          <a:bodyPr/>
          <a:lstStyle/>
          <a:p>
            <a:fld id="{50686A96-71B3-40B6-A18A-D2F7AB2C8874}" type="slidenum">
              <a:rPr lang="en-MY" smtClean="0"/>
              <a:t>23</a:t>
            </a:fld>
            <a:endParaRPr lang="en-MY"/>
          </a:p>
        </p:txBody>
      </p:sp>
    </p:spTree>
    <p:extLst>
      <p:ext uri="{BB962C8B-B14F-4D97-AF65-F5344CB8AC3E}">
        <p14:creationId xmlns:p14="http://schemas.microsoft.com/office/powerpoint/2010/main" val="18984080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Now, we can inspect the original MIF for each molecule, and also the transformed MIFS. We will inspect the most important MIF for each molecule, which are those obtained by the multiplication of the MIF value, by the PLS coefficient. This gives us the activity contribution maps, that explain to which part of the molecule the potency related to.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We increase the value to 90 to see the maps. </a:t>
            </a:r>
            <a:r>
              <a:rPr lang="en-US" sz="1200" dirty="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The parameters for training contour we viewed here are “ELE ACT_CONTR Positive”, “ELE ACT_CONTR Negative”, “STE_CONTR Positive”, “STE ACT_CONTR Negative”, that give us the activity contribution contour of that area.</a:t>
            </a:r>
            <a:endParaRPr lang="en-MY" sz="1200" dirty="0">
              <a:effectLst/>
              <a:latin typeface="Aptos" panose="020B0004020202020204" pitchFamily="34" charset="0"/>
              <a:ea typeface="Aptos" panose="020B0004020202020204" pitchFamily="34" charset="0"/>
              <a:cs typeface="Times New Roman" panose="02020603050405020304" pitchFamily="18" charset="0"/>
            </a:endParaRPr>
          </a:p>
          <a:p>
            <a:endParaRPr lang="en-MY" dirty="0"/>
          </a:p>
        </p:txBody>
      </p:sp>
      <p:sp>
        <p:nvSpPr>
          <p:cNvPr id="4" name="Slide Number Placeholder 3"/>
          <p:cNvSpPr>
            <a:spLocks noGrp="1"/>
          </p:cNvSpPr>
          <p:nvPr>
            <p:ph type="sldNum" sz="quarter" idx="5"/>
          </p:nvPr>
        </p:nvSpPr>
        <p:spPr/>
        <p:txBody>
          <a:bodyPr/>
          <a:lstStyle/>
          <a:p>
            <a:fld id="{50686A96-71B3-40B6-A18A-D2F7AB2C8874}" type="slidenum">
              <a:rPr lang="en-MY" smtClean="0"/>
              <a:t>24</a:t>
            </a:fld>
            <a:endParaRPr lang="en-MY"/>
          </a:p>
        </p:txBody>
      </p:sp>
    </p:spTree>
    <p:extLst>
      <p:ext uri="{BB962C8B-B14F-4D97-AF65-F5344CB8AC3E}">
        <p14:creationId xmlns:p14="http://schemas.microsoft.com/office/powerpoint/2010/main" val="410885168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We also compared the most potent molecule maps, with the least potent map. This is because of the activity is very different, the maps will be also very different. The more green means more potent, and more yellow means less potent. In green we see positive steric field, where it is encouraged to add substituent to increase activity, while in yellow we see negative steric fields, and further steric hindrance not recommended that could lead to less activity. Therefore, we can look at the maps for the highest and lowest activity are different, showing that which important parts that contributed to the activity. </a:t>
            </a:r>
            <a:endParaRPr lang="en-MY" sz="1200" dirty="0">
              <a:effectLst/>
              <a:latin typeface="Aptos" panose="020B0004020202020204" pitchFamily="34" charset="0"/>
              <a:ea typeface="Aptos" panose="020B0004020202020204" pitchFamily="34" charset="0"/>
              <a:cs typeface="Times New Roman" panose="02020603050405020304" pitchFamily="18" charset="0"/>
            </a:endParaRPr>
          </a:p>
          <a:p>
            <a:endParaRPr lang="en-MY" dirty="0"/>
          </a:p>
        </p:txBody>
      </p:sp>
      <p:sp>
        <p:nvSpPr>
          <p:cNvPr id="4" name="Slide Number Placeholder 3"/>
          <p:cNvSpPr>
            <a:spLocks noGrp="1"/>
          </p:cNvSpPr>
          <p:nvPr>
            <p:ph type="sldNum" sz="quarter" idx="5"/>
          </p:nvPr>
        </p:nvSpPr>
        <p:spPr/>
        <p:txBody>
          <a:bodyPr/>
          <a:lstStyle/>
          <a:p>
            <a:fld id="{50686A96-71B3-40B6-A18A-D2F7AB2C8874}" type="slidenum">
              <a:rPr lang="en-MY" smtClean="0"/>
              <a:t>25</a:t>
            </a:fld>
            <a:endParaRPr lang="en-MY"/>
          </a:p>
        </p:txBody>
      </p:sp>
    </p:spTree>
    <p:extLst>
      <p:ext uri="{BB962C8B-B14F-4D97-AF65-F5344CB8AC3E}">
        <p14:creationId xmlns:p14="http://schemas.microsoft.com/office/powerpoint/2010/main" val="270088107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Y" dirty="0"/>
          </a:p>
        </p:txBody>
      </p:sp>
      <p:sp>
        <p:nvSpPr>
          <p:cNvPr id="4" name="Slide Number Placeholder 3"/>
          <p:cNvSpPr>
            <a:spLocks noGrp="1"/>
          </p:cNvSpPr>
          <p:nvPr>
            <p:ph type="sldNum" sz="quarter" idx="5"/>
          </p:nvPr>
        </p:nvSpPr>
        <p:spPr/>
        <p:txBody>
          <a:bodyPr/>
          <a:lstStyle/>
          <a:p>
            <a:fld id="{50686A96-71B3-40B6-A18A-D2F7AB2C8874}" type="slidenum">
              <a:rPr lang="en-MY" smtClean="0"/>
              <a:t>26</a:t>
            </a:fld>
            <a:endParaRPr lang="en-MY"/>
          </a:p>
        </p:txBody>
      </p:sp>
    </p:spTree>
    <p:extLst>
      <p:ext uri="{BB962C8B-B14F-4D97-AF65-F5344CB8AC3E}">
        <p14:creationId xmlns:p14="http://schemas.microsoft.com/office/powerpoint/2010/main" val="146108057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Y" dirty="0"/>
          </a:p>
        </p:txBody>
      </p:sp>
      <p:sp>
        <p:nvSpPr>
          <p:cNvPr id="4" name="Slide Number Placeholder 3"/>
          <p:cNvSpPr>
            <a:spLocks noGrp="1"/>
          </p:cNvSpPr>
          <p:nvPr>
            <p:ph type="sldNum" sz="quarter" idx="5"/>
          </p:nvPr>
        </p:nvSpPr>
        <p:spPr/>
        <p:txBody>
          <a:bodyPr/>
          <a:lstStyle/>
          <a:p>
            <a:fld id="{50686A96-71B3-40B6-A18A-D2F7AB2C8874}" type="slidenum">
              <a:rPr lang="en-MY" smtClean="0"/>
              <a:t>27</a:t>
            </a:fld>
            <a:endParaRPr lang="en-MY"/>
          </a:p>
        </p:txBody>
      </p:sp>
    </p:spTree>
    <p:extLst>
      <p:ext uri="{BB962C8B-B14F-4D97-AF65-F5344CB8AC3E}">
        <p14:creationId xmlns:p14="http://schemas.microsoft.com/office/powerpoint/2010/main" val="288495527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We </a:t>
            </a:r>
            <a:r>
              <a:rPr lang="en-US" sz="1200"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can see that the contour map for the two molecules are very different</a:t>
            </a:r>
            <a:endParaRPr lang="en-MY" dirty="0"/>
          </a:p>
        </p:txBody>
      </p:sp>
      <p:sp>
        <p:nvSpPr>
          <p:cNvPr id="4" name="Slide Number Placeholder 3"/>
          <p:cNvSpPr>
            <a:spLocks noGrp="1"/>
          </p:cNvSpPr>
          <p:nvPr>
            <p:ph type="sldNum" sz="quarter" idx="5"/>
          </p:nvPr>
        </p:nvSpPr>
        <p:spPr/>
        <p:txBody>
          <a:bodyPr/>
          <a:lstStyle/>
          <a:p>
            <a:fld id="{50686A96-71B3-40B6-A18A-D2F7AB2C8874}" type="slidenum">
              <a:rPr lang="en-MY" smtClean="0"/>
              <a:t>29</a:t>
            </a:fld>
            <a:endParaRPr lang="en-MY"/>
          </a:p>
        </p:txBody>
      </p:sp>
    </p:spTree>
    <p:extLst>
      <p:ext uri="{BB962C8B-B14F-4D97-AF65-F5344CB8AC3E}">
        <p14:creationId xmlns:p14="http://schemas.microsoft.com/office/powerpoint/2010/main" val="39828902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96A87DA-8713-493F-845F-70C38918385B}" type="datetimeFigureOut">
              <a:rPr lang="en-MY" smtClean="0"/>
              <a:t>9/1/2025</a:t>
            </a:fld>
            <a:endParaRPr lang="en-MY"/>
          </a:p>
        </p:txBody>
      </p:sp>
      <p:sp>
        <p:nvSpPr>
          <p:cNvPr id="5" name="Footer Placeholder 4"/>
          <p:cNvSpPr>
            <a:spLocks noGrp="1"/>
          </p:cNvSpPr>
          <p:nvPr>
            <p:ph type="ftr" sz="quarter" idx="11"/>
          </p:nvPr>
        </p:nvSpPr>
        <p:spPr/>
        <p:txBody>
          <a:bodyPr/>
          <a:lstStyle/>
          <a:p>
            <a:endParaRPr lang="en-MY"/>
          </a:p>
        </p:txBody>
      </p:sp>
      <p:sp>
        <p:nvSpPr>
          <p:cNvPr id="6" name="Slide Number Placeholder 5"/>
          <p:cNvSpPr>
            <a:spLocks noGrp="1"/>
          </p:cNvSpPr>
          <p:nvPr>
            <p:ph type="sldNum" sz="quarter" idx="12"/>
          </p:nvPr>
        </p:nvSpPr>
        <p:spPr/>
        <p:txBody>
          <a:bodyPr/>
          <a:lstStyle/>
          <a:p>
            <a:fld id="{6AEEBB8C-EEC5-44E6-AB6A-4F70B9E44483}" type="slidenum">
              <a:rPr lang="en-MY" smtClean="0"/>
              <a:t>‹#›</a:t>
            </a:fld>
            <a:endParaRPr lang="en-MY"/>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001656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96A87DA-8713-493F-845F-70C38918385B}" type="datetimeFigureOut">
              <a:rPr lang="en-MY" smtClean="0"/>
              <a:t>9/1/2025</a:t>
            </a:fld>
            <a:endParaRPr lang="en-MY"/>
          </a:p>
        </p:txBody>
      </p:sp>
      <p:sp>
        <p:nvSpPr>
          <p:cNvPr id="5" name="Footer Placeholder 4"/>
          <p:cNvSpPr>
            <a:spLocks noGrp="1"/>
          </p:cNvSpPr>
          <p:nvPr>
            <p:ph type="ftr" sz="quarter" idx="11"/>
          </p:nvPr>
        </p:nvSpPr>
        <p:spPr/>
        <p:txBody>
          <a:bodyPr/>
          <a:lstStyle/>
          <a:p>
            <a:endParaRPr lang="en-MY"/>
          </a:p>
        </p:txBody>
      </p:sp>
      <p:sp>
        <p:nvSpPr>
          <p:cNvPr id="6" name="Slide Number Placeholder 5"/>
          <p:cNvSpPr>
            <a:spLocks noGrp="1"/>
          </p:cNvSpPr>
          <p:nvPr>
            <p:ph type="sldNum" sz="quarter" idx="12"/>
          </p:nvPr>
        </p:nvSpPr>
        <p:spPr/>
        <p:txBody>
          <a:bodyPr/>
          <a:lstStyle/>
          <a:p>
            <a:fld id="{6AEEBB8C-EEC5-44E6-AB6A-4F70B9E44483}" type="slidenum">
              <a:rPr lang="en-MY" smtClean="0"/>
              <a:t>‹#›</a:t>
            </a:fld>
            <a:endParaRPr lang="en-MY"/>
          </a:p>
        </p:txBody>
      </p:sp>
    </p:spTree>
    <p:extLst>
      <p:ext uri="{BB962C8B-B14F-4D97-AF65-F5344CB8AC3E}">
        <p14:creationId xmlns:p14="http://schemas.microsoft.com/office/powerpoint/2010/main" val="131654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96A87DA-8713-493F-845F-70C38918385B}" type="datetimeFigureOut">
              <a:rPr lang="en-MY" smtClean="0"/>
              <a:t>9/1/2025</a:t>
            </a:fld>
            <a:endParaRPr lang="en-MY"/>
          </a:p>
        </p:txBody>
      </p:sp>
      <p:sp>
        <p:nvSpPr>
          <p:cNvPr id="5" name="Footer Placeholder 4"/>
          <p:cNvSpPr>
            <a:spLocks noGrp="1"/>
          </p:cNvSpPr>
          <p:nvPr>
            <p:ph type="ftr" sz="quarter" idx="11"/>
          </p:nvPr>
        </p:nvSpPr>
        <p:spPr/>
        <p:txBody>
          <a:bodyPr/>
          <a:lstStyle/>
          <a:p>
            <a:endParaRPr lang="en-MY"/>
          </a:p>
        </p:txBody>
      </p:sp>
      <p:sp>
        <p:nvSpPr>
          <p:cNvPr id="6" name="Slide Number Placeholder 5"/>
          <p:cNvSpPr>
            <a:spLocks noGrp="1"/>
          </p:cNvSpPr>
          <p:nvPr>
            <p:ph type="sldNum" sz="quarter" idx="12"/>
          </p:nvPr>
        </p:nvSpPr>
        <p:spPr/>
        <p:txBody>
          <a:bodyPr/>
          <a:lstStyle/>
          <a:p>
            <a:fld id="{6AEEBB8C-EEC5-44E6-AB6A-4F70B9E44483}" type="slidenum">
              <a:rPr lang="en-MY" smtClean="0"/>
              <a:t>‹#›</a:t>
            </a:fld>
            <a:endParaRPr lang="en-MY"/>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348475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96A87DA-8713-493F-845F-70C38918385B}" type="datetimeFigureOut">
              <a:rPr lang="en-MY" smtClean="0"/>
              <a:t>9/1/2025</a:t>
            </a:fld>
            <a:endParaRPr lang="en-MY"/>
          </a:p>
        </p:txBody>
      </p:sp>
      <p:sp>
        <p:nvSpPr>
          <p:cNvPr id="6" name="Footer Placeholder 5"/>
          <p:cNvSpPr>
            <a:spLocks noGrp="1"/>
          </p:cNvSpPr>
          <p:nvPr>
            <p:ph type="ftr" sz="quarter" idx="11"/>
          </p:nvPr>
        </p:nvSpPr>
        <p:spPr/>
        <p:txBody>
          <a:bodyPr/>
          <a:lstStyle/>
          <a:p>
            <a:endParaRPr lang="en-MY"/>
          </a:p>
        </p:txBody>
      </p:sp>
      <p:sp>
        <p:nvSpPr>
          <p:cNvPr id="7" name="Slide Number Placeholder 6"/>
          <p:cNvSpPr>
            <a:spLocks noGrp="1"/>
          </p:cNvSpPr>
          <p:nvPr>
            <p:ph type="sldNum" sz="quarter" idx="12"/>
          </p:nvPr>
        </p:nvSpPr>
        <p:spPr/>
        <p:txBody>
          <a:bodyPr/>
          <a:lstStyle/>
          <a:p>
            <a:fld id="{6AEEBB8C-EEC5-44E6-AB6A-4F70B9E44483}" type="slidenum">
              <a:rPr lang="en-MY" smtClean="0"/>
              <a:t>‹#›</a:t>
            </a:fld>
            <a:endParaRPr lang="en-MY"/>
          </a:p>
        </p:txBody>
      </p:sp>
    </p:spTree>
    <p:extLst>
      <p:ext uri="{BB962C8B-B14F-4D97-AF65-F5344CB8AC3E}">
        <p14:creationId xmlns:p14="http://schemas.microsoft.com/office/powerpoint/2010/main" val="693363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96A87DA-8713-493F-845F-70C38918385B}" type="datetimeFigureOut">
              <a:rPr lang="en-MY" smtClean="0"/>
              <a:t>9/1/2025</a:t>
            </a:fld>
            <a:endParaRPr lang="en-MY"/>
          </a:p>
        </p:txBody>
      </p:sp>
      <p:sp>
        <p:nvSpPr>
          <p:cNvPr id="8" name="Footer Placeholder 7"/>
          <p:cNvSpPr>
            <a:spLocks noGrp="1"/>
          </p:cNvSpPr>
          <p:nvPr>
            <p:ph type="ftr" sz="quarter" idx="11"/>
          </p:nvPr>
        </p:nvSpPr>
        <p:spPr/>
        <p:txBody>
          <a:bodyPr/>
          <a:lstStyle/>
          <a:p>
            <a:endParaRPr lang="en-MY"/>
          </a:p>
        </p:txBody>
      </p:sp>
      <p:sp>
        <p:nvSpPr>
          <p:cNvPr id="9" name="Slide Number Placeholder 8"/>
          <p:cNvSpPr>
            <a:spLocks noGrp="1"/>
          </p:cNvSpPr>
          <p:nvPr>
            <p:ph type="sldNum" sz="quarter" idx="12"/>
          </p:nvPr>
        </p:nvSpPr>
        <p:spPr/>
        <p:txBody>
          <a:bodyPr/>
          <a:lstStyle/>
          <a:p>
            <a:fld id="{6AEEBB8C-EEC5-44E6-AB6A-4F70B9E44483}" type="slidenum">
              <a:rPr lang="en-MY" smtClean="0"/>
              <a:t>‹#›</a:t>
            </a:fld>
            <a:endParaRPr lang="en-MY"/>
          </a:p>
        </p:txBody>
      </p:sp>
    </p:spTree>
    <p:extLst>
      <p:ext uri="{BB962C8B-B14F-4D97-AF65-F5344CB8AC3E}">
        <p14:creationId xmlns:p14="http://schemas.microsoft.com/office/powerpoint/2010/main" val="15811317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96A87DA-8713-493F-845F-70C38918385B}" type="datetimeFigureOut">
              <a:rPr lang="en-MY" smtClean="0"/>
              <a:t>9/1/2025</a:t>
            </a:fld>
            <a:endParaRPr lang="en-MY"/>
          </a:p>
        </p:txBody>
      </p:sp>
      <p:sp>
        <p:nvSpPr>
          <p:cNvPr id="4" name="Footer Placeholder 3"/>
          <p:cNvSpPr>
            <a:spLocks noGrp="1"/>
          </p:cNvSpPr>
          <p:nvPr>
            <p:ph type="ftr" sz="quarter" idx="11"/>
          </p:nvPr>
        </p:nvSpPr>
        <p:spPr/>
        <p:txBody>
          <a:bodyPr/>
          <a:lstStyle/>
          <a:p>
            <a:endParaRPr lang="en-MY"/>
          </a:p>
        </p:txBody>
      </p:sp>
      <p:sp>
        <p:nvSpPr>
          <p:cNvPr id="5" name="Slide Number Placeholder 4"/>
          <p:cNvSpPr>
            <a:spLocks noGrp="1"/>
          </p:cNvSpPr>
          <p:nvPr>
            <p:ph type="sldNum" sz="quarter" idx="12"/>
          </p:nvPr>
        </p:nvSpPr>
        <p:spPr/>
        <p:txBody>
          <a:bodyPr/>
          <a:lstStyle/>
          <a:p>
            <a:fld id="{6AEEBB8C-EEC5-44E6-AB6A-4F70B9E44483}" type="slidenum">
              <a:rPr lang="en-MY" smtClean="0"/>
              <a:t>‹#›</a:t>
            </a:fld>
            <a:endParaRPr lang="en-MY"/>
          </a:p>
        </p:txBody>
      </p:sp>
    </p:spTree>
    <p:extLst>
      <p:ext uri="{BB962C8B-B14F-4D97-AF65-F5344CB8AC3E}">
        <p14:creationId xmlns:p14="http://schemas.microsoft.com/office/powerpoint/2010/main" val="37522864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296A87DA-8713-493F-845F-70C38918385B}" type="datetimeFigureOut">
              <a:rPr lang="en-MY" smtClean="0"/>
              <a:t>9/1/2025</a:t>
            </a:fld>
            <a:endParaRPr lang="en-MY"/>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MY"/>
          </a:p>
        </p:txBody>
      </p:sp>
      <p:sp>
        <p:nvSpPr>
          <p:cNvPr id="9" name="Slide Number Placeholder 8"/>
          <p:cNvSpPr>
            <a:spLocks noGrp="1"/>
          </p:cNvSpPr>
          <p:nvPr>
            <p:ph type="sldNum" sz="quarter" idx="12"/>
          </p:nvPr>
        </p:nvSpPr>
        <p:spPr/>
        <p:txBody>
          <a:bodyPr/>
          <a:lstStyle/>
          <a:p>
            <a:fld id="{6AEEBB8C-EEC5-44E6-AB6A-4F70B9E44483}" type="slidenum">
              <a:rPr lang="en-MY" smtClean="0"/>
              <a:t>‹#›</a:t>
            </a:fld>
            <a:endParaRPr lang="en-MY"/>
          </a:p>
        </p:txBody>
      </p:sp>
    </p:spTree>
    <p:extLst>
      <p:ext uri="{BB962C8B-B14F-4D97-AF65-F5344CB8AC3E}">
        <p14:creationId xmlns:p14="http://schemas.microsoft.com/office/powerpoint/2010/main" val="1070204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296A87DA-8713-493F-845F-70C38918385B}" type="datetimeFigureOut">
              <a:rPr lang="en-MY" smtClean="0"/>
              <a:t>9/1/2025</a:t>
            </a:fld>
            <a:endParaRPr lang="en-MY"/>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MY"/>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6AEEBB8C-EEC5-44E6-AB6A-4F70B9E44483}" type="slidenum">
              <a:rPr lang="en-MY" smtClean="0"/>
              <a:t>‹#›</a:t>
            </a:fld>
            <a:endParaRPr lang="en-MY"/>
          </a:p>
        </p:txBody>
      </p:sp>
    </p:spTree>
    <p:extLst>
      <p:ext uri="{BB962C8B-B14F-4D97-AF65-F5344CB8AC3E}">
        <p14:creationId xmlns:p14="http://schemas.microsoft.com/office/powerpoint/2010/main" val="6518334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96A87DA-8713-493F-845F-70C38918385B}" type="datetimeFigureOut">
              <a:rPr lang="en-MY" smtClean="0"/>
              <a:t>9/1/2025</a:t>
            </a:fld>
            <a:endParaRPr lang="en-MY"/>
          </a:p>
        </p:txBody>
      </p:sp>
      <p:sp>
        <p:nvSpPr>
          <p:cNvPr id="6" name="Footer Placeholder 5"/>
          <p:cNvSpPr>
            <a:spLocks noGrp="1"/>
          </p:cNvSpPr>
          <p:nvPr>
            <p:ph type="ftr" sz="quarter" idx="11"/>
          </p:nvPr>
        </p:nvSpPr>
        <p:spPr/>
        <p:txBody>
          <a:bodyPr/>
          <a:lstStyle/>
          <a:p>
            <a:endParaRPr lang="en-MY"/>
          </a:p>
        </p:txBody>
      </p:sp>
      <p:sp>
        <p:nvSpPr>
          <p:cNvPr id="7" name="Slide Number Placeholder 6"/>
          <p:cNvSpPr>
            <a:spLocks noGrp="1"/>
          </p:cNvSpPr>
          <p:nvPr>
            <p:ph type="sldNum" sz="quarter" idx="12"/>
          </p:nvPr>
        </p:nvSpPr>
        <p:spPr/>
        <p:txBody>
          <a:bodyPr/>
          <a:lstStyle/>
          <a:p>
            <a:fld id="{6AEEBB8C-EEC5-44E6-AB6A-4F70B9E44483}" type="slidenum">
              <a:rPr lang="en-MY" smtClean="0"/>
              <a:t>‹#›</a:t>
            </a:fld>
            <a:endParaRPr lang="en-MY"/>
          </a:p>
        </p:txBody>
      </p:sp>
    </p:spTree>
    <p:extLst>
      <p:ext uri="{BB962C8B-B14F-4D97-AF65-F5344CB8AC3E}">
        <p14:creationId xmlns:p14="http://schemas.microsoft.com/office/powerpoint/2010/main" val="27909345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96A87DA-8713-493F-845F-70C38918385B}" type="datetimeFigureOut">
              <a:rPr lang="en-MY" smtClean="0"/>
              <a:t>9/1/2025</a:t>
            </a:fld>
            <a:endParaRPr lang="en-MY"/>
          </a:p>
        </p:txBody>
      </p:sp>
      <p:sp>
        <p:nvSpPr>
          <p:cNvPr id="5" name="Footer Placeholder 4"/>
          <p:cNvSpPr>
            <a:spLocks noGrp="1"/>
          </p:cNvSpPr>
          <p:nvPr>
            <p:ph type="ftr" sz="quarter" idx="11"/>
          </p:nvPr>
        </p:nvSpPr>
        <p:spPr/>
        <p:txBody>
          <a:bodyPr/>
          <a:lstStyle/>
          <a:p>
            <a:endParaRPr lang="en-MY"/>
          </a:p>
        </p:txBody>
      </p:sp>
      <p:sp>
        <p:nvSpPr>
          <p:cNvPr id="6" name="Slide Number Placeholder 5"/>
          <p:cNvSpPr>
            <a:spLocks noGrp="1"/>
          </p:cNvSpPr>
          <p:nvPr>
            <p:ph type="sldNum" sz="quarter" idx="12"/>
          </p:nvPr>
        </p:nvSpPr>
        <p:spPr/>
        <p:txBody>
          <a:bodyPr/>
          <a:lstStyle/>
          <a:p>
            <a:fld id="{6AEEBB8C-EEC5-44E6-AB6A-4F70B9E44483}" type="slidenum">
              <a:rPr lang="en-MY" smtClean="0"/>
              <a:t>‹#›</a:t>
            </a:fld>
            <a:endParaRPr lang="en-MY"/>
          </a:p>
        </p:txBody>
      </p:sp>
    </p:spTree>
    <p:extLst>
      <p:ext uri="{BB962C8B-B14F-4D97-AF65-F5344CB8AC3E}">
        <p14:creationId xmlns:p14="http://schemas.microsoft.com/office/powerpoint/2010/main" val="10725932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96A87DA-8713-493F-845F-70C38918385B}" type="datetimeFigureOut">
              <a:rPr lang="en-MY" smtClean="0"/>
              <a:t>9/1/2025</a:t>
            </a:fld>
            <a:endParaRPr lang="en-MY"/>
          </a:p>
        </p:txBody>
      </p:sp>
      <p:sp>
        <p:nvSpPr>
          <p:cNvPr id="5" name="Footer Placeholder 4"/>
          <p:cNvSpPr>
            <a:spLocks noGrp="1"/>
          </p:cNvSpPr>
          <p:nvPr>
            <p:ph type="ftr" sz="quarter" idx="11"/>
          </p:nvPr>
        </p:nvSpPr>
        <p:spPr/>
        <p:txBody>
          <a:bodyPr/>
          <a:lstStyle/>
          <a:p>
            <a:endParaRPr lang="en-MY"/>
          </a:p>
        </p:txBody>
      </p:sp>
      <p:sp>
        <p:nvSpPr>
          <p:cNvPr id="6" name="Slide Number Placeholder 5"/>
          <p:cNvSpPr>
            <a:spLocks noGrp="1"/>
          </p:cNvSpPr>
          <p:nvPr>
            <p:ph type="sldNum" sz="quarter" idx="12"/>
          </p:nvPr>
        </p:nvSpPr>
        <p:spPr/>
        <p:txBody>
          <a:bodyPr/>
          <a:lstStyle/>
          <a:p>
            <a:fld id="{6AEEBB8C-EEC5-44E6-AB6A-4F70B9E44483}" type="slidenum">
              <a:rPr lang="en-MY" smtClean="0"/>
              <a:t>‹#›</a:t>
            </a:fld>
            <a:endParaRPr lang="en-MY"/>
          </a:p>
        </p:txBody>
      </p:sp>
    </p:spTree>
    <p:extLst>
      <p:ext uri="{BB962C8B-B14F-4D97-AF65-F5344CB8AC3E}">
        <p14:creationId xmlns:p14="http://schemas.microsoft.com/office/powerpoint/2010/main" val="17426447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296A87DA-8713-493F-845F-70C38918385B}" type="datetimeFigureOut">
              <a:rPr lang="en-MY" smtClean="0"/>
              <a:t>9/1/2025</a:t>
            </a:fld>
            <a:endParaRPr lang="en-MY"/>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MY"/>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6AEEBB8C-EEC5-44E6-AB6A-4F70B9E44483}" type="slidenum">
              <a:rPr lang="en-MY" smtClean="0"/>
              <a:t>‹#›</a:t>
            </a:fld>
            <a:endParaRPr lang="en-MY"/>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0384549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7.emf"/><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146E60-3BE2-14B9-150E-C7D6DDAAB9DB}"/>
              </a:ext>
            </a:extLst>
          </p:cNvPr>
          <p:cNvSpPr>
            <a:spLocks noGrp="1"/>
          </p:cNvSpPr>
          <p:nvPr>
            <p:ph type="ctrTitle"/>
          </p:nvPr>
        </p:nvSpPr>
        <p:spPr/>
        <p:txBody>
          <a:bodyPr/>
          <a:lstStyle/>
          <a:p>
            <a:r>
              <a:rPr lang="en-US" sz="4400" b="1" dirty="0">
                <a:effectLst/>
                <a:latin typeface="Times New Roman" panose="02020603050405020304" pitchFamily="18" charset="0"/>
                <a:ea typeface="Calibri" panose="020F0502020204030204" pitchFamily="34" charset="0"/>
                <a:cs typeface="Times New Roman" panose="02020603050405020304" pitchFamily="18" charset="0"/>
              </a:rPr>
              <a:t>Homework for the 3-D QSAR</a:t>
            </a:r>
            <a:br>
              <a:rPr lang="en-MY" sz="1800" dirty="0">
                <a:effectLst/>
                <a:latin typeface="Calibri" panose="020F0502020204030204" pitchFamily="34" charset="0"/>
                <a:ea typeface="Calibri" panose="020F0502020204030204" pitchFamily="34" charset="0"/>
                <a:cs typeface="Times New Roman" panose="02020603050405020304" pitchFamily="18" charset="0"/>
              </a:rPr>
            </a:br>
            <a:endParaRPr lang="en-MY" dirty="0"/>
          </a:p>
        </p:txBody>
      </p:sp>
      <p:sp>
        <p:nvSpPr>
          <p:cNvPr id="3" name="Subtitle 2">
            <a:extLst>
              <a:ext uri="{FF2B5EF4-FFF2-40B4-BE49-F238E27FC236}">
                <a16:creationId xmlns:a16="http://schemas.microsoft.com/office/drawing/2014/main" id="{344BC08A-FDC3-15B0-5396-0916ED9DE5F3}"/>
              </a:ext>
            </a:extLst>
          </p:cNvPr>
          <p:cNvSpPr>
            <a:spLocks noGrp="1"/>
          </p:cNvSpPr>
          <p:nvPr>
            <p:ph type="subTitle" idx="1"/>
          </p:nvPr>
        </p:nvSpPr>
        <p:spPr/>
        <p:txBody>
          <a:bodyPr/>
          <a:lstStyle/>
          <a:p>
            <a:r>
              <a:rPr lang="en-MY" dirty="0"/>
              <a:t>By: SIOW JIA SHENG</a:t>
            </a:r>
          </a:p>
        </p:txBody>
      </p:sp>
    </p:spTree>
    <p:extLst>
      <p:ext uri="{BB962C8B-B14F-4D97-AF65-F5344CB8AC3E}">
        <p14:creationId xmlns:p14="http://schemas.microsoft.com/office/powerpoint/2010/main" val="26873483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3EB52A-7C54-C3DF-4B9D-E903363DD4A5}"/>
              </a:ext>
            </a:extLst>
          </p:cNvPr>
          <p:cNvSpPr>
            <a:spLocks noGrp="1"/>
          </p:cNvSpPr>
          <p:nvPr>
            <p:ph type="title"/>
          </p:nvPr>
        </p:nvSpPr>
        <p:spPr/>
        <p:txBody>
          <a:bodyPr/>
          <a:lstStyle/>
          <a:p>
            <a:r>
              <a:rPr lang="en-MY" dirty="0"/>
              <a:t>Introduction</a:t>
            </a:r>
          </a:p>
        </p:txBody>
      </p:sp>
      <p:sp>
        <p:nvSpPr>
          <p:cNvPr id="3" name="Content Placeholder 2">
            <a:extLst>
              <a:ext uri="{FF2B5EF4-FFF2-40B4-BE49-F238E27FC236}">
                <a16:creationId xmlns:a16="http://schemas.microsoft.com/office/drawing/2014/main" id="{0E99A9FB-1F77-0BCE-A473-1AFF31A94C79}"/>
              </a:ext>
            </a:extLst>
          </p:cNvPr>
          <p:cNvSpPr>
            <a:spLocks noGrp="1"/>
          </p:cNvSpPr>
          <p:nvPr>
            <p:ph idx="1"/>
          </p:nvPr>
        </p:nvSpPr>
        <p:spPr/>
        <p:txBody>
          <a:bodyPr>
            <a:normAutofit lnSpcReduction="10000"/>
          </a:bodyPr>
          <a:lstStyle/>
          <a:p>
            <a:r>
              <a:rPr lang="en-US" sz="2400"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We have used QSAR (Quantitative structure-activity relationship) as computational mathematical methods to build models that show us the statistical significance of correlations between a series of molecular structure are their associated biological property. </a:t>
            </a:r>
          </a:p>
          <a:p>
            <a:r>
              <a:rPr lang="en-US" sz="2400"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The usual 2D QSAR method, have limitations only one or two dimensions to describe the structure. Therefore, we use 3-D QSAR to view their spatial arrangement and graphical outputs that provides us more accurate potential drug-receptor interactions.</a:t>
            </a:r>
            <a:endParaRPr lang="en-MY" sz="2400" dirty="0">
              <a:effectLst/>
              <a:latin typeface="Aptos" panose="020B0004020202020204" pitchFamily="34" charset="0"/>
              <a:ea typeface="Aptos" panose="020B0004020202020204" pitchFamily="34" charset="0"/>
              <a:cs typeface="Times New Roman" panose="02020603050405020304" pitchFamily="18" charset="0"/>
            </a:endParaRPr>
          </a:p>
          <a:p>
            <a:r>
              <a:rPr lang="en-US" sz="2400"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A dataset named DAT, which has been chosen to analyze in this article. </a:t>
            </a:r>
          </a:p>
          <a:p>
            <a:r>
              <a:rPr lang="en-US" sz="2400"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The dataset has 36 training molecules and 6 test molecules, which is less than the maximum value the of number of molecules we can upload into the web portal. </a:t>
            </a:r>
            <a:endParaRPr lang="en-MY" sz="2400"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endParaRPr>
          </a:p>
          <a:p>
            <a:endParaRPr lang="en-MY" sz="3600" dirty="0"/>
          </a:p>
        </p:txBody>
      </p:sp>
    </p:spTree>
    <p:extLst>
      <p:ext uri="{BB962C8B-B14F-4D97-AF65-F5344CB8AC3E}">
        <p14:creationId xmlns:p14="http://schemas.microsoft.com/office/powerpoint/2010/main" val="29313126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B281F5C-7C60-BFB8-ADC1-658EA2A6B3A8}"/>
              </a:ext>
            </a:extLst>
          </p:cNvPr>
          <p:cNvSpPr>
            <a:spLocks noGrp="1"/>
          </p:cNvSpPr>
          <p:nvPr>
            <p:ph idx="1"/>
          </p:nvPr>
        </p:nvSpPr>
        <p:spPr>
          <a:xfrm>
            <a:off x="838200" y="787078"/>
            <a:ext cx="10515600" cy="5389885"/>
          </a:xfrm>
        </p:spPr>
        <p:txBody>
          <a:bodyPr>
            <a:normAutofit/>
          </a:bodyPr>
          <a:lstStyle/>
          <a:p>
            <a:r>
              <a:rPr lang="en-US" sz="2400" dirty="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This dataset chosen represents dopamine transporter (DAT), which suggest the key site of action for drugs, such as cocaine in the central nervous system. </a:t>
            </a:r>
          </a:p>
          <a:p>
            <a:r>
              <a:rPr lang="en-US" sz="2400" dirty="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Diagram shows the overlap of all molecules in the dataset. </a:t>
            </a:r>
            <a:endParaRPr lang="en-MY" sz="3600" dirty="0"/>
          </a:p>
        </p:txBody>
      </p:sp>
      <p:pic>
        <p:nvPicPr>
          <p:cNvPr id="8" name="Picture 7">
            <a:extLst>
              <a:ext uri="{FF2B5EF4-FFF2-40B4-BE49-F238E27FC236}">
                <a16:creationId xmlns:a16="http://schemas.microsoft.com/office/drawing/2014/main" id="{77D23DAE-7626-4068-72E5-C409533EBD30}"/>
              </a:ext>
            </a:extLst>
          </p:cNvPr>
          <p:cNvPicPr>
            <a:picLocks noChangeAspect="1"/>
          </p:cNvPicPr>
          <p:nvPr/>
        </p:nvPicPr>
        <p:blipFill>
          <a:blip r:embed="rId3"/>
          <a:stretch>
            <a:fillRect/>
          </a:stretch>
        </p:blipFill>
        <p:spPr>
          <a:xfrm>
            <a:off x="-561130" y="523472"/>
            <a:ext cx="11914930" cy="5917096"/>
          </a:xfrm>
          <a:prstGeom prst="rect">
            <a:avLst/>
          </a:prstGeom>
        </p:spPr>
      </p:pic>
    </p:spTree>
    <p:extLst>
      <p:ext uri="{BB962C8B-B14F-4D97-AF65-F5344CB8AC3E}">
        <p14:creationId xmlns:p14="http://schemas.microsoft.com/office/powerpoint/2010/main" val="16930789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5AAC06-7DE6-0464-7FD4-12B84F79D9C4}"/>
              </a:ext>
            </a:extLst>
          </p:cNvPr>
          <p:cNvSpPr>
            <a:spLocks noGrp="1"/>
          </p:cNvSpPr>
          <p:nvPr>
            <p:ph type="title"/>
          </p:nvPr>
        </p:nvSpPr>
        <p:spPr/>
        <p:txBody>
          <a:bodyPr/>
          <a:lstStyle/>
          <a:p>
            <a:r>
              <a:rPr lang="en-MY" dirty="0"/>
              <a:t>Methodology</a:t>
            </a:r>
          </a:p>
        </p:txBody>
      </p:sp>
      <p:sp>
        <p:nvSpPr>
          <p:cNvPr id="3" name="Content Placeholder 2">
            <a:extLst>
              <a:ext uri="{FF2B5EF4-FFF2-40B4-BE49-F238E27FC236}">
                <a16:creationId xmlns:a16="http://schemas.microsoft.com/office/drawing/2014/main" id="{88C6404B-6E2A-31C7-CF9C-C2A710B4B38C}"/>
              </a:ext>
            </a:extLst>
          </p:cNvPr>
          <p:cNvSpPr>
            <a:spLocks noGrp="1"/>
          </p:cNvSpPr>
          <p:nvPr>
            <p:ph idx="1"/>
          </p:nvPr>
        </p:nvSpPr>
        <p:spPr/>
        <p:txBody>
          <a:bodyPr>
            <a:normAutofit/>
          </a:bodyPr>
          <a:lstStyle/>
          <a:p>
            <a:pPr marL="342900" lvl="0" indent="-342900" algn="just">
              <a:lnSpc>
                <a:spcPct val="150000"/>
              </a:lnSpc>
              <a:buFont typeface="+mj-lt"/>
              <a:buAutoNum type="arabicPeriod"/>
            </a:pPr>
            <a:r>
              <a:rPr lang="en-US" sz="2400" dirty="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The chosen dataset is: “15.DAT” data set, and 36 training set and 6 training set are selected to make 3D-QSAR model in the 3D-QSAR.com web application. </a:t>
            </a:r>
            <a:endParaRPr lang="en-MY" sz="24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gn="just">
              <a:lnSpc>
                <a:spcPct val="150000"/>
              </a:lnSpc>
              <a:buFont typeface="+mj-lt"/>
              <a:buAutoNum type="arabicPeriod"/>
            </a:pPr>
            <a:r>
              <a:rPr lang="en-US" sz="2400" dirty="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The molecules are first submitted to make 3D QSAR model</a:t>
            </a:r>
            <a:r>
              <a:rPr lang="en-US" sz="2400" dirty="0">
                <a:solidFill>
                  <a:srgbClr val="000000"/>
                </a:solidFill>
                <a:latin typeface="Times New Roman" panose="02020603050405020304" pitchFamily="18" charset="0"/>
                <a:ea typeface="DengXian" panose="02010600030101010101" pitchFamily="2" charset="-122"/>
                <a:cs typeface="Times New Roman" panose="02020603050405020304" pitchFamily="18" charset="0"/>
              </a:rPr>
              <a:t>.</a:t>
            </a:r>
          </a:p>
          <a:p>
            <a:pPr marL="342900" lvl="0" indent="-342900" algn="just">
              <a:lnSpc>
                <a:spcPct val="150000"/>
              </a:lnSpc>
              <a:buFont typeface="+mj-lt"/>
              <a:buAutoNum type="arabicPeriod"/>
            </a:pPr>
            <a:r>
              <a:rPr lang="en-US" sz="2400" dirty="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Then the CV is set to “true” to compare the result with the previous one.</a:t>
            </a:r>
            <a:endParaRPr lang="en-MY" sz="2400" dirty="0">
              <a:effectLst/>
              <a:latin typeface="Aptos" panose="020B0004020202020204" pitchFamily="34" charset="0"/>
              <a:ea typeface="Aptos" panose="020B0004020202020204" pitchFamily="34" charset="0"/>
              <a:cs typeface="Times New Roman" panose="02020603050405020304" pitchFamily="18" charset="0"/>
            </a:endParaRPr>
          </a:p>
          <a:p>
            <a:endParaRPr lang="en-MY" sz="3600" dirty="0"/>
          </a:p>
        </p:txBody>
      </p:sp>
    </p:spTree>
    <p:extLst>
      <p:ext uri="{BB962C8B-B14F-4D97-AF65-F5344CB8AC3E}">
        <p14:creationId xmlns:p14="http://schemas.microsoft.com/office/powerpoint/2010/main" val="27203576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58E56A-C48D-4C7F-C48C-29883D8822AA}"/>
              </a:ext>
            </a:extLst>
          </p:cNvPr>
          <p:cNvSpPr>
            <a:spLocks noGrp="1"/>
          </p:cNvSpPr>
          <p:nvPr>
            <p:ph type="title"/>
          </p:nvPr>
        </p:nvSpPr>
        <p:spPr>
          <a:xfrm>
            <a:off x="687729" y="126977"/>
            <a:ext cx="10515600" cy="1325563"/>
          </a:xfrm>
        </p:spPr>
        <p:txBody>
          <a:bodyPr/>
          <a:lstStyle/>
          <a:p>
            <a:r>
              <a:rPr lang="en-MY" dirty="0"/>
              <a:t>Methodology</a:t>
            </a:r>
          </a:p>
        </p:txBody>
      </p:sp>
      <p:sp>
        <p:nvSpPr>
          <p:cNvPr id="3" name="Content Placeholder 2">
            <a:extLst>
              <a:ext uri="{FF2B5EF4-FFF2-40B4-BE49-F238E27FC236}">
                <a16:creationId xmlns:a16="http://schemas.microsoft.com/office/drawing/2014/main" id="{A1BF49B0-4AF1-19D3-516C-403B34A86C68}"/>
              </a:ext>
            </a:extLst>
          </p:cNvPr>
          <p:cNvSpPr>
            <a:spLocks noGrp="1"/>
          </p:cNvSpPr>
          <p:nvPr>
            <p:ph idx="1"/>
          </p:nvPr>
        </p:nvSpPr>
        <p:spPr>
          <a:xfrm>
            <a:off x="838200" y="2014330"/>
            <a:ext cx="10515600" cy="4174208"/>
          </a:xfrm>
        </p:spPr>
        <p:txBody>
          <a:bodyPr>
            <a:normAutofit lnSpcReduction="10000"/>
          </a:bodyPr>
          <a:lstStyle/>
          <a:p>
            <a:pPr marL="342900" lvl="0" indent="-342900" algn="just">
              <a:lnSpc>
                <a:spcPct val="150000"/>
              </a:lnSpc>
              <a:buAutoNum type="arabicPeriod" startAt="4"/>
            </a:pPr>
            <a:r>
              <a:rPr lang="en-US" sz="2400" dirty="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The dataset is calculated </a:t>
            </a:r>
            <a:r>
              <a:rPr lang="en-US" sz="2400" dirty="0" err="1">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throught</a:t>
            </a:r>
            <a:r>
              <a:rPr lang="en-US" sz="2400" dirty="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 VPO calculation</a:t>
            </a:r>
            <a:r>
              <a:rPr lang="en-US" sz="2400" dirty="0">
                <a:solidFill>
                  <a:srgbClr val="000000"/>
                </a:solidFill>
                <a:latin typeface="Times New Roman" panose="02020603050405020304" pitchFamily="18" charset="0"/>
                <a:ea typeface="DengXian" panose="02010600030101010101" pitchFamily="2" charset="-122"/>
                <a:cs typeface="Times New Roman" panose="02020603050405020304" pitchFamily="18" charset="0"/>
              </a:rPr>
              <a:t>.</a:t>
            </a:r>
          </a:p>
          <a:p>
            <a:pPr marL="342900" lvl="0" indent="-342900" algn="just">
              <a:lnSpc>
                <a:spcPct val="150000"/>
              </a:lnSpc>
              <a:buAutoNum type="arabicPeriod" startAt="4"/>
            </a:pPr>
            <a:r>
              <a:rPr lang="en-US" sz="2400" dirty="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The results are rearranged with the best Combined CV score, and the selected result with highest score will then generate the maps. </a:t>
            </a:r>
            <a:endParaRPr lang="en-MY" sz="24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gn="just">
              <a:lnSpc>
                <a:spcPct val="150000"/>
              </a:lnSpc>
              <a:buAutoNum type="arabicPeriod" startAt="6"/>
            </a:pPr>
            <a:r>
              <a:rPr lang="en-US" sz="2400" dirty="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We repeated the above steps with original parameters, then with run through VPO, and run with Y scrambling, and with Y-scrambling and validate with external test set. </a:t>
            </a:r>
            <a:endParaRPr lang="en-US" sz="2400" dirty="0">
              <a:solidFill>
                <a:srgbClr val="000000"/>
              </a:solidFill>
              <a:latin typeface="Times New Roman" panose="02020603050405020304" pitchFamily="18" charset="0"/>
              <a:ea typeface="DengXian" panose="02010600030101010101" pitchFamily="2" charset="-122"/>
              <a:cs typeface="Times New Roman" panose="02020603050405020304" pitchFamily="18" charset="0"/>
            </a:endParaRPr>
          </a:p>
          <a:p>
            <a:pPr marL="342900" lvl="0" indent="-342900" algn="just">
              <a:lnSpc>
                <a:spcPct val="150000"/>
              </a:lnSpc>
              <a:buAutoNum type="arabicPeriod" startAt="6"/>
            </a:pPr>
            <a:r>
              <a:rPr lang="en-US" sz="2400" dirty="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The values and maps are inspected</a:t>
            </a:r>
            <a:endParaRPr lang="en-MY" sz="2800" dirty="0"/>
          </a:p>
        </p:txBody>
      </p:sp>
    </p:spTree>
    <p:extLst>
      <p:ext uri="{BB962C8B-B14F-4D97-AF65-F5344CB8AC3E}">
        <p14:creationId xmlns:p14="http://schemas.microsoft.com/office/powerpoint/2010/main" val="3469378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EE5F0A-ED01-9B6F-D7A9-D8F31F665C39}"/>
              </a:ext>
            </a:extLst>
          </p:cNvPr>
          <p:cNvSpPr>
            <a:spLocks noGrp="1"/>
          </p:cNvSpPr>
          <p:nvPr>
            <p:ph type="title"/>
          </p:nvPr>
        </p:nvSpPr>
        <p:spPr/>
        <p:txBody>
          <a:bodyPr/>
          <a:lstStyle/>
          <a:p>
            <a:r>
              <a:rPr lang="en-US" dirty="0"/>
              <a:t>Statistical coefficients obtained from the calculation</a:t>
            </a:r>
            <a:endParaRPr lang="en-MY" dirty="0"/>
          </a:p>
        </p:txBody>
      </p:sp>
      <p:sp>
        <p:nvSpPr>
          <p:cNvPr id="3" name="Content Placeholder 2">
            <a:extLst>
              <a:ext uri="{FF2B5EF4-FFF2-40B4-BE49-F238E27FC236}">
                <a16:creationId xmlns:a16="http://schemas.microsoft.com/office/drawing/2014/main" id="{F83BB9BB-C08D-C475-B43A-703717C713A9}"/>
              </a:ext>
            </a:extLst>
          </p:cNvPr>
          <p:cNvSpPr>
            <a:spLocks noGrp="1"/>
          </p:cNvSpPr>
          <p:nvPr>
            <p:ph idx="1"/>
          </p:nvPr>
        </p:nvSpPr>
        <p:spPr>
          <a:xfrm>
            <a:off x="838200" y="1779326"/>
            <a:ext cx="10515600" cy="4351338"/>
          </a:xfrm>
        </p:spPr>
        <p:txBody>
          <a:bodyPr>
            <a:normAutofit/>
          </a:bodyPr>
          <a:lstStyle/>
          <a:p>
            <a:pPr indent="457200" algn="just">
              <a:lnSpc>
                <a:spcPct val="150000"/>
              </a:lnSpc>
              <a:spcAft>
                <a:spcPts val="800"/>
              </a:spcAft>
            </a:pPr>
            <a:r>
              <a:rPr lang="en-US" sz="2400" dirty="0">
                <a:solidFill>
                  <a:srgbClr val="000000"/>
                </a:solidFill>
                <a:latin typeface="Times New Roman" panose="02020603050405020304" pitchFamily="18" charset="0"/>
                <a:ea typeface="Aptos" panose="020B0004020202020204" pitchFamily="34" charset="0"/>
                <a:cs typeface="Times New Roman" panose="02020603050405020304" pitchFamily="18" charset="0"/>
              </a:rPr>
              <a:t>W</a:t>
            </a:r>
            <a:r>
              <a:rPr lang="en-US" sz="2400"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e arranged the 100 models with the highest score of COMBINED values, and generate the map. W</a:t>
            </a:r>
            <a:r>
              <a:rPr lang="en-MY" sz="2400"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e get a high score of 0.744 for q</a:t>
            </a:r>
            <a:r>
              <a:rPr lang="en-MY" sz="2400" baseline="30000"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2</a:t>
            </a:r>
            <a:r>
              <a:rPr lang="en-MY" sz="2400"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 Combined CV score. Therefore we selected this model to generate the map and further analyse. </a:t>
            </a:r>
            <a:endParaRPr lang="en-MY" sz="2400" dirty="0">
              <a:effectLst/>
              <a:latin typeface="Aptos" panose="020B0004020202020204" pitchFamily="34" charset="0"/>
              <a:ea typeface="Aptos" panose="020B0004020202020204" pitchFamily="34" charset="0"/>
              <a:cs typeface="Times New Roman" panose="02020603050405020304" pitchFamily="18" charset="0"/>
            </a:endParaRPr>
          </a:p>
          <a:p>
            <a:pPr indent="457200">
              <a:lnSpc>
                <a:spcPct val="150000"/>
              </a:lnSpc>
              <a:spcAft>
                <a:spcPts val="800"/>
              </a:spcAft>
            </a:pPr>
            <a:r>
              <a:rPr lang="en-US" sz="2400" dirty="0">
                <a:solidFill>
                  <a:srgbClr val="000000"/>
                </a:solidFill>
                <a:latin typeface="Times New Roman" panose="02020603050405020304" pitchFamily="18" charset="0"/>
                <a:ea typeface="Aptos" panose="020B0004020202020204" pitchFamily="34" charset="0"/>
                <a:cs typeface="Times New Roman" panose="02020603050405020304" pitchFamily="18" charset="0"/>
              </a:rPr>
              <a:t>W</a:t>
            </a:r>
            <a:r>
              <a:rPr lang="en-US" sz="2400"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e can see that the maximum potency obtained is 7.81, and the minimum potency is the 3.76, so that the activity range is 4. </a:t>
            </a:r>
            <a:endParaRPr lang="en-MY" sz="3600" dirty="0"/>
          </a:p>
        </p:txBody>
      </p:sp>
    </p:spTree>
    <p:extLst>
      <p:ext uri="{BB962C8B-B14F-4D97-AF65-F5344CB8AC3E}">
        <p14:creationId xmlns:p14="http://schemas.microsoft.com/office/powerpoint/2010/main" val="17353229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F940864E-D29B-8F75-9485-E61B6A2ED39C}"/>
              </a:ext>
            </a:extLst>
          </p:cNvPr>
          <p:cNvPicPr>
            <a:picLocks noGrp="1" noChangeAspect="1"/>
          </p:cNvPicPr>
          <p:nvPr>
            <p:ph idx="1"/>
          </p:nvPr>
        </p:nvPicPr>
        <p:blipFill>
          <a:blip r:embed="rId3"/>
          <a:stretch>
            <a:fillRect/>
          </a:stretch>
        </p:blipFill>
        <p:spPr>
          <a:xfrm>
            <a:off x="124885" y="416965"/>
            <a:ext cx="10584886" cy="5639279"/>
          </a:xfrm>
          <a:prstGeom prst="rect">
            <a:avLst/>
          </a:prstGeom>
        </p:spPr>
      </p:pic>
    </p:spTree>
    <p:extLst>
      <p:ext uri="{BB962C8B-B14F-4D97-AF65-F5344CB8AC3E}">
        <p14:creationId xmlns:p14="http://schemas.microsoft.com/office/powerpoint/2010/main" val="1492551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EE0653A-1A4A-845F-6B79-56F4692CE606}"/>
              </a:ext>
            </a:extLst>
          </p:cNvPr>
          <p:cNvPicPr>
            <a:picLocks noChangeAspect="1"/>
          </p:cNvPicPr>
          <p:nvPr/>
        </p:nvPicPr>
        <p:blipFill>
          <a:blip r:embed="rId3"/>
          <a:stretch>
            <a:fillRect/>
          </a:stretch>
        </p:blipFill>
        <p:spPr>
          <a:xfrm>
            <a:off x="414857" y="742595"/>
            <a:ext cx="10332657" cy="5123631"/>
          </a:xfrm>
          <a:prstGeom prst="rect">
            <a:avLst/>
          </a:prstGeom>
        </p:spPr>
      </p:pic>
    </p:spTree>
    <p:extLst>
      <p:ext uri="{BB962C8B-B14F-4D97-AF65-F5344CB8AC3E}">
        <p14:creationId xmlns:p14="http://schemas.microsoft.com/office/powerpoint/2010/main" val="17315832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388569-A221-BE42-3C6C-F2AB3D265FE7}"/>
              </a:ext>
            </a:extLst>
          </p:cNvPr>
          <p:cNvSpPr>
            <a:spLocks noGrp="1"/>
          </p:cNvSpPr>
          <p:nvPr>
            <p:ph type="title"/>
          </p:nvPr>
        </p:nvSpPr>
        <p:spPr/>
        <p:txBody>
          <a:bodyPr/>
          <a:lstStyle/>
          <a:p>
            <a:r>
              <a:rPr lang="en-MY" dirty="0"/>
              <a:t>Interpretation</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8A20A910-9243-9198-6E15-F803FF562B63}"/>
                  </a:ext>
                </a:extLst>
              </p:cNvPr>
              <p:cNvSpPr>
                <a:spLocks noGrp="1"/>
              </p:cNvSpPr>
              <p:nvPr>
                <p:ph idx="1"/>
              </p:nvPr>
            </p:nvSpPr>
            <p:spPr>
              <a:xfrm>
                <a:off x="1097279" y="1845733"/>
                <a:ext cx="11624807" cy="5403206"/>
              </a:xfrm>
            </p:spPr>
            <p:txBody>
              <a:bodyPr>
                <a:normAutofit/>
              </a:bodyPr>
              <a:lstStyle/>
              <a:p>
                <a:pPr marL="0" lvl="0" indent="0" algn="just">
                  <a:lnSpc>
                    <a:spcPct val="150000"/>
                  </a:lnSpc>
                  <a:buNone/>
                </a:pPr>
                <a:r>
                  <a:rPr lang="en-US" sz="2400" dirty="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R2 : the squared correlation coefficient, The value of r2 is  0 ≤ r</a:t>
                </a:r>
                <a:r>
                  <a:rPr lang="en-US" sz="2400" baseline="30000" dirty="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2</a:t>
                </a:r>
                <a:r>
                  <a:rPr lang="en-US" sz="2400" dirty="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 ≤ 1.</a:t>
                </a:r>
                <a:endParaRPr lang="en-MY" sz="2400" dirty="0">
                  <a:effectLst/>
                  <a:latin typeface="Aptos" panose="020B0004020202020204" pitchFamily="34" charset="0"/>
                  <a:ea typeface="Aptos" panose="020B0004020202020204" pitchFamily="34" charset="0"/>
                  <a:cs typeface="Times New Roman" panose="02020603050405020304" pitchFamily="18" charset="0"/>
                </a:endParaRPr>
              </a:p>
              <a:p>
                <a:pPr marL="457200" algn="just">
                  <a:lnSpc>
                    <a:spcPct val="150000"/>
                  </a:lnSpc>
                  <a:spcAft>
                    <a:spcPts val="800"/>
                  </a:spcAft>
                </a:pPr>
                <a14:m>
                  <m:oMath xmlns:m="http://schemas.openxmlformats.org/officeDocument/2006/math">
                    <m:sSup>
                      <m:sSupPr>
                        <m:ctrlPr>
                          <a:rPr lang="en-MY" sz="2400" i="1">
                            <a:solidFill>
                              <a:srgbClr val="000000"/>
                            </a:solidFill>
                            <a:effectLst/>
                            <a:latin typeface="Cambria Math" panose="02040503050406030204" pitchFamily="18" charset="0"/>
                            <a:ea typeface="DengXian" panose="02010600030101010101" pitchFamily="2" charset="-122"/>
                            <a:cs typeface="Times New Roman" panose="02020603050405020304" pitchFamily="18" charset="0"/>
                          </a:rPr>
                        </m:ctrlPr>
                      </m:sSupPr>
                      <m:e>
                        <m:r>
                          <a:rPr lang="en-US" sz="2400" i="1">
                            <a:solidFill>
                              <a:srgbClr val="000000"/>
                            </a:solidFill>
                            <a:effectLst/>
                            <a:latin typeface="Cambria Math" panose="02040503050406030204" pitchFamily="18" charset="0"/>
                            <a:ea typeface="DengXian" panose="02010600030101010101" pitchFamily="2" charset="-122"/>
                            <a:cs typeface="Times New Roman" panose="02020603050405020304" pitchFamily="18" charset="0"/>
                          </a:rPr>
                          <m:t>𝑟</m:t>
                        </m:r>
                      </m:e>
                      <m:sup>
                        <m:r>
                          <a:rPr lang="en-US" sz="2400" i="1">
                            <a:solidFill>
                              <a:srgbClr val="000000"/>
                            </a:solidFill>
                            <a:effectLst/>
                            <a:latin typeface="Cambria Math" panose="02040503050406030204" pitchFamily="18" charset="0"/>
                            <a:ea typeface="DengXian" panose="02010600030101010101" pitchFamily="2" charset="-122"/>
                            <a:cs typeface="Times New Roman" panose="02020603050405020304" pitchFamily="18" charset="0"/>
                          </a:rPr>
                          <m:t>2</m:t>
                        </m:r>
                      </m:sup>
                    </m:sSup>
                    <m:r>
                      <a:rPr lang="en-US" sz="2400" i="1">
                        <a:solidFill>
                          <a:srgbClr val="000000"/>
                        </a:solidFill>
                        <a:effectLst/>
                        <a:latin typeface="Cambria Math" panose="02040503050406030204" pitchFamily="18" charset="0"/>
                        <a:ea typeface="DengXian" panose="02010600030101010101" pitchFamily="2" charset="-122"/>
                        <a:cs typeface="Times New Roman" panose="02020603050405020304" pitchFamily="18" charset="0"/>
                      </a:rPr>
                      <m:t>=1− </m:t>
                    </m:r>
                    <m:f>
                      <m:fPr>
                        <m:ctrlPr>
                          <a:rPr lang="en-MY" sz="2400" i="1">
                            <a:solidFill>
                              <a:srgbClr val="000000"/>
                            </a:solidFill>
                            <a:effectLst/>
                            <a:latin typeface="Cambria Math" panose="02040503050406030204" pitchFamily="18" charset="0"/>
                            <a:ea typeface="DengXian" panose="02010600030101010101" pitchFamily="2" charset="-122"/>
                            <a:cs typeface="Times New Roman" panose="02020603050405020304" pitchFamily="18" charset="0"/>
                          </a:rPr>
                        </m:ctrlPr>
                      </m:fPr>
                      <m:num>
                        <m:nary>
                          <m:naryPr>
                            <m:chr m:val="∑"/>
                            <m:limLoc m:val="undOvr"/>
                            <m:ctrlPr>
                              <a:rPr lang="en-MY" sz="2400" i="1">
                                <a:solidFill>
                                  <a:srgbClr val="000000"/>
                                </a:solidFill>
                                <a:effectLst/>
                                <a:latin typeface="Cambria Math" panose="02040503050406030204" pitchFamily="18" charset="0"/>
                                <a:ea typeface="DengXian" panose="02010600030101010101" pitchFamily="2" charset="-122"/>
                                <a:cs typeface="Times New Roman" panose="02020603050405020304" pitchFamily="18" charset="0"/>
                              </a:rPr>
                            </m:ctrlPr>
                          </m:naryPr>
                          <m:sub>
                            <m:r>
                              <a:rPr lang="en-US" sz="2400" i="1">
                                <a:solidFill>
                                  <a:srgbClr val="000000"/>
                                </a:solidFill>
                                <a:effectLst/>
                                <a:latin typeface="Cambria Math" panose="02040503050406030204" pitchFamily="18" charset="0"/>
                                <a:ea typeface="DengXian" panose="02010600030101010101" pitchFamily="2" charset="-122"/>
                                <a:cs typeface="Times New Roman" panose="02020603050405020304" pitchFamily="18" charset="0"/>
                              </a:rPr>
                              <m:t>𝑖</m:t>
                            </m:r>
                            <m:r>
                              <a:rPr lang="en-US" sz="2400" i="1">
                                <a:solidFill>
                                  <a:srgbClr val="000000"/>
                                </a:solidFill>
                                <a:effectLst/>
                                <a:latin typeface="Cambria Math" panose="02040503050406030204" pitchFamily="18" charset="0"/>
                                <a:ea typeface="DengXian" panose="02010600030101010101" pitchFamily="2" charset="-122"/>
                                <a:cs typeface="Times New Roman" panose="02020603050405020304" pitchFamily="18" charset="0"/>
                              </a:rPr>
                              <m:t>=1</m:t>
                            </m:r>
                          </m:sub>
                          <m:sup>
                            <m:r>
                              <a:rPr lang="en-US" sz="2400" i="1">
                                <a:solidFill>
                                  <a:srgbClr val="000000"/>
                                </a:solidFill>
                                <a:effectLst/>
                                <a:latin typeface="Cambria Math" panose="02040503050406030204" pitchFamily="18" charset="0"/>
                                <a:ea typeface="DengXian" panose="02010600030101010101" pitchFamily="2" charset="-122"/>
                                <a:cs typeface="Times New Roman" panose="02020603050405020304" pitchFamily="18" charset="0"/>
                              </a:rPr>
                              <m:t>𝑁</m:t>
                            </m:r>
                          </m:sup>
                          <m:e>
                            <m:sSup>
                              <m:sSupPr>
                                <m:ctrlPr>
                                  <a:rPr lang="en-MY" sz="2400" i="1">
                                    <a:solidFill>
                                      <a:srgbClr val="000000"/>
                                    </a:solidFill>
                                    <a:effectLst/>
                                    <a:latin typeface="Cambria Math" panose="02040503050406030204" pitchFamily="18" charset="0"/>
                                    <a:ea typeface="DengXian" panose="02010600030101010101" pitchFamily="2" charset="-122"/>
                                    <a:cs typeface="Times New Roman" panose="02020603050405020304" pitchFamily="18" charset="0"/>
                                  </a:rPr>
                                </m:ctrlPr>
                              </m:sSupPr>
                              <m:e>
                                <m:r>
                                  <a:rPr lang="en-US" sz="2400" i="1">
                                    <a:solidFill>
                                      <a:srgbClr val="000000"/>
                                    </a:solidFill>
                                    <a:effectLst/>
                                    <a:latin typeface="Cambria Math" panose="02040503050406030204" pitchFamily="18" charset="0"/>
                                    <a:ea typeface="DengXian" panose="02010600030101010101" pitchFamily="2" charset="-122"/>
                                    <a:cs typeface="Times New Roman" panose="02020603050405020304" pitchFamily="18" charset="0"/>
                                  </a:rPr>
                                  <m:t>(</m:t>
                                </m:r>
                                <m:sSub>
                                  <m:sSubPr>
                                    <m:ctrlPr>
                                      <a:rPr lang="en-MY" sz="2400" i="1">
                                        <a:solidFill>
                                          <a:srgbClr val="000000"/>
                                        </a:solidFill>
                                        <a:effectLst/>
                                        <a:latin typeface="Cambria Math" panose="02040503050406030204" pitchFamily="18" charset="0"/>
                                        <a:ea typeface="DengXian" panose="02010600030101010101" pitchFamily="2" charset="-122"/>
                                        <a:cs typeface="Times New Roman" panose="02020603050405020304" pitchFamily="18" charset="0"/>
                                      </a:rPr>
                                    </m:ctrlPr>
                                  </m:sSubPr>
                                  <m:e>
                                    <m:r>
                                      <a:rPr lang="en-US" sz="2400" i="1">
                                        <a:solidFill>
                                          <a:srgbClr val="000000"/>
                                        </a:solidFill>
                                        <a:effectLst/>
                                        <a:latin typeface="Cambria Math" panose="02040503050406030204" pitchFamily="18" charset="0"/>
                                        <a:ea typeface="DengXian" panose="02010600030101010101" pitchFamily="2" charset="-122"/>
                                        <a:cs typeface="Times New Roman" panose="02020603050405020304" pitchFamily="18" charset="0"/>
                                      </a:rPr>
                                      <m:t>𝑌</m:t>
                                    </m:r>
                                  </m:e>
                                  <m:sub>
                                    <m:r>
                                      <a:rPr lang="en-US" sz="2400" i="1">
                                        <a:solidFill>
                                          <a:srgbClr val="000000"/>
                                        </a:solidFill>
                                        <a:effectLst/>
                                        <a:latin typeface="Cambria Math" panose="02040503050406030204" pitchFamily="18" charset="0"/>
                                        <a:ea typeface="DengXian" panose="02010600030101010101" pitchFamily="2" charset="-122"/>
                                        <a:cs typeface="Times New Roman" panose="02020603050405020304" pitchFamily="18" charset="0"/>
                                      </a:rPr>
                                      <m:t>𝑒𝑥𝑝</m:t>
                                    </m:r>
                                    <m:r>
                                      <a:rPr lang="en-US" sz="2400" i="1">
                                        <a:solidFill>
                                          <a:srgbClr val="000000"/>
                                        </a:solidFill>
                                        <a:effectLst/>
                                        <a:latin typeface="Cambria Math" panose="02040503050406030204" pitchFamily="18" charset="0"/>
                                        <a:ea typeface="DengXian" panose="02010600030101010101" pitchFamily="2" charset="-122"/>
                                        <a:cs typeface="Times New Roman" panose="02020603050405020304" pitchFamily="18" charset="0"/>
                                      </a:rPr>
                                      <m:t>,</m:t>
                                    </m:r>
                                    <m:r>
                                      <a:rPr lang="en-US" sz="2400" i="1">
                                        <a:solidFill>
                                          <a:srgbClr val="000000"/>
                                        </a:solidFill>
                                        <a:effectLst/>
                                        <a:latin typeface="Cambria Math" panose="02040503050406030204" pitchFamily="18" charset="0"/>
                                        <a:ea typeface="DengXian" panose="02010600030101010101" pitchFamily="2" charset="-122"/>
                                        <a:cs typeface="Times New Roman" panose="02020603050405020304" pitchFamily="18" charset="0"/>
                                      </a:rPr>
                                      <m:t>𝑖</m:t>
                                    </m:r>
                                  </m:sub>
                                </m:sSub>
                                <m:r>
                                  <a:rPr lang="en-US" sz="2400" i="1">
                                    <a:solidFill>
                                      <a:srgbClr val="000000"/>
                                    </a:solidFill>
                                    <a:effectLst/>
                                    <a:latin typeface="Cambria Math" panose="02040503050406030204" pitchFamily="18" charset="0"/>
                                    <a:ea typeface="DengXian" panose="02010600030101010101" pitchFamily="2" charset="-122"/>
                                    <a:cs typeface="Times New Roman" panose="02020603050405020304" pitchFamily="18" charset="0"/>
                                  </a:rPr>
                                  <m:t>−</m:t>
                                </m:r>
                                <m:sSub>
                                  <m:sSubPr>
                                    <m:ctrlPr>
                                      <a:rPr lang="en-MY" sz="2400" i="1">
                                        <a:solidFill>
                                          <a:srgbClr val="000000"/>
                                        </a:solidFill>
                                        <a:effectLst/>
                                        <a:latin typeface="Cambria Math" panose="02040503050406030204" pitchFamily="18" charset="0"/>
                                        <a:ea typeface="DengXian" panose="02010600030101010101" pitchFamily="2" charset="-122"/>
                                        <a:cs typeface="Times New Roman" panose="02020603050405020304" pitchFamily="18" charset="0"/>
                                      </a:rPr>
                                    </m:ctrlPr>
                                  </m:sSubPr>
                                  <m:e>
                                    <m:r>
                                      <a:rPr lang="en-US" sz="2400" i="1">
                                        <a:solidFill>
                                          <a:srgbClr val="000000"/>
                                        </a:solidFill>
                                        <a:effectLst/>
                                        <a:latin typeface="Cambria Math" panose="02040503050406030204" pitchFamily="18" charset="0"/>
                                        <a:ea typeface="DengXian" panose="02010600030101010101" pitchFamily="2" charset="-122"/>
                                        <a:cs typeface="Times New Roman" panose="02020603050405020304" pitchFamily="18" charset="0"/>
                                      </a:rPr>
                                      <m:t>𝑌</m:t>
                                    </m:r>
                                  </m:e>
                                  <m:sub>
                                    <m:r>
                                      <a:rPr lang="en-US" sz="2400" i="1">
                                        <a:solidFill>
                                          <a:srgbClr val="000000"/>
                                        </a:solidFill>
                                        <a:effectLst/>
                                        <a:latin typeface="Cambria Math" panose="02040503050406030204" pitchFamily="18" charset="0"/>
                                        <a:ea typeface="DengXian" panose="02010600030101010101" pitchFamily="2" charset="-122"/>
                                        <a:cs typeface="Times New Roman" panose="02020603050405020304" pitchFamily="18" charset="0"/>
                                      </a:rPr>
                                      <m:t>𝑐𝑎𝑙𝑐</m:t>
                                    </m:r>
                                    <m:r>
                                      <a:rPr lang="en-US" sz="2400" i="1">
                                        <a:solidFill>
                                          <a:srgbClr val="000000"/>
                                        </a:solidFill>
                                        <a:effectLst/>
                                        <a:latin typeface="Cambria Math" panose="02040503050406030204" pitchFamily="18" charset="0"/>
                                        <a:ea typeface="DengXian" panose="02010600030101010101" pitchFamily="2" charset="-122"/>
                                        <a:cs typeface="Times New Roman" panose="02020603050405020304" pitchFamily="18" charset="0"/>
                                      </a:rPr>
                                      <m:t>,</m:t>
                                    </m:r>
                                    <m:r>
                                      <a:rPr lang="en-US" sz="2400" i="1">
                                        <a:solidFill>
                                          <a:srgbClr val="000000"/>
                                        </a:solidFill>
                                        <a:effectLst/>
                                        <a:latin typeface="Cambria Math" panose="02040503050406030204" pitchFamily="18" charset="0"/>
                                        <a:ea typeface="DengXian" panose="02010600030101010101" pitchFamily="2" charset="-122"/>
                                        <a:cs typeface="Times New Roman" panose="02020603050405020304" pitchFamily="18" charset="0"/>
                                      </a:rPr>
                                      <m:t>𝑖</m:t>
                                    </m:r>
                                  </m:sub>
                                </m:sSub>
                                <m:r>
                                  <a:rPr lang="en-US" sz="2400" i="1">
                                    <a:solidFill>
                                      <a:srgbClr val="000000"/>
                                    </a:solidFill>
                                    <a:effectLst/>
                                    <a:latin typeface="Cambria Math" panose="02040503050406030204" pitchFamily="18" charset="0"/>
                                    <a:ea typeface="DengXian" panose="02010600030101010101" pitchFamily="2" charset="-122"/>
                                    <a:cs typeface="Times New Roman" panose="02020603050405020304" pitchFamily="18" charset="0"/>
                                  </a:rPr>
                                  <m:t>)</m:t>
                                </m:r>
                              </m:e>
                              <m:sup>
                                <m:r>
                                  <a:rPr lang="en-US" sz="2400" i="1">
                                    <a:solidFill>
                                      <a:srgbClr val="000000"/>
                                    </a:solidFill>
                                    <a:effectLst/>
                                    <a:latin typeface="Cambria Math" panose="02040503050406030204" pitchFamily="18" charset="0"/>
                                    <a:ea typeface="DengXian" panose="02010600030101010101" pitchFamily="2" charset="-122"/>
                                    <a:cs typeface="Times New Roman" panose="02020603050405020304" pitchFamily="18" charset="0"/>
                                  </a:rPr>
                                  <m:t>2</m:t>
                                </m:r>
                              </m:sup>
                            </m:sSup>
                          </m:e>
                        </m:nary>
                      </m:num>
                      <m:den>
                        <m:nary>
                          <m:naryPr>
                            <m:chr m:val="∑"/>
                            <m:limLoc m:val="undOvr"/>
                            <m:ctrlPr>
                              <a:rPr lang="en-MY" sz="2400" i="1">
                                <a:solidFill>
                                  <a:srgbClr val="000000"/>
                                </a:solidFill>
                                <a:effectLst/>
                                <a:latin typeface="Cambria Math" panose="02040503050406030204" pitchFamily="18" charset="0"/>
                                <a:ea typeface="DengXian" panose="02010600030101010101" pitchFamily="2" charset="-122"/>
                                <a:cs typeface="Times New Roman" panose="02020603050405020304" pitchFamily="18" charset="0"/>
                              </a:rPr>
                            </m:ctrlPr>
                          </m:naryPr>
                          <m:sub>
                            <m:r>
                              <a:rPr lang="en-US" sz="2400" i="1">
                                <a:solidFill>
                                  <a:srgbClr val="000000"/>
                                </a:solidFill>
                                <a:effectLst/>
                                <a:latin typeface="Cambria Math" panose="02040503050406030204" pitchFamily="18" charset="0"/>
                                <a:ea typeface="DengXian" panose="02010600030101010101" pitchFamily="2" charset="-122"/>
                                <a:cs typeface="Times New Roman" panose="02020603050405020304" pitchFamily="18" charset="0"/>
                              </a:rPr>
                              <m:t>𝑖</m:t>
                            </m:r>
                            <m:r>
                              <a:rPr lang="en-US" sz="2400" i="1">
                                <a:solidFill>
                                  <a:srgbClr val="000000"/>
                                </a:solidFill>
                                <a:effectLst/>
                                <a:latin typeface="Cambria Math" panose="02040503050406030204" pitchFamily="18" charset="0"/>
                                <a:ea typeface="DengXian" panose="02010600030101010101" pitchFamily="2" charset="-122"/>
                                <a:cs typeface="Times New Roman" panose="02020603050405020304" pitchFamily="18" charset="0"/>
                              </a:rPr>
                              <m:t>=1</m:t>
                            </m:r>
                          </m:sub>
                          <m:sup>
                            <m:r>
                              <a:rPr lang="en-US" sz="2400" i="1">
                                <a:solidFill>
                                  <a:srgbClr val="000000"/>
                                </a:solidFill>
                                <a:effectLst/>
                                <a:latin typeface="Cambria Math" panose="02040503050406030204" pitchFamily="18" charset="0"/>
                                <a:ea typeface="DengXian" panose="02010600030101010101" pitchFamily="2" charset="-122"/>
                                <a:cs typeface="Times New Roman" panose="02020603050405020304" pitchFamily="18" charset="0"/>
                              </a:rPr>
                              <m:t>𝑁</m:t>
                            </m:r>
                          </m:sup>
                          <m:e>
                            <m:sSup>
                              <m:sSupPr>
                                <m:ctrlPr>
                                  <a:rPr lang="en-MY" sz="2400" i="1">
                                    <a:solidFill>
                                      <a:srgbClr val="000000"/>
                                    </a:solidFill>
                                    <a:effectLst/>
                                    <a:latin typeface="Cambria Math" panose="02040503050406030204" pitchFamily="18" charset="0"/>
                                    <a:ea typeface="DengXian" panose="02010600030101010101" pitchFamily="2" charset="-122"/>
                                    <a:cs typeface="Times New Roman" panose="02020603050405020304" pitchFamily="18" charset="0"/>
                                  </a:rPr>
                                </m:ctrlPr>
                              </m:sSupPr>
                              <m:e>
                                <m:r>
                                  <a:rPr lang="en-US" sz="2400" i="1">
                                    <a:solidFill>
                                      <a:srgbClr val="000000"/>
                                    </a:solidFill>
                                    <a:effectLst/>
                                    <a:latin typeface="Cambria Math" panose="02040503050406030204" pitchFamily="18" charset="0"/>
                                    <a:ea typeface="DengXian" panose="02010600030101010101" pitchFamily="2" charset="-122"/>
                                    <a:cs typeface="Times New Roman" panose="02020603050405020304" pitchFamily="18" charset="0"/>
                                  </a:rPr>
                                  <m:t>(</m:t>
                                </m:r>
                                <m:sSub>
                                  <m:sSubPr>
                                    <m:ctrlPr>
                                      <a:rPr lang="en-MY" sz="2400" i="1">
                                        <a:solidFill>
                                          <a:srgbClr val="000000"/>
                                        </a:solidFill>
                                        <a:effectLst/>
                                        <a:latin typeface="Cambria Math" panose="02040503050406030204" pitchFamily="18" charset="0"/>
                                        <a:ea typeface="DengXian" panose="02010600030101010101" pitchFamily="2" charset="-122"/>
                                        <a:cs typeface="Times New Roman" panose="02020603050405020304" pitchFamily="18" charset="0"/>
                                      </a:rPr>
                                    </m:ctrlPr>
                                  </m:sSubPr>
                                  <m:e>
                                    <m:r>
                                      <a:rPr lang="en-US" sz="2400" i="1">
                                        <a:solidFill>
                                          <a:srgbClr val="000000"/>
                                        </a:solidFill>
                                        <a:effectLst/>
                                        <a:latin typeface="Cambria Math" panose="02040503050406030204" pitchFamily="18" charset="0"/>
                                        <a:ea typeface="DengXian" panose="02010600030101010101" pitchFamily="2" charset="-122"/>
                                        <a:cs typeface="Times New Roman" panose="02020603050405020304" pitchFamily="18" charset="0"/>
                                      </a:rPr>
                                      <m:t>𝑌</m:t>
                                    </m:r>
                                  </m:e>
                                  <m:sub>
                                    <m:r>
                                      <a:rPr lang="en-US" sz="2400" i="1">
                                        <a:solidFill>
                                          <a:srgbClr val="000000"/>
                                        </a:solidFill>
                                        <a:effectLst/>
                                        <a:latin typeface="Cambria Math" panose="02040503050406030204" pitchFamily="18" charset="0"/>
                                        <a:ea typeface="DengXian" panose="02010600030101010101" pitchFamily="2" charset="-122"/>
                                        <a:cs typeface="Times New Roman" panose="02020603050405020304" pitchFamily="18" charset="0"/>
                                      </a:rPr>
                                      <m:t>𝑒𝑥𝑝</m:t>
                                    </m:r>
                                    <m:r>
                                      <a:rPr lang="en-US" sz="2400" i="1">
                                        <a:solidFill>
                                          <a:srgbClr val="000000"/>
                                        </a:solidFill>
                                        <a:effectLst/>
                                        <a:latin typeface="Cambria Math" panose="02040503050406030204" pitchFamily="18" charset="0"/>
                                        <a:ea typeface="DengXian" panose="02010600030101010101" pitchFamily="2" charset="-122"/>
                                        <a:cs typeface="Times New Roman" panose="02020603050405020304" pitchFamily="18" charset="0"/>
                                      </a:rPr>
                                      <m:t>,</m:t>
                                    </m:r>
                                    <m:r>
                                      <a:rPr lang="en-US" sz="2400" i="1">
                                        <a:solidFill>
                                          <a:srgbClr val="000000"/>
                                        </a:solidFill>
                                        <a:effectLst/>
                                        <a:latin typeface="Cambria Math" panose="02040503050406030204" pitchFamily="18" charset="0"/>
                                        <a:ea typeface="DengXian" panose="02010600030101010101" pitchFamily="2" charset="-122"/>
                                        <a:cs typeface="Times New Roman" panose="02020603050405020304" pitchFamily="18" charset="0"/>
                                      </a:rPr>
                                      <m:t>𝑖</m:t>
                                    </m:r>
                                  </m:sub>
                                </m:sSub>
                                <m:r>
                                  <a:rPr lang="en-US" sz="2400" i="1">
                                    <a:solidFill>
                                      <a:srgbClr val="000000"/>
                                    </a:solidFill>
                                    <a:effectLst/>
                                    <a:latin typeface="Cambria Math" panose="02040503050406030204" pitchFamily="18" charset="0"/>
                                    <a:ea typeface="DengXian" panose="02010600030101010101" pitchFamily="2" charset="-122"/>
                                    <a:cs typeface="Times New Roman" panose="02020603050405020304" pitchFamily="18" charset="0"/>
                                  </a:rPr>
                                  <m:t>− Ȳ)</m:t>
                                </m:r>
                              </m:e>
                              <m:sup>
                                <m:r>
                                  <a:rPr lang="en-US" sz="2400" i="1">
                                    <a:solidFill>
                                      <a:srgbClr val="000000"/>
                                    </a:solidFill>
                                    <a:effectLst/>
                                    <a:latin typeface="Cambria Math" panose="02040503050406030204" pitchFamily="18" charset="0"/>
                                    <a:ea typeface="DengXian" panose="02010600030101010101" pitchFamily="2" charset="-122"/>
                                    <a:cs typeface="Times New Roman" panose="02020603050405020304" pitchFamily="18" charset="0"/>
                                  </a:rPr>
                                  <m:t>2</m:t>
                                </m:r>
                              </m:sup>
                            </m:sSup>
                          </m:e>
                        </m:nary>
                      </m:den>
                    </m:f>
                  </m:oMath>
                </a14:m>
                <a:endParaRPr lang="en-MY" sz="2400" dirty="0">
                  <a:effectLst/>
                  <a:latin typeface="Aptos" panose="020B0004020202020204" pitchFamily="34" charset="0"/>
                  <a:ea typeface="Aptos" panose="020B0004020202020204" pitchFamily="34" charset="0"/>
                  <a:cs typeface="Times New Roman" panose="02020603050405020304" pitchFamily="18" charset="0"/>
                </a:endParaRPr>
              </a:p>
              <a:p>
                <a:pPr algn="just">
                  <a:lnSpc>
                    <a:spcPct val="150000"/>
                  </a:lnSpc>
                  <a:spcAft>
                    <a:spcPts val="800"/>
                  </a:spcAft>
                </a:pPr>
                <a:r>
                  <a:rPr lang="en-US" sz="2400" dirty="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 </a:t>
                </a:r>
                <a:endParaRPr lang="en-MY" sz="2400" dirty="0">
                  <a:effectLst/>
                  <a:latin typeface="Aptos" panose="020B0004020202020204" pitchFamily="34" charset="0"/>
                  <a:ea typeface="Aptos" panose="020B0004020202020204" pitchFamily="34" charset="0"/>
                  <a:cs typeface="Times New Roman" panose="02020603050405020304" pitchFamily="18" charset="0"/>
                </a:endParaRPr>
              </a:p>
              <a:p>
                <a:pPr marL="0" lvl="0" indent="0" algn="just">
                  <a:lnSpc>
                    <a:spcPct val="150000"/>
                  </a:lnSpc>
                  <a:spcAft>
                    <a:spcPts val="800"/>
                  </a:spcAft>
                  <a:buNone/>
                </a:pPr>
                <a:r>
                  <a:rPr lang="en-US" sz="2400" dirty="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SDEC: standard deviation error in calculation. </a:t>
                </a:r>
                <a:endParaRPr lang="en-MY" sz="2400" dirty="0">
                  <a:effectLst/>
                  <a:latin typeface="Aptos" panose="020B0004020202020204" pitchFamily="34" charset="0"/>
                  <a:ea typeface="Aptos" panose="020B0004020202020204" pitchFamily="34" charset="0"/>
                  <a:cs typeface="Times New Roman" panose="02020603050405020304" pitchFamily="18" charset="0"/>
                </a:endParaRPr>
              </a:p>
              <a:p>
                <a:endParaRPr lang="en-MY" sz="2800" dirty="0"/>
              </a:p>
            </p:txBody>
          </p:sp>
        </mc:Choice>
        <mc:Fallback>
          <p:sp>
            <p:nvSpPr>
              <p:cNvPr id="3" name="Content Placeholder 2">
                <a:extLst>
                  <a:ext uri="{FF2B5EF4-FFF2-40B4-BE49-F238E27FC236}">
                    <a16:creationId xmlns:a16="http://schemas.microsoft.com/office/drawing/2014/main" id="{8A20A910-9243-9198-6E15-F803FF562B63}"/>
                  </a:ext>
                </a:extLst>
              </p:cNvPr>
              <p:cNvSpPr>
                <a:spLocks noGrp="1" noRot="1" noChangeAspect="1" noMove="1" noResize="1" noEditPoints="1" noAdjustHandles="1" noChangeArrowheads="1" noChangeShapeType="1" noTextEdit="1"/>
              </p:cNvSpPr>
              <p:nvPr>
                <p:ph idx="1"/>
              </p:nvPr>
            </p:nvSpPr>
            <p:spPr>
              <a:xfrm>
                <a:off x="1097279" y="1845733"/>
                <a:ext cx="11624807" cy="5403206"/>
              </a:xfrm>
              <a:blipFill>
                <a:blip r:embed="rId3"/>
                <a:stretch>
                  <a:fillRect l="-1573"/>
                </a:stretch>
              </a:blipFill>
            </p:spPr>
            <p:txBody>
              <a:bodyPr/>
              <a:lstStyle/>
              <a:p>
                <a:r>
                  <a:rPr lang="en-MY">
                    <a:noFill/>
                  </a:rPr>
                  <a:t> </a:t>
                </a:r>
              </a:p>
            </p:txBody>
          </p:sp>
        </mc:Fallback>
      </mc:AlternateContent>
    </p:spTree>
    <p:extLst>
      <p:ext uri="{BB962C8B-B14F-4D97-AF65-F5344CB8AC3E}">
        <p14:creationId xmlns:p14="http://schemas.microsoft.com/office/powerpoint/2010/main" val="41590350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EC7E74-716A-A9F2-C3D0-E09A574791E3}"/>
              </a:ext>
            </a:extLst>
          </p:cNvPr>
          <p:cNvSpPr>
            <a:spLocks noGrp="1"/>
          </p:cNvSpPr>
          <p:nvPr>
            <p:ph type="title"/>
          </p:nvPr>
        </p:nvSpPr>
        <p:spPr/>
        <p:txBody>
          <a:bodyPr/>
          <a:lstStyle/>
          <a:p>
            <a:r>
              <a:rPr lang="en-MY" dirty="0"/>
              <a:t>Interpretation</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A540F6B8-0732-4892-4842-87C536EA729E}"/>
                  </a:ext>
                </a:extLst>
              </p:cNvPr>
              <p:cNvSpPr>
                <a:spLocks noGrp="1"/>
              </p:cNvSpPr>
              <p:nvPr>
                <p:ph idx="1"/>
              </p:nvPr>
            </p:nvSpPr>
            <p:spPr>
              <a:xfrm>
                <a:off x="447586" y="1881809"/>
                <a:ext cx="12831092" cy="7254643"/>
              </a:xfrm>
            </p:spPr>
            <p:txBody>
              <a:bodyPr>
                <a:normAutofit/>
              </a:bodyPr>
              <a:lstStyle/>
              <a:p>
                <a:pPr marL="0" lvl="0" indent="0" algn="just">
                  <a:lnSpc>
                    <a:spcPct val="150000"/>
                  </a:lnSpc>
                  <a:spcAft>
                    <a:spcPts val="800"/>
                  </a:spcAft>
                  <a:buNone/>
                </a:pPr>
                <a:r>
                  <a:rPr lang="en-US" sz="2800" dirty="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q</a:t>
                </a:r>
                <a:r>
                  <a:rPr lang="en-US" sz="2800" baseline="30000" dirty="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2</a:t>
                </a:r>
                <a:r>
                  <a:rPr lang="en-US" sz="2800" baseline="-25000" dirty="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cv</a:t>
                </a:r>
                <a:r>
                  <a:rPr lang="en-US" sz="2800" dirty="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 : the cross validated r</a:t>
                </a:r>
                <a:r>
                  <a:rPr lang="en-US" sz="2800" baseline="30000" dirty="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2</a:t>
                </a:r>
                <a:r>
                  <a:rPr lang="en-US" sz="2800" dirty="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 </a:t>
                </a:r>
                <a:endParaRPr lang="en-MY" sz="1800" i="1" dirty="0">
                  <a:solidFill>
                    <a:srgbClr val="000000"/>
                  </a:solidFill>
                  <a:effectLst/>
                  <a:latin typeface="Cambria Math" panose="02040503050406030204" pitchFamily="18" charset="0"/>
                  <a:ea typeface="DengXian" panose="02010600030101010101" pitchFamily="2" charset="-122"/>
                  <a:cs typeface="Times New Roman" panose="02020603050405020304" pitchFamily="18" charset="0"/>
                </a:endParaRPr>
              </a:p>
              <a:p>
                <a:pPr marL="0" lvl="0" indent="0" algn="just">
                  <a:lnSpc>
                    <a:spcPct val="150000"/>
                  </a:lnSpc>
                  <a:spcAft>
                    <a:spcPts val="800"/>
                  </a:spcAft>
                  <a:buNone/>
                </a:pPr>
                <a14:m>
                  <m:oMathPara xmlns:m="http://schemas.openxmlformats.org/officeDocument/2006/math">
                    <m:oMathParaPr>
                      <m:jc m:val="centerGroup"/>
                    </m:oMathParaPr>
                    <m:oMath xmlns:m="http://schemas.openxmlformats.org/officeDocument/2006/math">
                      <m:sSup>
                        <m:sSupPr>
                          <m:ctrlPr>
                            <a:rPr lang="en-MY" sz="1800" i="1">
                              <a:solidFill>
                                <a:srgbClr val="000000"/>
                              </a:solidFill>
                              <a:effectLst/>
                              <a:latin typeface="Cambria Math" panose="02040503050406030204" pitchFamily="18" charset="0"/>
                              <a:ea typeface="DengXian" panose="02010600030101010101" pitchFamily="2" charset="-122"/>
                              <a:cs typeface="Times New Roman" panose="02020603050405020304" pitchFamily="18" charset="0"/>
                            </a:rPr>
                          </m:ctrlPr>
                        </m:sSupPr>
                        <m:e>
                          <m:r>
                            <a:rPr lang="en-US" sz="1800" i="1">
                              <a:solidFill>
                                <a:srgbClr val="000000"/>
                              </a:solidFill>
                              <a:effectLst/>
                              <a:latin typeface="Cambria Math" panose="02040503050406030204" pitchFamily="18" charset="0"/>
                              <a:ea typeface="DengXian" panose="02010600030101010101" pitchFamily="2" charset="-122"/>
                              <a:cs typeface="Times New Roman" panose="02020603050405020304" pitchFamily="18" charset="0"/>
                            </a:rPr>
                            <m:t>𝑞</m:t>
                          </m:r>
                        </m:e>
                        <m:sup>
                          <m:r>
                            <a:rPr lang="en-US" sz="1800" i="1">
                              <a:solidFill>
                                <a:srgbClr val="000000"/>
                              </a:solidFill>
                              <a:effectLst/>
                              <a:latin typeface="Cambria Math" panose="02040503050406030204" pitchFamily="18" charset="0"/>
                              <a:ea typeface="DengXian" panose="02010600030101010101" pitchFamily="2" charset="-122"/>
                              <a:cs typeface="Times New Roman" panose="02020603050405020304" pitchFamily="18" charset="0"/>
                            </a:rPr>
                            <m:t>2</m:t>
                          </m:r>
                        </m:sup>
                      </m:sSup>
                      <m:r>
                        <a:rPr lang="en-US" sz="1800" i="1">
                          <a:solidFill>
                            <a:srgbClr val="000000"/>
                          </a:solidFill>
                          <a:effectLst/>
                          <a:latin typeface="Cambria Math" panose="02040503050406030204" pitchFamily="18" charset="0"/>
                          <a:ea typeface="DengXian" panose="02010600030101010101" pitchFamily="2" charset="-122"/>
                          <a:cs typeface="Times New Roman" panose="02020603050405020304" pitchFamily="18" charset="0"/>
                        </a:rPr>
                        <m:t>=1− </m:t>
                      </m:r>
                      <m:f>
                        <m:fPr>
                          <m:ctrlPr>
                            <a:rPr lang="en-MY" sz="1800" i="1">
                              <a:solidFill>
                                <a:srgbClr val="000000"/>
                              </a:solidFill>
                              <a:effectLst/>
                              <a:latin typeface="Cambria Math" panose="02040503050406030204" pitchFamily="18" charset="0"/>
                              <a:ea typeface="DengXian" panose="02010600030101010101" pitchFamily="2" charset="-122"/>
                              <a:cs typeface="Times New Roman" panose="02020603050405020304" pitchFamily="18" charset="0"/>
                            </a:rPr>
                          </m:ctrlPr>
                        </m:fPr>
                        <m:num>
                          <m:nary>
                            <m:naryPr>
                              <m:chr m:val="∑"/>
                              <m:limLoc m:val="undOvr"/>
                              <m:ctrlPr>
                                <a:rPr lang="en-MY" sz="1800" i="1">
                                  <a:solidFill>
                                    <a:srgbClr val="000000"/>
                                  </a:solidFill>
                                  <a:effectLst/>
                                  <a:latin typeface="Cambria Math" panose="02040503050406030204" pitchFamily="18" charset="0"/>
                                  <a:ea typeface="DengXian" panose="02010600030101010101" pitchFamily="2" charset="-122"/>
                                  <a:cs typeface="Times New Roman" panose="02020603050405020304" pitchFamily="18" charset="0"/>
                                </a:rPr>
                              </m:ctrlPr>
                            </m:naryPr>
                            <m:sub>
                              <m:r>
                                <a:rPr lang="en-US" sz="1800" i="1">
                                  <a:solidFill>
                                    <a:srgbClr val="000000"/>
                                  </a:solidFill>
                                  <a:effectLst/>
                                  <a:latin typeface="Cambria Math" panose="02040503050406030204" pitchFamily="18" charset="0"/>
                                  <a:ea typeface="DengXian" panose="02010600030101010101" pitchFamily="2" charset="-122"/>
                                  <a:cs typeface="Times New Roman" panose="02020603050405020304" pitchFamily="18" charset="0"/>
                                </a:rPr>
                                <m:t>𝑖</m:t>
                              </m:r>
                              <m:r>
                                <a:rPr lang="en-US" sz="1800" i="1">
                                  <a:solidFill>
                                    <a:srgbClr val="000000"/>
                                  </a:solidFill>
                                  <a:effectLst/>
                                  <a:latin typeface="Cambria Math" panose="02040503050406030204" pitchFamily="18" charset="0"/>
                                  <a:ea typeface="DengXian" panose="02010600030101010101" pitchFamily="2" charset="-122"/>
                                  <a:cs typeface="Times New Roman" panose="02020603050405020304" pitchFamily="18" charset="0"/>
                                </a:rPr>
                                <m:t>=1</m:t>
                              </m:r>
                            </m:sub>
                            <m:sup>
                              <m:r>
                                <a:rPr lang="en-US" sz="1800" i="1">
                                  <a:solidFill>
                                    <a:srgbClr val="000000"/>
                                  </a:solidFill>
                                  <a:effectLst/>
                                  <a:latin typeface="Cambria Math" panose="02040503050406030204" pitchFamily="18" charset="0"/>
                                  <a:ea typeface="DengXian" panose="02010600030101010101" pitchFamily="2" charset="-122"/>
                                  <a:cs typeface="Times New Roman" panose="02020603050405020304" pitchFamily="18" charset="0"/>
                                </a:rPr>
                                <m:t>𝑁</m:t>
                              </m:r>
                            </m:sup>
                            <m:e>
                              <m:sSup>
                                <m:sSupPr>
                                  <m:ctrlPr>
                                    <a:rPr lang="en-MY" sz="1800" i="1">
                                      <a:solidFill>
                                        <a:srgbClr val="000000"/>
                                      </a:solidFill>
                                      <a:effectLst/>
                                      <a:latin typeface="Cambria Math" panose="02040503050406030204" pitchFamily="18" charset="0"/>
                                      <a:ea typeface="DengXian" panose="02010600030101010101" pitchFamily="2" charset="-122"/>
                                      <a:cs typeface="Times New Roman" panose="02020603050405020304" pitchFamily="18" charset="0"/>
                                    </a:rPr>
                                  </m:ctrlPr>
                                </m:sSupPr>
                                <m:e>
                                  <m:r>
                                    <a:rPr lang="en-US" sz="1800" i="1">
                                      <a:solidFill>
                                        <a:srgbClr val="000000"/>
                                      </a:solidFill>
                                      <a:effectLst/>
                                      <a:latin typeface="Cambria Math" panose="02040503050406030204" pitchFamily="18" charset="0"/>
                                      <a:ea typeface="DengXian" panose="02010600030101010101" pitchFamily="2" charset="-122"/>
                                      <a:cs typeface="Times New Roman" panose="02020603050405020304" pitchFamily="18" charset="0"/>
                                    </a:rPr>
                                    <m:t>(</m:t>
                                  </m:r>
                                  <m:sSub>
                                    <m:sSubPr>
                                      <m:ctrlPr>
                                        <a:rPr lang="en-MY" sz="1800" i="1">
                                          <a:solidFill>
                                            <a:srgbClr val="000000"/>
                                          </a:solidFill>
                                          <a:effectLst/>
                                          <a:latin typeface="Cambria Math" panose="02040503050406030204" pitchFamily="18" charset="0"/>
                                          <a:ea typeface="DengXian" panose="02010600030101010101" pitchFamily="2" charset="-122"/>
                                          <a:cs typeface="Times New Roman" panose="02020603050405020304" pitchFamily="18" charset="0"/>
                                        </a:rPr>
                                      </m:ctrlPr>
                                    </m:sSubPr>
                                    <m:e>
                                      <m:r>
                                        <a:rPr lang="en-US" sz="1800" i="1">
                                          <a:solidFill>
                                            <a:srgbClr val="000000"/>
                                          </a:solidFill>
                                          <a:effectLst/>
                                          <a:latin typeface="Cambria Math" panose="02040503050406030204" pitchFamily="18" charset="0"/>
                                          <a:ea typeface="DengXian" panose="02010600030101010101" pitchFamily="2" charset="-122"/>
                                          <a:cs typeface="Times New Roman" panose="02020603050405020304" pitchFamily="18" charset="0"/>
                                        </a:rPr>
                                        <m:t>𝑌</m:t>
                                      </m:r>
                                    </m:e>
                                    <m:sub>
                                      <m:r>
                                        <a:rPr lang="en-US" sz="1800" i="1">
                                          <a:solidFill>
                                            <a:srgbClr val="000000"/>
                                          </a:solidFill>
                                          <a:effectLst/>
                                          <a:latin typeface="Cambria Math" panose="02040503050406030204" pitchFamily="18" charset="0"/>
                                          <a:ea typeface="DengXian" panose="02010600030101010101" pitchFamily="2" charset="-122"/>
                                          <a:cs typeface="Times New Roman" panose="02020603050405020304" pitchFamily="18" charset="0"/>
                                        </a:rPr>
                                        <m:t>𝑒𝑥𝑝</m:t>
                                      </m:r>
                                      <m:r>
                                        <a:rPr lang="en-US" sz="1800" i="1">
                                          <a:solidFill>
                                            <a:srgbClr val="000000"/>
                                          </a:solidFill>
                                          <a:effectLst/>
                                          <a:latin typeface="Cambria Math" panose="02040503050406030204" pitchFamily="18" charset="0"/>
                                          <a:ea typeface="DengXian" panose="02010600030101010101" pitchFamily="2" charset="-122"/>
                                          <a:cs typeface="Times New Roman" panose="02020603050405020304" pitchFamily="18" charset="0"/>
                                        </a:rPr>
                                        <m:t>,</m:t>
                                      </m:r>
                                      <m:r>
                                        <a:rPr lang="en-US" sz="1800" i="1">
                                          <a:solidFill>
                                            <a:srgbClr val="000000"/>
                                          </a:solidFill>
                                          <a:effectLst/>
                                          <a:latin typeface="Cambria Math" panose="02040503050406030204" pitchFamily="18" charset="0"/>
                                          <a:ea typeface="DengXian" panose="02010600030101010101" pitchFamily="2" charset="-122"/>
                                          <a:cs typeface="Times New Roman" panose="02020603050405020304" pitchFamily="18" charset="0"/>
                                        </a:rPr>
                                        <m:t>𝑖</m:t>
                                      </m:r>
                                    </m:sub>
                                  </m:sSub>
                                  <m:r>
                                    <a:rPr lang="en-US" sz="1800" i="1">
                                      <a:solidFill>
                                        <a:srgbClr val="000000"/>
                                      </a:solidFill>
                                      <a:effectLst/>
                                      <a:latin typeface="Cambria Math" panose="02040503050406030204" pitchFamily="18" charset="0"/>
                                      <a:ea typeface="DengXian" panose="02010600030101010101" pitchFamily="2" charset="-122"/>
                                      <a:cs typeface="Times New Roman" panose="02020603050405020304" pitchFamily="18" charset="0"/>
                                    </a:rPr>
                                    <m:t>−</m:t>
                                  </m:r>
                                  <m:sSub>
                                    <m:sSubPr>
                                      <m:ctrlPr>
                                        <a:rPr lang="en-MY" sz="1800" i="1">
                                          <a:solidFill>
                                            <a:srgbClr val="000000"/>
                                          </a:solidFill>
                                          <a:effectLst/>
                                          <a:latin typeface="Cambria Math" panose="02040503050406030204" pitchFamily="18" charset="0"/>
                                          <a:ea typeface="DengXian" panose="02010600030101010101" pitchFamily="2" charset="-122"/>
                                          <a:cs typeface="Times New Roman" panose="02020603050405020304" pitchFamily="18" charset="0"/>
                                        </a:rPr>
                                      </m:ctrlPr>
                                    </m:sSubPr>
                                    <m:e>
                                      <m:r>
                                        <a:rPr lang="en-US" sz="1800" i="1">
                                          <a:solidFill>
                                            <a:srgbClr val="000000"/>
                                          </a:solidFill>
                                          <a:effectLst/>
                                          <a:latin typeface="Cambria Math" panose="02040503050406030204" pitchFamily="18" charset="0"/>
                                          <a:ea typeface="DengXian" panose="02010600030101010101" pitchFamily="2" charset="-122"/>
                                          <a:cs typeface="Times New Roman" panose="02020603050405020304" pitchFamily="18" charset="0"/>
                                        </a:rPr>
                                        <m:t>𝑌</m:t>
                                      </m:r>
                                    </m:e>
                                    <m:sub>
                                      <m:r>
                                        <a:rPr lang="en-US" sz="1800" i="1">
                                          <a:solidFill>
                                            <a:srgbClr val="000000"/>
                                          </a:solidFill>
                                          <a:effectLst/>
                                          <a:latin typeface="Cambria Math" panose="02040503050406030204" pitchFamily="18" charset="0"/>
                                          <a:ea typeface="DengXian" panose="02010600030101010101" pitchFamily="2" charset="-122"/>
                                          <a:cs typeface="Times New Roman" panose="02020603050405020304" pitchFamily="18" charset="0"/>
                                        </a:rPr>
                                        <m:t>𝑝𝑟𝑒𝑑</m:t>
                                      </m:r>
                                      <m:r>
                                        <a:rPr lang="en-US" sz="1800" i="1">
                                          <a:solidFill>
                                            <a:srgbClr val="000000"/>
                                          </a:solidFill>
                                          <a:effectLst/>
                                          <a:latin typeface="Cambria Math" panose="02040503050406030204" pitchFamily="18" charset="0"/>
                                          <a:ea typeface="DengXian" panose="02010600030101010101" pitchFamily="2" charset="-122"/>
                                          <a:cs typeface="Times New Roman" panose="02020603050405020304" pitchFamily="18" charset="0"/>
                                        </a:rPr>
                                        <m:t>,</m:t>
                                      </m:r>
                                      <m:r>
                                        <a:rPr lang="en-US" sz="1800" i="1">
                                          <a:solidFill>
                                            <a:srgbClr val="000000"/>
                                          </a:solidFill>
                                          <a:effectLst/>
                                          <a:latin typeface="Cambria Math" panose="02040503050406030204" pitchFamily="18" charset="0"/>
                                          <a:ea typeface="DengXian" panose="02010600030101010101" pitchFamily="2" charset="-122"/>
                                          <a:cs typeface="Times New Roman" panose="02020603050405020304" pitchFamily="18" charset="0"/>
                                        </a:rPr>
                                        <m:t>𝑖</m:t>
                                      </m:r>
                                    </m:sub>
                                  </m:sSub>
                                  <m:r>
                                    <a:rPr lang="en-US" sz="1800" i="1">
                                      <a:solidFill>
                                        <a:srgbClr val="000000"/>
                                      </a:solidFill>
                                      <a:effectLst/>
                                      <a:latin typeface="Cambria Math" panose="02040503050406030204" pitchFamily="18" charset="0"/>
                                      <a:ea typeface="DengXian" panose="02010600030101010101" pitchFamily="2" charset="-122"/>
                                      <a:cs typeface="Times New Roman" panose="02020603050405020304" pitchFamily="18" charset="0"/>
                                    </a:rPr>
                                    <m:t>)</m:t>
                                  </m:r>
                                </m:e>
                                <m:sup>
                                  <m:r>
                                    <a:rPr lang="en-US" sz="1800" i="1">
                                      <a:solidFill>
                                        <a:srgbClr val="000000"/>
                                      </a:solidFill>
                                      <a:effectLst/>
                                      <a:latin typeface="Cambria Math" panose="02040503050406030204" pitchFamily="18" charset="0"/>
                                      <a:ea typeface="DengXian" panose="02010600030101010101" pitchFamily="2" charset="-122"/>
                                      <a:cs typeface="Times New Roman" panose="02020603050405020304" pitchFamily="18" charset="0"/>
                                    </a:rPr>
                                    <m:t>2</m:t>
                                  </m:r>
                                </m:sup>
                              </m:sSup>
                            </m:e>
                          </m:nary>
                        </m:num>
                        <m:den>
                          <m:nary>
                            <m:naryPr>
                              <m:chr m:val="∑"/>
                              <m:limLoc m:val="undOvr"/>
                              <m:ctrlPr>
                                <a:rPr lang="en-MY" sz="1800" i="1">
                                  <a:solidFill>
                                    <a:srgbClr val="000000"/>
                                  </a:solidFill>
                                  <a:effectLst/>
                                  <a:latin typeface="Cambria Math" panose="02040503050406030204" pitchFamily="18" charset="0"/>
                                  <a:ea typeface="DengXian" panose="02010600030101010101" pitchFamily="2" charset="-122"/>
                                  <a:cs typeface="Times New Roman" panose="02020603050405020304" pitchFamily="18" charset="0"/>
                                </a:rPr>
                              </m:ctrlPr>
                            </m:naryPr>
                            <m:sub>
                              <m:r>
                                <a:rPr lang="en-US" sz="1800" i="1">
                                  <a:solidFill>
                                    <a:srgbClr val="000000"/>
                                  </a:solidFill>
                                  <a:effectLst/>
                                  <a:latin typeface="Cambria Math" panose="02040503050406030204" pitchFamily="18" charset="0"/>
                                  <a:ea typeface="DengXian" panose="02010600030101010101" pitchFamily="2" charset="-122"/>
                                  <a:cs typeface="Times New Roman" panose="02020603050405020304" pitchFamily="18" charset="0"/>
                                </a:rPr>
                                <m:t>𝑖</m:t>
                              </m:r>
                              <m:r>
                                <a:rPr lang="en-US" sz="1800" i="1">
                                  <a:solidFill>
                                    <a:srgbClr val="000000"/>
                                  </a:solidFill>
                                  <a:effectLst/>
                                  <a:latin typeface="Cambria Math" panose="02040503050406030204" pitchFamily="18" charset="0"/>
                                  <a:ea typeface="DengXian" panose="02010600030101010101" pitchFamily="2" charset="-122"/>
                                  <a:cs typeface="Times New Roman" panose="02020603050405020304" pitchFamily="18" charset="0"/>
                                </a:rPr>
                                <m:t>=1</m:t>
                              </m:r>
                            </m:sub>
                            <m:sup>
                              <m:r>
                                <a:rPr lang="en-US" sz="1800" i="1">
                                  <a:solidFill>
                                    <a:srgbClr val="000000"/>
                                  </a:solidFill>
                                  <a:effectLst/>
                                  <a:latin typeface="Cambria Math" panose="02040503050406030204" pitchFamily="18" charset="0"/>
                                  <a:ea typeface="DengXian" panose="02010600030101010101" pitchFamily="2" charset="-122"/>
                                  <a:cs typeface="Times New Roman" panose="02020603050405020304" pitchFamily="18" charset="0"/>
                                </a:rPr>
                                <m:t>𝑁</m:t>
                              </m:r>
                            </m:sup>
                            <m:e>
                              <m:sSup>
                                <m:sSupPr>
                                  <m:ctrlPr>
                                    <a:rPr lang="en-MY" sz="1800" i="1">
                                      <a:solidFill>
                                        <a:srgbClr val="000000"/>
                                      </a:solidFill>
                                      <a:effectLst/>
                                      <a:latin typeface="Cambria Math" panose="02040503050406030204" pitchFamily="18" charset="0"/>
                                      <a:ea typeface="DengXian" panose="02010600030101010101" pitchFamily="2" charset="-122"/>
                                      <a:cs typeface="Times New Roman" panose="02020603050405020304" pitchFamily="18" charset="0"/>
                                    </a:rPr>
                                  </m:ctrlPr>
                                </m:sSupPr>
                                <m:e>
                                  <m:r>
                                    <a:rPr lang="en-US" sz="1800" i="1">
                                      <a:solidFill>
                                        <a:srgbClr val="000000"/>
                                      </a:solidFill>
                                      <a:effectLst/>
                                      <a:latin typeface="Cambria Math" panose="02040503050406030204" pitchFamily="18" charset="0"/>
                                      <a:ea typeface="DengXian" panose="02010600030101010101" pitchFamily="2" charset="-122"/>
                                      <a:cs typeface="Times New Roman" panose="02020603050405020304" pitchFamily="18" charset="0"/>
                                    </a:rPr>
                                    <m:t>(</m:t>
                                  </m:r>
                                  <m:sSub>
                                    <m:sSubPr>
                                      <m:ctrlPr>
                                        <a:rPr lang="en-MY" sz="1800" i="1">
                                          <a:solidFill>
                                            <a:srgbClr val="000000"/>
                                          </a:solidFill>
                                          <a:effectLst/>
                                          <a:latin typeface="Cambria Math" panose="02040503050406030204" pitchFamily="18" charset="0"/>
                                          <a:ea typeface="DengXian" panose="02010600030101010101" pitchFamily="2" charset="-122"/>
                                          <a:cs typeface="Times New Roman" panose="02020603050405020304" pitchFamily="18" charset="0"/>
                                        </a:rPr>
                                      </m:ctrlPr>
                                    </m:sSubPr>
                                    <m:e>
                                      <m:r>
                                        <a:rPr lang="en-US" sz="1800" i="1">
                                          <a:solidFill>
                                            <a:srgbClr val="000000"/>
                                          </a:solidFill>
                                          <a:effectLst/>
                                          <a:latin typeface="Cambria Math" panose="02040503050406030204" pitchFamily="18" charset="0"/>
                                          <a:ea typeface="DengXian" panose="02010600030101010101" pitchFamily="2" charset="-122"/>
                                          <a:cs typeface="Times New Roman" panose="02020603050405020304" pitchFamily="18" charset="0"/>
                                        </a:rPr>
                                        <m:t>𝑌</m:t>
                                      </m:r>
                                    </m:e>
                                    <m:sub>
                                      <m:r>
                                        <a:rPr lang="en-US" sz="1800" i="1">
                                          <a:solidFill>
                                            <a:srgbClr val="000000"/>
                                          </a:solidFill>
                                          <a:effectLst/>
                                          <a:latin typeface="Cambria Math" panose="02040503050406030204" pitchFamily="18" charset="0"/>
                                          <a:ea typeface="DengXian" panose="02010600030101010101" pitchFamily="2" charset="-122"/>
                                          <a:cs typeface="Times New Roman" panose="02020603050405020304" pitchFamily="18" charset="0"/>
                                        </a:rPr>
                                        <m:t>𝑒𝑥𝑝</m:t>
                                      </m:r>
                                      <m:r>
                                        <a:rPr lang="en-US" sz="1800" i="1">
                                          <a:solidFill>
                                            <a:srgbClr val="000000"/>
                                          </a:solidFill>
                                          <a:effectLst/>
                                          <a:latin typeface="Cambria Math" panose="02040503050406030204" pitchFamily="18" charset="0"/>
                                          <a:ea typeface="DengXian" panose="02010600030101010101" pitchFamily="2" charset="-122"/>
                                          <a:cs typeface="Times New Roman" panose="02020603050405020304" pitchFamily="18" charset="0"/>
                                        </a:rPr>
                                        <m:t>,</m:t>
                                      </m:r>
                                      <m:r>
                                        <a:rPr lang="en-US" sz="1800" i="1">
                                          <a:solidFill>
                                            <a:srgbClr val="000000"/>
                                          </a:solidFill>
                                          <a:effectLst/>
                                          <a:latin typeface="Cambria Math" panose="02040503050406030204" pitchFamily="18" charset="0"/>
                                          <a:ea typeface="DengXian" panose="02010600030101010101" pitchFamily="2" charset="-122"/>
                                          <a:cs typeface="Times New Roman" panose="02020603050405020304" pitchFamily="18" charset="0"/>
                                        </a:rPr>
                                        <m:t>𝑖</m:t>
                                      </m:r>
                                    </m:sub>
                                  </m:sSub>
                                  <m:r>
                                    <a:rPr lang="en-US" sz="1800" i="1">
                                      <a:solidFill>
                                        <a:srgbClr val="000000"/>
                                      </a:solidFill>
                                      <a:effectLst/>
                                      <a:latin typeface="Cambria Math" panose="02040503050406030204" pitchFamily="18" charset="0"/>
                                      <a:ea typeface="DengXian" panose="02010600030101010101" pitchFamily="2" charset="-122"/>
                                      <a:cs typeface="Times New Roman" panose="02020603050405020304" pitchFamily="18" charset="0"/>
                                    </a:rPr>
                                    <m:t>− Ȳ)</m:t>
                                  </m:r>
                                </m:e>
                                <m:sup>
                                  <m:r>
                                    <a:rPr lang="en-US" sz="1800" i="1">
                                      <a:solidFill>
                                        <a:srgbClr val="000000"/>
                                      </a:solidFill>
                                      <a:effectLst/>
                                      <a:latin typeface="Cambria Math" panose="02040503050406030204" pitchFamily="18" charset="0"/>
                                      <a:ea typeface="DengXian" panose="02010600030101010101" pitchFamily="2" charset="-122"/>
                                      <a:cs typeface="Times New Roman" panose="02020603050405020304" pitchFamily="18" charset="0"/>
                                    </a:rPr>
                                    <m:t>2</m:t>
                                  </m:r>
                                </m:sup>
                              </m:sSup>
                            </m:e>
                          </m:nary>
                        </m:den>
                      </m:f>
                    </m:oMath>
                  </m:oMathPara>
                </a14:m>
                <a:endParaRPr lang="en-MY" sz="1800" dirty="0">
                  <a:effectLst/>
                  <a:latin typeface="Aptos" panose="020B0004020202020204" pitchFamily="34" charset="0"/>
                  <a:ea typeface="Aptos" panose="020B0004020202020204" pitchFamily="34" charset="0"/>
                  <a:cs typeface="Times New Roman" panose="02020603050405020304" pitchFamily="18" charset="0"/>
                </a:endParaRPr>
              </a:p>
              <a:p>
                <a:pPr marL="0" indent="0" algn="just">
                  <a:lnSpc>
                    <a:spcPct val="150000"/>
                  </a:lnSpc>
                  <a:spcAft>
                    <a:spcPts val="800"/>
                  </a:spcAft>
                  <a:buNone/>
                </a:pPr>
                <a:endParaRPr lang="en-MY" sz="1800" dirty="0">
                  <a:effectLst/>
                  <a:latin typeface="Aptos" panose="020B0004020202020204" pitchFamily="34" charset="0"/>
                  <a:ea typeface="Aptos" panose="020B0004020202020204" pitchFamily="34" charset="0"/>
                  <a:cs typeface="Times New Roman" panose="02020603050405020304" pitchFamily="18" charset="0"/>
                </a:endParaRPr>
              </a:p>
              <a:p>
                <a:pPr marL="0" lvl="0" indent="0" algn="just">
                  <a:lnSpc>
                    <a:spcPct val="150000"/>
                  </a:lnSpc>
                  <a:spcAft>
                    <a:spcPts val="800"/>
                  </a:spcAft>
                  <a:buNone/>
                </a:pPr>
                <a:r>
                  <a:rPr lang="en-US" sz="2400" dirty="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SDEP CV : </a:t>
                </a:r>
                <a:r>
                  <a:rPr lang="en-US" sz="2400" u="sng" dirty="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Standard Deviation Error of Prediction</a:t>
                </a:r>
                <a:r>
                  <a:rPr lang="en-US" sz="2400" dirty="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 </a:t>
                </a:r>
              </a:p>
              <a:p>
                <a:pPr marL="0" lvl="0" indent="0" algn="just">
                  <a:lnSpc>
                    <a:spcPct val="150000"/>
                  </a:lnSpc>
                  <a:spcAft>
                    <a:spcPts val="800"/>
                  </a:spcAft>
                  <a:buNone/>
                </a:pPr>
                <a14:m>
                  <m:oMathPara xmlns:m="http://schemas.openxmlformats.org/officeDocument/2006/math">
                    <m:oMathParaPr>
                      <m:jc m:val="centerGroup"/>
                    </m:oMathParaPr>
                    <m:oMath xmlns:m="http://schemas.openxmlformats.org/officeDocument/2006/math">
                      <m:r>
                        <a:rPr lang="en-US" sz="1800" i="1">
                          <a:solidFill>
                            <a:srgbClr val="000000"/>
                          </a:solidFill>
                          <a:effectLst/>
                          <a:latin typeface="Cambria Math" panose="02040503050406030204" pitchFamily="18" charset="0"/>
                          <a:ea typeface="DengXian" panose="02010600030101010101" pitchFamily="2" charset="-122"/>
                          <a:cs typeface="Times New Roman" panose="02020603050405020304" pitchFamily="18" charset="0"/>
                        </a:rPr>
                        <m:t>𝑆𝐷𝐸𝑃</m:t>
                      </m:r>
                      <m:r>
                        <a:rPr lang="en-US" sz="1800" i="1">
                          <a:solidFill>
                            <a:srgbClr val="000000"/>
                          </a:solidFill>
                          <a:effectLst/>
                          <a:latin typeface="Cambria Math" panose="02040503050406030204" pitchFamily="18" charset="0"/>
                          <a:ea typeface="DengXian" panose="02010600030101010101" pitchFamily="2" charset="-122"/>
                          <a:cs typeface="Times New Roman" panose="02020603050405020304" pitchFamily="18" charset="0"/>
                        </a:rPr>
                        <m:t>= </m:t>
                      </m:r>
                      <m:rad>
                        <m:radPr>
                          <m:degHide m:val="on"/>
                          <m:ctrlPr>
                            <a:rPr lang="en-MY" sz="1800" i="1">
                              <a:solidFill>
                                <a:srgbClr val="000000"/>
                              </a:solidFill>
                              <a:effectLst/>
                              <a:latin typeface="Cambria Math" panose="02040503050406030204" pitchFamily="18" charset="0"/>
                              <a:ea typeface="DengXian" panose="02010600030101010101" pitchFamily="2" charset="-122"/>
                              <a:cs typeface="Times New Roman" panose="02020603050405020304" pitchFamily="18" charset="0"/>
                            </a:rPr>
                          </m:ctrlPr>
                        </m:radPr>
                        <m:deg/>
                        <m:e>
                          <m:f>
                            <m:fPr>
                              <m:ctrlPr>
                                <a:rPr lang="en-MY" sz="1800" i="1">
                                  <a:solidFill>
                                    <a:srgbClr val="000000"/>
                                  </a:solidFill>
                                  <a:effectLst/>
                                  <a:latin typeface="Cambria Math" panose="02040503050406030204" pitchFamily="18" charset="0"/>
                                  <a:ea typeface="DengXian" panose="02010600030101010101" pitchFamily="2" charset="-122"/>
                                  <a:cs typeface="Times New Roman" panose="02020603050405020304" pitchFamily="18" charset="0"/>
                                </a:rPr>
                              </m:ctrlPr>
                            </m:fPr>
                            <m:num>
                              <m:nary>
                                <m:naryPr>
                                  <m:chr m:val="∑"/>
                                  <m:limLoc m:val="undOvr"/>
                                  <m:ctrlPr>
                                    <a:rPr lang="en-MY" sz="1800" i="1">
                                      <a:solidFill>
                                        <a:srgbClr val="000000"/>
                                      </a:solidFill>
                                      <a:effectLst/>
                                      <a:latin typeface="Cambria Math" panose="02040503050406030204" pitchFamily="18" charset="0"/>
                                      <a:ea typeface="DengXian" panose="02010600030101010101" pitchFamily="2" charset="-122"/>
                                      <a:cs typeface="Times New Roman" panose="02020603050405020304" pitchFamily="18" charset="0"/>
                                    </a:rPr>
                                  </m:ctrlPr>
                                </m:naryPr>
                                <m:sub>
                                  <m:r>
                                    <a:rPr lang="en-US" sz="1800" i="1">
                                      <a:solidFill>
                                        <a:srgbClr val="000000"/>
                                      </a:solidFill>
                                      <a:effectLst/>
                                      <a:latin typeface="Cambria Math" panose="02040503050406030204" pitchFamily="18" charset="0"/>
                                      <a:ea typeface="DengXian" panose="02010600030101010101" pitchFamily="2" charset="-122"/>
                                      <a:cs typeface="Times New Roman" panose="02020603050405020304" pitchFamily="18" charset="0"/>
                                    </a:rPr>
                                    <m:t>𝑖</m:t>
                                  </m:r>
                                  <m:r>
                                    <a:rPr lang="en-US" sz="1800" i="1">
                                      <a:solidFill>
                                        <a:srgbClr val="000000"/>
                                      </a:solidFill>
                                      <a:effectLst/>
                                      <a:latin typeface="Cambria Math" panose="02040503050406030204" pitchFamily="18" charset="0"/>
                                      <a:ea typeface="DengXian" panose="02010600030101010101" pitchFamily="2" charset="-122"/>
                                      <a:cs typeface="Times New Roman" panose="02020603050405020304" pitchFamily="18" charset="0"/>
                                    </a:rPr>
                                    <m:t>=1</m:t>
                                  </m:r>
                                </m:sub>
                                <m:sup>
                                  <m:r>
                                    <a:rPr lang="en-US" sz="1800" i="1">
                                      <a:solidFill>
                                        <a:srgbClr val="000000"/>
                                      </a:solidFill>
                                      <a:effectLst/>
                                      <a:latin typeface="Cambria Math" panose="02040503050406030204" pitchFamily="18" charset="0"/>
                                      <a:ea typeface="DengXian" panose="02010600030101010101" pitchFamily="2" charset="-122"/>
                                      <a:cs typeface="Times New Roman" panose="02020603050405020304" pitchFamily="18" charset="0"/>
                                    </a:rPr>
                                    <m:t>𝑁</m:t>
                                  </m:r>
                                </m:sup>
                                <m:e>
                                  <m:sSup>
                                    <m:sSupPr>
                                      <m:ctrlPr>
                                        <a:rPr lang="en-MY" sz="1800" i="1">
                                          <a:solidFill>
                                            <a:srgbClr val="000000"/>
                                          </a:solidFill>
                                          <a:effectLst/>
                                          <a:latin typeface="Cambria Math" panose="02040503050406030204" pitchFamily="18" charset="0"/>
                                          <a:ea typeface="DengXian" panose="02010600030101010101" pitchFamily="2" charset="-122"/>
                                          <a:cs typeface="Times New Roman" panose="02020603050405020304" pitchFamily="18" charset="0"/>
                                        </a:rPr>
                                      </m:ctrlPr>
                                    </m:sSupPr>
                                    <m:e>
                                      <m:r>
                                        <a:rPr lang="en-US" sz="1800" i="1">
                                          <a:solidFill>
                                            <a:srgbClr val="000000"/>
                                          </a:solidFill>
                                          <a:effectLst/>
                                          <a:latin typeface="Cambria Math" panose="02040503050406030204" pitchFamily="18" charset="0"/>
                                          <a:ea typeface="DengXian" panose="02010600030101010101" pitchFamily="2" charset="-122"/>
                                          <a:cs typeface="Times New Roman" panose="02020603050405020304" pitchFamily="18" charset="0"/>
                                        </a:rPr>
                                        <m:t>(</m:t>
                                      </m:r>
                                      <m:sSub>
                                        <m:sSubPr>
                                          <m:ctrlPr>
                                            <a:rPr lang="en-MY" sz="1800" i="1">
                                              <a:solidFill>
                                                <a:srgbClr val="000000"/>
                                              </a:solidFill>
                                              <a:effectLst/>
                                              <a:latin typeface="Cambria Math" panose="02040503050406030204" pitchFamily="18" charset="0"/>
                                              <a:ea typeface="DengXian" panose="02010600030101010101" pitchFamily="2" charset="-122"/>
                                              <a:cs typeface="Times New Roman" panose="02020603050405020304" pitchFamily="18" charset="0"/>
                                            </a:rPr>
                                          </m:ctrlPr>
                                        </m:sSubPr>
                                        <m:e>
                                          <m:r>
                                            <a:rPr lang="en-US" sz="1800" i="1">
                                              <a:solidFill>
                                                <a:srgbClr val="000000"/>
                                              </a:solidFill>
                                              <a:effectLst/>
                                              <a:latin typeface="Cambria Math" panose="02040503050406030204" pitchFamily="18" charset="0"/>
                                              <a:ea typeface="DengXian" panose="02010600030101010101" pitchFamily="2" charset="-122"/>
                                              <a:cs typeface="Times New Roman" panose="02020603050405020304" pitchFamily="18" charset="0"/>
                                            </a:rPr>
                                            <m:t>𝑌</m:t>
                                          </m:r>
                                        </m:e>
                                        <m:sub>
                                          <m:r>
                                            <a:rPr lang="en-US" sz="1800" i="1">
                                              <a:solidFill>
                                                <a:srgbClr val="000000"/>
                                              </a:solidFill>
                                              <a:effectLst/>
                                              <a:latin typeface="Cambria Math" panose="02040503050406030204" pitchFamily="18" charset="0"/>
                                              <a:ea typeface="DengXian" panose="02010600030101010101" pitchFamily="2" charset="-122"/>
                                              <a:cs typeface="Times New Roman" panose="02020603050405020304" pitchFamily="18" charset="0"/>
                                            </a:rPr>
                                            <m:t>𝑒𝑥𝑝</m:t>
                                          </m:r>
                                          <m:r>
                                            <a:rPr lang="en-US" sz="1800" i="1">
                                              <a:solidFill>
                                                <a:srgbClr val="000000"/>
                                              </a:solidFill>
                                              <a:effectLst/>
                                              <a:latin typeface="Cambria Math" panose="02040503050406030204" pitchFamily="18" charset="0"/>
                                              <a:ea typeface="DengXian" panose="02010600030101010101" pitchFamily="2" charset="-122"/>
                                              <a:cs typeface="Times New Roman" panose="02020603050405020304" pitchFamily="18" charset="0"/>
                                            </a:rPr>
                                            <m:t>,</m:t>
                                          </m:r>
                                          <m:r>
                                            <a:rPr lang="en-US" sz="1800" i="1">
                                              <a:solidFill>
                                                <a:srgbClr val="000000"/>
                                              </a:solidFill>
                                              <a:effectLst/>
                                              <a:latin typeface="Cambria Math" panose="02040503050406030204" pitchFamily="18" charset="0"/>
                                              <a:ea typeface="DengXian" panose="02010600030101010101" pitchFamily="2" charset="-122"/>
                                              <a:cs typeface="Times New Roman" panose="02020603050405020304" pitchFamily="18" charset="0"/>
                                            </a:rPr>
                                            <m:t>𝑖</m:t>
                                          </m:r>
                                        </m:sub>
                                      </m:sSub>
                                      <m:r>
                                        <a:rPr lang="en-US" sz="1800" i="1">
                                          <a:solidFill>
                                            <a:srgbClr val="000000"/>
                                          </a:solidFill>
                                          <a:effectLst/>
                                          <a:latin typeface="Cambria Math" panose="02040503050406030204" pitchFamily="18" charset="0"/>
                                          <a:ea typeface="DengXian" panose="02010600030101010101" pitchFamily="2" charset="-122"/>
                                          <a:cs typeface="Times New Roman" panose="02020603050405020304" pitchFamily="18" charset="0"/>
                                        </a:rPr>
                                        <m:t>−</m:t>
                                      </m:r>
                                      <m:sSub>
                                        <m:sSubPr>
                                          <m:ctrlPr>
                                            <a:rPr lang="en-MY" sz="1800" i="1">
                                              <a:solidFill>
                                                <a:srgbClr val="000000"/>
                                              </a:solidFill>
                                              <a:effectLst/>
                                              <a:latin typeface="Cambria Math" panose="02040503050406030204" pitchFamily="18" charset="0"/>
                                              <a:ea typeface="DengXian" panose="02010600030101010101" pitchFamily="2" charset="-122"/>
                                              <a:cs typeface="Times New Roman" panose="02020603050405020304" pitchFamily="18" charset="0"/>
                                            </a:rPr>
                                          </m:ctrlPr>
                                        </m:sSubPr>
                                        <m:e>
                                          <m:r>
                                            <a:rPr lang="en-US" sz="1800" i="1">
                                              <a:solidFill>
                                                <a:srgbClr val="000000"/>
                                              </a:solidFill>
                                              <a:effectLst/>
                                              <a:latin typeface="Cambria Math" panose="02040503050406030204" pitchFamily="18" charset="0"/>
                                              <a:ea typeface="DengXian" panose="02010600030101010101" pitchFamily="2" charset="-122"/>
                                              <a:cs typeface="Times New Roman" panose="02020603050405020304" pitchFamily="18" charset="0"/>
                                            </a:rPr>
                                            <m:t>𝑌</m:t>
                                          </m:r>
                                        </m:e>
                                        <m:sub>
                                          <m:r>
                                            <a:rPr lang="en-US" sz="1800" i="1">
                                              <a:solidFill>
                                                <a:srgbClr val="000000"/>
                                              </a:solidFill>
                                              <a:effectLst/>
                                              <a:latin typeface="Cambria Math" panose="02040503050406030204" pitchFamily="18" charset="0"/>
                                              <a:ea typeface="DengXian" panose="02010600030101010101" pitchFamily="2" charset="-122"/>
                                              <a:cs typeface="Times New Roman" panose="02020603050405020304" pitchFamily="18" charset="0"/>
                                            </a:rPr>
                                            <m:t>𝑝𝑟𝑒𝑑</m:t>
                                          </m:r>
                                          <m:r>
                                            <a:rPr lang="en-US" sz="1800" i="1">
                                              <a:solidFill>
                                                <a:srgbClr val="000000"/>
                                              </a:solidFill>
                                              <a:effectLst/>
                                              <a:latin typeface="Cambria Math" panose="02040503050406030204" pitchFamily="18" charset="0"/>
                                              <a:ea typeface="DengXian" panose="02010600030101010101" pitchFamily="2" charset="-122"/>
                                              <a:cs typeface="Times New Roman" panose="02020603050405020304" pitchFamily="18" charset="0"/>
                                            </a:rPr>
                                            <m:t>,</m:t>
                                          </m:r>
                                          <m:r>
                                            <a:rPr lang="en-US" sz="1800" i="1">
                                              <a:solidFill>
                                                <a:srgbClr val="000000"/>
                                              </a:solidFill>
                                              <a:effectLst/>
                                              <a:latin typeface="Cambria Math" panose="02040503050406030204" pitchFamily="18" charset="0"/>
                                              <a:ea typeface="DengXian" panose="02010600030101010101" pitchFamily="2" charset="-122"/>
                                              <a:cs typeface="Times New Roman" panose="02020603050405020304" pitchFamily="18" charset="0"/>
                                            </a:rPr>
                                            <m:t>𝑖</m:t>
                                          </m:r>
                                        </m:sub>
                                      </m:sSub>
                                      <m:r>
                                        <a:rPr lang="en-US" sz="1800" i="1">
                                          <a:solidFill>
                                            <a:srgbClr val="000000"/>
                                          </a:solidFill>
                                          <a:effectLst/>
                                          <a:latin typeface="Cambria Math" panose="02040503050406030204" pitchFamily="18" charset="0"/>
                                          <a:ea typeface="DengXian" panose="02010600030101010101" pitchFamily="2" charset="-122"/>
                                          <a:cs typeface="Times New Roman" panose="02020603050405020304" pitchFamily="18" charset="0"/>
                                        </a:rPr>
                                        <m:t>)</m:t>
                                      </m:r>
                                    </m:e>
                                    <m:sup>
                                      <m:r>
                                        <a:rPr lang="en-US" sz="1800" i="1">
                                          <a:solidFill>
                                            <a:srgbClr val="000000"/>
                                          </a:solidFill>
                                          <a:effectLst/>
                                          <a:latin typeface="Cambria Math" panose="02040503050406030204" pitchFamily="18" charset="0"/>
                                          <a:ea typeface="DengXian" panose="02010600030101010101" pitchFamily="2" charset="-122"/>
                                          <a:cs typeface="Times New Roman" panose="02020603050405020304" pitchFamily="18" charset="0"/>
                                        </a:rPr>
                                        <m:t>2</m:t>
                                      </m:r>
                                    </m:sup>
                                  </m:sSup>
                                </m:e>
                              </m:nary>
                            </m:num>
                            <m:den>
                              <m:r>
                                <a:rPr lang="en-US" sz="1800" i="1">
                                  <a:solidFill>
                                    <a:srgbClr val="000000"/>
                                  </a:solidFill>
                                  <a:effectLst/>
                                  <a:latin typeface="Cambria Math" panose="02040503050406030204" pitchFamily="18" charset="0"/>
                                  <a:ea typeface="DengXian" panose="02010600030101010101" pitchFamily="2" charset="-122"/>
                                  <a:cs typeface="Times New Roman" panose="02020603050405020304" pitchFamily="18" charset="0"/>
                                </a:rPr>
                                <m:t>𝑁</m:t>
                              </m:r>
                            </m:den>
                          </m:f>
                        </m:e>
                      </m:rad>
                    </m:oMath>
                  </m:oMathPara>
                </a14:m>
                <a:endParaRPr lang="en-MY" sz="1800" dirty="0">
                  <a:effectLst/>
                  <a:latin typeface="Aptos" panose="020B0004020202020204" pitchFamily="34" charset="0"/>
                  <a:ea typeface="Aptos" panose="020B0004020202020204" pitchFamily="34" charset="0"/>
                  <a:cs typeface="Times New Roman" panose="02020603050405020304" pitchFamily="18" charset="0"/>
                </a:endParaRPr>
              </a:p>
              <a:p>
                <a:endParaRPr lang="en-MY" dirty="0"/>
              </a:p>
            </p:txBody>
          </p:sp>
        </mc:Choice>
        <mc:Fallback>
          <p:sp>
            <p:nvSpPr>
              <p:cNvPr id="3" name="Content Placeholder 2">
                <a:extLst>
                  <a:ext uri="{FF2B5EF4-FFF2-40B4-BE49-F238E27FC236}">
                    <a16:creationId xmlns:a16="http://schemas.microsoft.com/office/drawing/2014/main" id="{A540F6B8-0732-4892-4842-87C536EA729E}"/>
                  </a:ext>
                </a:extLst>
              </p:cNvPr>
              <p:cNvSpPr>
                <a:spLocks noGrp="1" noRot="1" noChangeAspect="1" noMove="1" noResize="1" noEditPoints="1" noAdjustHandles="1" noChangeArrowheads="1" noChangeShapeType="1" noTextEdit="1"/>
              </p:cNvSpPr>
              <p:nvPr>
                <p:ph idx="1"/>
              </p:nvPr>
            </p:nvSpPr>
            <p:spPr>
              <a:xfrm>
                <a:off x="447586" y="1881809"/>
                <a:ext cx="12831092" cy="7254643"/>
              </a:xfrm>
              <a:blipFill>
                <a:blip r:embed="rId3"/>
                <a:stretch>
                  <a:fillRect l="-1663"/>
                </a:stretch>
              </a:blipFill>
            </p:spPr>
            <p:txBody>
              <a:bodyPr/>
              <a:lstStyle/>
              <a:p>
                <a:r>
                  <a:rPr lang="en-MY">
                    <a:noFill/>
                  </a:rPr>
                  <a:t> </a:t>
                </a:r>
              </a:p>
            </p:txBody>
          </p:sp>
        </mc:Fallback>
      </mc:AlternateContent>
    </p:spTree>
    <p:extLst>
      <p:ext uri="{BB962C8B-B14F-4D97-AF65-F5344CB8AC3E}">
        <p14:creationId xmlns:p14="http://schemas.microsoft.com/office/powerpoint/2010/main" val="11311441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008832-EDDE-A104-7328-3AB18AD069E9}"/>
              </a:ext>
            </a:extLst>
          </p:cNvPr>
          <p:cNvSpPr>
            <a:spLocks noGrp="1"/>
          </p:cNvSpPr>
          <p:nvPr>
            <p:ph type="title"/>
          </p:nvPr>
        </p:nvSpPr>
        <p:spPr/>
        <p:txBody>
          <a:bodyPr/>
          <a:lstStyle/>
          <a:p>
            <a:endParaRPr lang="en-MY"/>
          </a:p>
        </p:txBody>
      </p:sp>
      <p:sp>
        <p:nvSpPr>
          <p:cNvPr id="3" name="Content Placeholder 2">
            <a:extLst>
              <a:ext uri="{FF2B5EF4-FFF2-40B4-BE49-F238E27FC236}">
                <a16:creationId xmlns:a16="http://schemas.microsoft.com/office/drawing/2014/main" id="{F5490623-B331-1996-C274-CB6E233E8B4B}"/>
              </a:ext>
            </a:extLst>
          </p:cNvPr>
          <p:cNvSpPr>
            <a:spLocks noGrp="1"/>
          </p:cNvSpPr>
          <p:nvPr>
            <p:ph idx="1"/>
          </p:nvPr>
        </p:nvSpPr>
        <p:spPr/>
        <p:txBody>
          <a:bodyPr>
            <a:normAutofit/>
          </a:bodyPr>
          <a:lstStyle/>
          <a:p>
            <a:r>
              <a:rPr lang="en-US" sz="2400" dirty="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Therefore, we want the result that results the highest r</a:t>
            </a:r>
            <a:r>
              <a:rPr lang="en-US" sz="2400" baseline="30000" dirty="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2</a:t>
            </a:r>
            <a:r>
              <a:rPr lang="en-US" sz="2400" dirty="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 and q</a:t>
            </a:r>
            <a:r>
              <a:rPr lang="en-US" sz="2400" baseline="30000" dirty="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2</a:t>
            </a:r>
            <a:r>
              <a:rPr lang="en-US" sz="2400" dirty="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 approaching 1, and with SDEP approaching 0. </a:t>
            </a:r>
          </a:p>
          <a:p>
            <a:endParaRPr lang="en-US" sz="2400" dirty="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endParaRPr>
          </a:p>
          <a:p>
            <a:r>
              <a:rPr lang="en-US" sz="2400" dirty="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The cross validation set used in our models is LOO (leave-one-out) cross validation</a:t>
            </a:r>
            <a:endParaRPr lang="en-MY" sz="2800" dirty="0"/>
          </a:p>
        </p:txBody>
      </p:sp>
    </p:spTree>
    <p:extLst>
      <p:ext uri="{BB962C8B-B14F-4D97-AF65-F5344CB8AC3E}">
        <p14:creationId xmlns:p14="http://schemas.microsoft.com/office/powerpoint/2010/main" val="42078113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C2F79C-48F5-1A8B-26F4-0FFE6EB66E6E}"/>
              </a:ext>
            </a:extLst>
          </p:cNvPr>
          <p:cNvSpPr>
            <a:spLocks noGrp="1"/>
          </p:cNvSpPr>
          <p:nvPr>
            <p:ph type="title"/>
          </p:nvPr>
        </p:nvSpPr>
        <p:spPr/>
        <p:txBody>
          <a:bodyPr/>
          <a:lstStyle/>
          <a:p>
            <a:r>
              <a:rPr lang="en-MY" dirty="0"/>
              <a:t>Results and Discussion</a:t>
            </a:r>
          </a:p>
        </p:txBody>
      </p:sp>
      <p:graphicFrame>
        <p:nvGraphicFramePr>
          <p:cNvPr id="4" name="Table 3">
            <a:extLst>
              <a:ext uri="{FF2B5EF4-FFF2-40B4-BE49-F238E27FC236}">
                <a16:creationId xmlns:a16="http://schemas.microsoft.com/office/drawing/2014/main" id="{59BC8DD2-5513-2B9A-FAF0-6DC85FD539FF}"/>
              </a:ext>
            </a:extLst>
          </p:cNvPr>
          <p:cNvGraphicFramePr>
            <a:graphicFrameLocks noGrp="1"/>
          </p:cNvGraphicFramePr>
          <p:nvPr>
            <p:extLst>
              <p:ext uri="{D42A27DB-BD31-4B8C-83A1-F6EECF244321}">
                <p14:modId xmlns:p14="http://schemas.microsoft.com/office/powerpoint/2010/main" val="2056777843"/>
              </p:ext>
            </p:extLst>
          </p:nvPr>
        </p:nvGraphicFramePr>
        <p:xfrm>
          <a:off x="238540" y="1737360"/>
          <a:ext cx="11428741" cy="4607379"/>
        </p:xfrm>
        <a:graphic>
          <a:graphicData uri="http://schemas.openxmlformats.org/drawingml/2006/table">
            <a:tbl>
              <a:tblPr firstRow="1" firstCol="1" bandRow="1"/>
              <a:tblGrid>
                <a:gridCol w="2616340">
                  <a:extLst>
                    <a:ext uri="{9D8B030D-6E8A-4147-A177-3AD203B41FA5}">
                      <a16:colId xmlns:a16="http://schemas.microsoft.com/office/drawing/2014/main" val="3374877537"/>
                    </a:ext>
                  </a:extLst>
                </a:gridCol>
                <a:gridCol w="1895072">
                  <a:extLst>
                    <a:ext uri="{9D8B030D-6E8A-4147-A177-3AD203B41FA5}">
                      <a16:colId xmlns:a16="http://schemas.microsoft.com/office/drawing/2014/main" val="1577037597"/>
                    </a:ext>
                  </a:extLst>
                </a:gridCol>
                <a:gridCol w="2271551">
                  <a:extLst>
                    <a:ext uri="{9D8B030D-6E8A-4147-A177-3AD203B41FA5}">
                      <a16:colId xmlns:a16="http://schemas.microsoft.com/office/drawing/2014/main" val="1439691187"/>
                    </a:ext>
                  </a:extLst>
                </a:gridCol>
                <a:gridCol w="2578312">
                  <a:extLst>
                    <a:ext uri="{9D8B030D-6E8A-4147-A177-3AD203B41FA5}">
                      <a16:colId xmlns:a16="http://schemas.microsoft.com/office/drawing/2014/main" val="3510840661"/>
                    </a:ext>
                  </a:extLst>
                </a:gridCol>
                <a:gridCol w="2067466">
                  <a:extLst>
                    <a:ext uri="{9D8B030D-6E8A-4147-A177-3AD203B41FA5}">
                      <a16:colId xmlns:a16="http://schemas.microsoft.com/office/drawing/2014/main" val="3021662751"/>
                    </a:ext>
                  </a:extLst>
                </a:gridCol>
              </a:tblGrid>
              <a:tr h="1287980">
                <a:tc>
                  <a:txBody>
                    <a:bodyPr/>
                    <a:lstStyle/>
                    <a:p>
                      <a:pPr algn="ctr">
                        <a:lnSpc>
                          <a:spcPct val="150000"/>
                        </a:lnSpc>
                        <a:spcAft>
                          <a:spcPts val="800"/>
                        </a:spcAft>
                      </a:pPr>
                      <a:r>
                        <a:rPr lang="en-US" sz="1600" kern="100" dirty="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 </a:t>
                      </a:r>
                      <a:endParaRPr lang="en-MY"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ctr">
                        <a:lnSpc>
                          <a:spcPct val="150000"/>
                        </a:lnSpc>
                        <a:spcAft>
                          <a:spcPts val="800"/>
                        </a:spcAft>
                      </a:pPr>
                      <a:r>
                        <a:rPr lang="en-US" sz="1600" kern="100" dirty="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Initial (without VPO and default settings)</a:t>
                      </a:r>
                      <a:endParaRPr lang="en-MY"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ctr">
                        <a:lnSpc>
                          <a:spcPct val="150000"/>
                        </a:lnSpc>
                        <a:spcAft>
                          <a:spcPts val="800"/>
                        </a:spcAft>
                      </a:pPr>
                      <a:r>
                        <a:rPr lang="en-US" sz="1600" kern="10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Optimized VPO (without Y scrambling)</a:t>
                      </a:r>
                      <a:endParaRPr lang="en-MY"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ctr">
                        <a:lnSpc>
                          <a:spcPct val="150000"/>
                        </a:lnSpc>
                        <a:spcAft>
                          <a:spcPts val="800"/>
                        </a:spcAft>
                      </a:pPr>
                      <a:r>
                        <a:rPr lang="en-US" sz="1600" kern="10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Optimized VPO (with Y-scrambling)</a:t>
                      </a:r>
                      <a:endParaRPr lang="en-MY"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ctr">
                        <a:lnSpc>
                          <a:spcPct val="150000"/>
                        </a:lnSpc>
                        <a:spcAft>
                          <a:spcPts val="800"/>
                        </a:spcAft>
                      </a:pPr>
                      <a:r>
                        <a:rPr lang="en-US" sz="1600" kern="100" dirty="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Optimized VPO with Y-scrambling and external test set</a:t>
                      </a:r>
                      <a:endParaRPr lang="en-MY"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extLst>
                  <a:ext uri="{0D108BD9-81ED-4DB2-BD59-A6C34878D82A}">
                    <a16:rowId xmlns:a16="http://schemas.microsoft.com/office/drawing/2014/main" val="2175882757"/>
                  </a:ext>
                </a:extLst>
              </a:tr>
              <a:tr h="627221">
                <a:tc>
                  <a:txBody>
                    <a:bodyPr/>
                    <a:lstStyle/>
                    <a:p>
                      <a:pPr algn="ctr">
                        <a:lnSpc>
                          <a:spcPct val="150000"/>
                        </a:lnSpc>
                        <a:spcAft>
                          <a:spcPts val="800"/>
                        </a:spcAft>
                      </a:pPr>
                      <a:r>
                        <a:rPr lang="en-US" sz="1600" kern="10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Number of training compounds</a:t>
                      </a:r>
                      <a:endParaRPr lang="en-MY"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Aft>
                          <a:spcPts val="800"/>
                        </a:spcAft>
                      </a:pPr>
                      <a:r>
                        <a:rPr lang="en-US" sz="1600" kern="10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36</a:t>
                      </a:r>
                      <a:endParaRPr lang="en-MY"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Aft>
                          <a:spcPts val="800"/>
                        </a:spcAft>
                      </a:pPr>
                      <a:r>
                        <a:rPr lang="en-US" sz="1600" kern="10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36</a:t>
                      </a:r>
                      <a:endParaRPr lang="en-MY"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Aft>
                          <a:spcPts val="800"/>
                        </a:spcAft>
                      </a:pPr>
                      <a:r>
                        <a:rPr lang="en-US" sz="1600" kern="10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36</a:t>
                      </a:r>
                      <a:endParaRPr lang="en-MY"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Aft>
                          <a:spcPts val="800"/>
                        </a:spcAft>
                      </a:pPr>
                      <a:r>
                        <a:rPr lang="en-US" sz="1600" kern="10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36</a:t>
                      </a:r>
                      <a:endParaRPr lang="en-MY"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902220660"/>
                  </a:ext>
                </a:extLst>
              </a:tr>
              <a:tr h="627221">
                <a:tc>
                  <a:txBody>
                    <a:bodyPr/>
                    <a:lstStyle/>
                    <a:p>
                      <a:pPr algn="ctr">
                        <a:lnSpc>
                          <a:spcPct val="150000"/>
                        </a:lnSpc>
                        <a:spcAft>
                          <a:spcPts val="800"/>
                        </a:spcAft>
                      </a:pPr>
                      <a:r>
                        <a:rPr lang="en-US" sz="1600" kern="10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Number of test compounds</a:t>
                      </a:r>
                      <a:endParaRPr lang="en-MY"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Aft>
                          <a:spcPts val="800"/>
                        </a:spcAft>
                      </a:pPr>
                      <a:r>
                        <a:rPr lang="en-US" sz="1600" kern="10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6</a:t>
                      </a:r>
                      <a:endParaRPr lang="en-MY"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Aft>
                          <a:spcPts val="800"/>
                        </a:spcAft>
                      </a:pPr>
                      <a:r>
                        <a:rPr lang="en-US" sz="1600" kern="10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6</a:t>
                      </a:r>
                      <a:endParaRPr lang="en-MY"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Aft>
                          <a:spcPts val="800"/>
                        </a:spcAft>
                      </a:pPr>
                      <a:r>
                        <a:rPr lang="en-US" sz="1600" kern="10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6</a:t>
                      </a:r>
                      <a:endParaRPr lang="en-MY"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Aft>
                          <a:spcPts val="800"/>
                        </a:spcAft>
                      </a:pPr>
                      <a:r>
                        <a:rPr lang="en-US" sz="1600" kern="10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6</a:t>
                      </a:r>
                      <a:endParaRPr lang="en-MY"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125502972"/>
                  </a:ext>
                </a:extLst>
              </a:tr>
              <a:tr h="332957">
                <a:tc>
                  <a:txBody>
                    <a:bodyPr/>
                    <a:lstStyle/>
                    <a:p>
                      <a:pPr algn="ctr">
                        <a:lnSpc>
                          <a:spcPct val="150000"/>
                        </a:lnSpc>
                        <a:spcAft>
                          <a:spcPts val="800"/>
                        </a:spcAft>
                      </a:pPr>
                      <a:r>
                        <a:rPr lang="en-US" sz="1600" kern="10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Method</a:t>
                      </a:r>
                      <a:endParaRPr lang="en-MY"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Aft>
                          <a:spcPts val="800"/>
                        </a:spcAft>
                      </a:pPr>
                      <a:r>
                        <a:rPr lang="en-US" sz="1600" kern="10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TRIPOS</a:t>
                      </a:r>
                      <a:endParaRPr lang="en-MY"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Aft>
                          <a:spcPts val="800"/>
                        </a:spcAft>
                      </a:pPr>
                      <a:r>
                        <a:rPr lang="en-US" sz="1600" kern="10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O3G</a:t>
                      </a:r>
                      <a:endParaRPr lang="en-MY"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Aft>
                          <a:spcPts val="800"/>
                        </a:spcAft>
                      </a:pPr>
                      <a:r>
                        <a:rPr lang="en-US" sz="1600" kern="10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O3G</a:t>
                      </a:r>
                      <a:endParaRPr lang="en-MY"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Aft>
                          <a:spcPts val="800"/>
                        </a:spcAft>
                      </a:pPr>
                      <a:r>
                        <a:rPr lang="en-US" sz="1600" kern="10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O3G</a:t>
                      </a:r>
                      <a:endParaRPr lang="en-MY"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909321593"/>
                  </a:ext>
                </a:extLst>
              </a:tr>
              <a:tr h="332957">
                <a:tc>
                  <a:txBody>
                    <a:bodyPr/>
                    <a:lstStyle/>
                    <a:p>
                      <a:pPr algn="ctr">
                        <a:lnSpc>
                          <a:spcPct val="150000"/>
                        </a:lnSpc>
                        <a:spcAft>
                          <a:spcPts val="800"/>
                        </a:spcAft>
                      </a:pPr>
                      <a:r>
                        <a:rPr lang="en-US" sz="1600" kern="10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q</a:t>
                      </a:r>
                      <a:r>
                        <a:rPr lang="en-US" sz="1600" kern="100" baseline="3000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2</a:t>
                      </a:r>
                      <a:r>
                        <a:rPr lang="en-US" sz="1600" kern="10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 cv combined</a:t>
                      </a:r>
                      <a:endParaRPr lang="en-MY"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Aft>
                          <a:spcPts val="800"/>
                        </a:spcAft>
                      </a:pPr>
                      <a:r>
                        <a:rPr lang="en-US" sz="1600" kern="10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0.569</a:t>
                      </a:r>
                      <a:endParaRPr lang="en-MY"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Aft>
                          <a:spcPts val="800"/>
                        </a:spcAft>
                      </a:pPr>
                      <a:r>
                        <a:rPr lang="en-US" sz="1600" kern="10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0.733</a:t>
                      </a:r>
                      <a:endParaRPr lang="en-MY"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Aft>
                          <a:spcPts val="800"/>
                        </a:spcAft>
                      </a:pPr>
                      <a:r>
                        <a:rPr lang="en-US" sz="1600" kern="10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0.726</a:t>
                      </a:r>
                      <a:endParaRPr lang="en-MY"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Aft>
                          <a:spcPts val="800"/>
                        </a:spcAft>
                      </a:pPr>
                      <a:r>
                        <a:rPr lang="en-US" sz="1600" kern="10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0.744</a:t>
                      </a:r>
                      <a:endParaRPr lang="en-MY"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730291811"/>
                  </a:ext>
                </a:extLst>
              </a:tr>
              <a:tr h="332957">
                <a:tc>
                  <a:txBody>
                    <a:bodyPr/>
                    <a:lstStyle/>
                    <a:p>
                      <a:pPr algn="ctr">
                        <a:lnSpc>
                          <a:spcPct val="150000"/>
                        </a:lnSpc>
                        <a:spcAft>
                          <a:spcPts val="800"/>
                        </a:spcAft>
                      </a:pPr>
                      <a:r>
                        <a:rPr lang="en-US" sz="1600" kern="10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r</a:t>
                      </a:r>
                      <a:r>
                        <a:rPr lang="en-US" sz="1600" kern="100" baseline="3000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2</a:t>
                      </a:r>
                      <a:r>
                        <a:rPr lang="en-US" sz="1600" kern="10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 combined</a:t>
                      </a:r>
                      <a:endParaRPr lang="en-MY"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Aft>
                          <a:spcPts val="800"/>
                        </a:spcAft>
                      </a:pPr>
                      <a:r>
                        <a:rPr lang="en-US" sz="1600" kern="10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0.919</a:t>
                      </a:r>
                      <a:endParaRPr lang="en-MY"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Aft>
                          <a:spcPts val="800"/>
                        </a:spcAft>
                      </a:pPr>
                      <a:r>
                        <a:rPr lang="en-US" sz="1600" kern="10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0.984</a:t>
                      </a:r>
                      <a:endParaRPr lang="en-MY"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Aft>
                          <a:spcPts val="800"/>
                        </a:spcAft>
                      </a:pPr>
                      <a:r>
                        <a:rPr lang="en-US" sz="1600" kern="10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0.981</a:t>
                      </a:r>
                      <a:endParaRPr lang="en-MY"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Aft>
                          <a:spcPts val="800"/>
                        </a:spcAft>
                      </a:pPr>
                      <a:r>
                        <a:rPr lang="en-US" sz="1600" kern="10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0.996</a:t>
                      </a:r>
                      <a:endParaRPr lang="en-MY"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15425820"/>
                  </a:ext>
                </a:extLst>
              </a:tr>
              <a:tr h="332957">
                <a:tc>
                  <a:txBody>
                    <a:bodyPr/>
                    <a:lstStyle/>
                    <a:p>
                      <a:pPr algn="ctr">
                        <a:lnSpc>
                          <a:spcPct val="150000"/>
                        </a:lnSpc>
                        <a:spcAft>
                          <a:spcPts val="800"/>
                        </a:spcAft>
                      </a:pPr>
                      <a:r>
                        <a:rPr lang="en-US" sz="1600" kern="10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Combined CV score</a:t>
                      </a:r>
                      <a:endParaRPr lang="en-MY"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Aft>
                          <a:spcPts val="800"/>
                        </a:spcAft>
                      </a:pPr>
                      <a:r>
                        <a:rPr lang="en-US" sz="1600" kern="10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0.713</a:t>
                      </a:r>
                      <a:endParaRPr lang="en-MY"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Aft>
                          <a:spcPts val="800"/>
                        </a:spcAft>
                      </a:pPr>
                      <a:r>
                        <a:rPr lang="en-US" sz="1600" kern="10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0.822</a:t>
                      </a:r>
                      <a:endParaRPr lang="en-MY"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Aft>
                          <a:spcPts val="800"/>
                        </a:spcAft>
                      </a:pPr>
                      <a:r>
                        <a:rPr lang="en-US" sz="1600" kern="10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0.817</a:t>
                      </a:r>
                      <a:endParaRPr lang="en-MY"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Aft>
                          <a:spcPts val="800"/>
                        </a:spcAft>
                      </a:pPr>
                      <a:r>
                        <a:rPr lang="en-US" sz="1600" kern="10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0.829</a:t>
                      </a:r>
                      <a:endParaRPr lang="en-MY"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585097935"/>
                  </a:ext>
                </a:extLst>
              </a:tr>
              <a:tr h="332957">
                <a:tc>
                  <a:txBody>
                    <a:bodyPr/>
                    <a:lstStyle/>
                    <a:p>
                      <a:pPr algn="ctr">
                        <a:lnSpc>
                          <a:spcPct val="150000"/>
                        </a:lnSpc>
                        <a:spcAft>
                          <a:spcPts val="800"/>
                        </a:spcAft>
                      </a:pPr>
                      <a:r>
                        <a:rPr lang="en-US" sz="1600" kern="10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Probe</a:t>
                      </a:r>
                      <a:endParaRPr lang="en-MY"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Aft>
                          <a:spcPts val="800"/>
                        </a:spcAft>
                      </a:pPr>
                      <a:r>
                        <a:rPr lang="en-US" sz="1600" kern="10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C.3</a:t>
                      </a:r>
                      <a:endParaRPr lang="en-MY"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Aft>
                          <a:spcPts val="800"/>
                        </a:spcAft>
                      </a:pPr>
                      <a:r>
                        <a:rPr lang="en-US" sz="1600" kern="10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C.3.H2</a:t>
                      </a:r>
                      <a:endParaRPr lang="en-MY"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Aft>
                          <a:spcPts val="800"/>
                        </a:spcAft>
                      </a:pPr>
                      <a:r>
                        <a:rPr lang="en-US" sz="1600" kern="10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C.3.H1</a:t>
                      </a:r>
                      <a:endParaRPr lang="en-MY"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Aft>
                          <a:spcPts val="800"/>
                        </a:spcAft>
                      </a:pPr>
                      <a:r>
                        <a:rPr lang="en-US" sz="1600" kern="10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CI</a:t>
                      </a:r>
                      <a:endParaRPr lang="en-MY"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3936748"/>
                  </a:ext>
                </a:extLst>
              </a:tr>
              <a:tr h="332957">
                <a:tc>
                  <a:txBody>
                    <a:bodyPr/>
                    <a:lstStyle/>
                    <a:p>
                      <a:pPr algn="ctr">
                        <a:lnSpc>
                          <a:spcPct val="150000"/>
                        </a:lnSpc>
                        <a:spcAft>
                          <a:spcPts val="800"/>
                        </a:spcAft>
                      </a:pPr>
                      <a:r>
                        <a:rPr lang="en-US" sz="1600" kern="10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Charge model</a:t>
                      </a:r>
                      <a:endParaRPr lang="en-MY"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Aft>
                          <a:spcPts val="800"/>
                        </a:spcAft>
                      </a:pPr>
                      <a:r>
                        <a:rPr lang="en-US" sz="1600" kern="100" dirty="0" err="1">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gasteiger</a:t>
                      </a:r>
                      <a:endParaRPr lang="en-MY"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Aft>
                          <a:spcPts val="800"/>
                        </a:spcAft>
                      </a:pPr>
                      <a:r>
                        <a:rPr lang="en-US" sz="1600" kern="10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eem</a:t>
                      </a:r>
                      <a:endParaRPr lang="en-MY"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Aft>
                          <a:spcPts val="800"/>
                        </a:spcAft>
                      </a:pPr>
                      <a:r>
                        <a:rPr lang="en-US" sz="1600" kern="10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eem</a:t>
                      </a:r>
                      <a:endParaRPr lang="en-MY"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50000"/>
                        </a:lnSpc>
                        <a:spcAft>
                          <a:spcPts val="800"/>
                        </a:spcAft>
                      </a:pPr>
                      <a:r>
                        <a:rPr lang="en-US" sz="1600" kern="100" dirty="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eem2015ha</a:t>
                      </a:r>
                      <a:endParaRPr lang="en-MY"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72501855"/>
                  </a:ext>
                </a:extLst>
              </a:tr>
            </a:tbl>
          </a:graphicData>
        </a:graphic>
      </p:graphicFrame>
    </p:spTree>
    <p:extLst>
      <p:ext uri="{BB962C8B-B14F-4D97-AF65-F5344CB8AC3E}">
        <p14:creationId xmlns:p14="http://schemas.microsoft.com/office/powerpoint/2010/main" val="15952462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24CBD4-7AEF-AB34-0A67-3F674A164506}"/>
              </a:ext>
            </a:extLst>
          </p:cNvPr>
          <p:cNvSpPr>
            <a:spLocks noGrp="1"/>
          </p:cNvSpPr>
          <p:nvPr>
            <p:ph type="title"/>
          </p:nvPr>
        </p:nvSpPr>
        <p:spPr/>
        <p:txBody>
          <a:bodyPr/>
          <a:lstStyle/>
          <a:p>
            <a:endParaRPr lang="en-MY"/>
          </a:p>
        </p:txBody>
      </p:sp>
      <p:sp>
        <p:nvSpPr>
          <p:cNvPr id="3" name="Content Placeholder 2">
            <a:extLst>
              <a:ext uri="{FF2B5EF4-FFF2-40B4-BE49-F238E27FC236}">
                <a16:creationId xmlns:a16="http://schemas.microsoft.com/office/drawing/2014/main" id="{6DE61D69-6304-3701-9B7C-345091C8AE22}"/>
              </a:ext>
            </a:extLst>
          </p:cNvPr>
          <p:cNvSpPr>
            <a:spLocks noGrp="1"/>
          </p:cNvSpPr>
          <p:nvPr>
            <p:ph idx="1"/>
          </p:nvPr>
        </p:nvSpPr>
        <p:spPr>
          <a:xfrm>
            <a:off x="685221" y="1654752"/>
            <a:ext cx="10882517" cy="5203248"/>
          </a:xfrm>
        </p:spPr>
        <p:txBody>
          <a:bodyPr>
            <a:normAutofit lnSpcReduction="10000"/>
          </a:bodyPr>
          <a:lstStyle/>
          <a:p>
            <a:pPr indent="457200" algn="just">
              <a:lnSpc>
                <a:spcPct val="150000"/>
              </a:lnSpc>
              <a:spcAft>
                <a:spcPts val="800"/>
              </a:spcAft>
            </a:pPr>
            <a:r>
              <a:rPr lang="en-US" dirty="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The above best result ( Optimized VPO with Y-scrambling and external test set) setting were obtained with minimum sigma 0.900, grid space 1.700 </a:t>
            </a:r>
            <a:r>
              <a:rPr lang="it-IT" dirty="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Å</a:t>
            </a:r>
            <a:r>
              <a:rPr lang="en-US" dirty="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 grid extension 9.000 </a:t>
            </a:r>
            <a:r>
              <a:rPr lang="it-IT" dirty="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Å</a:t>
            </a:r>
            <a:r>
              <a:rPr lang="en-US" dirty="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 and cutoff energy of 16.000 kcal/mol. </a:t>
            </a:r>
            <a:endParaRPr lang="en-MY" dirty="0">
              <a:effectLst/>
              <a:latin typeface="Aptos" panose="020B0004020202020204" pitchFamily="34" charset="0"/>
              <a:ea typeface="Aptos" panose="020B0004020202020204" pitchFamily="34" charset="0"/>
              <a:cs typeface="Times New Roman" panose="02020603050405020304" pitchFamily="18" charset="0"/>
            </a:endParaRPr>
          </a:p>
          <a:p>
            <a:pPr indent="457200" algn="just">
              <a:lnSpc>
                <a:spcPct val="150000"/>
              </a:lnSpc>
              <a:spcAft>
                <a:spcPts val="800"/>
              </a:spcAft>
            </a:pPr>
            <a:r>
              <a:rPr lang="en-US" dirty="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The method are same for 3 best results, but the q</a:t>
            </a:r>
            <a:r>
              <a:rPr lang="en-US" baseline="30000" dirty="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2</a:t>
            </a:r>
            <a:r>
              <a:rPr lang="en-US" baseline="-25000" dirty="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cv</a:t>
            </a:r>
            <a:r>
              <a:rPr lang="en-US" dirty="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 value lowers a bit when we compare without and with Y-scrambling. This is expected because we are using Y-scrambling in the calculation, and r</a:t>
            </a:r>
            <a:r>
              <a:rPr lang="en-US" baseline="30000" dirty="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2</a:t>
            </a:r>
            <a:r>
              <a:rPr lang="en-US" baseline="-25000" dirty="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ys</a:t>
            </a:r>
            <a:r>
              <a:rPr lang="en-US" dirty="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 &lt; r</a:t>
            </a:r>
            <a:r>
              <a:rPr lang="en-US" baseline="30000" dirty="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2</a:t>
            </a:r>
            <a:r>
              <a:rPr lang="en-US" dirty="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 and q</a:t>
            </a:r>
            <a:r>
              <a:rPr lang="en-US" baseline="30000" dirty="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2</a:t>
            </a:r>
            <a:r>
              <a:rPr lang="en-US" baseline="-25000" dirty="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ys</a:t>
            </a:r>
            <a:r>
              <a:rPr lang="en-US" dirty="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 &lt; q</a:t>
            </a:r>
            <a:r>
              <a:rPr lang="en-US" baseline="30000" dirty="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2</a:t>
            </a:r>
            <a:r>
              <a:rPr lang="en-US" dirty="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a:t>
            </a:r>
          </a:p>
          <a:p>
            <a:pPr indent="457200" algn="just">
              <a:lnSpc>
                <a:spcPct val="150000"/>
              </a:lnSpc>
              <a:spcAft>
                <a:spcPts val="800"/>
              </a:spcAft>
            </a:pPr>
            <a:r>
              <a:rPr lang="en-US" dirty="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 Scrambling helps find biases, overfitting and make fair comparison between model, and verify lack of correlation. This is a statistical test of prediction tool, that the model are fitted to randomly reordered property or activity values, and compared with the model obtained for the actual property or activity values. </a:t>
            </a:r>
            <a:endParaRPr lang="en-MY" dirty="0">
              <a:effectLst/>
              <a:latin typeface="Aptos" panose="020B0004020202020204" pitchFamily="34" charset="0"/>
              <a:ea typeface="Aptos" panose="020B0004020202020204" pitchFamily="34" charset="0"/>
              <a:cs typeface="Times New Roman" panose="02020603050405020304" pitchFamily="18" charset="0"/>
            </a:endParaRPr>
          </a:p>
          <a:p>
            <a:endParaRPr lang="en-MY" sz="2400" dirty="0"/>
          </a:p>
        </p:txBody>
      </p:sp>
    </p:spTree>
    <p:extLst>
      <p:ext uri="{BB962C8B-B14F-4D97-AF65-F5344CB8AC3E}">
        <p14:creationId xmlns:p14="http://schemas.microsoft.com/office/powerpoint/2010/main" val="5952473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67C1EB-8E68-2B7A-50F4-B5BA0FFD6AFE}"/>
              </a:ext>
            </a:extLst>
          </p:cNvPr>
          <p:cNvSpPr>
            <a:spLocks noGrp="1"/>
          </p:cNvSpPr>
          <p:nvPr>
            <p:ph type="title"/>
          </p:nvPr>
        </p:nvSpPr>
        <p:spPr/>
        <p:txBody>
          <a:bodyPr/>
          <a:lstStyle/>
          <a:p>
            <a:endParaRPr lang="en-MY"/>
          </a:p>
        </p:txBody>
      </p:sp>
      <p:sp>
        <p:nvSpPr>
          <p:cNvPr id="3" name="Content Placeholder 2">
            <a:extLst>
              <a:ext uri="{FF2B5EF4-FFF2-40B4-BE49-F238E27FC236}">
                <a16:creationId xmlns:a16="http://schemas.microsoft.com/office/drawing/2014/main" id="{054F1AF8-99A9-EDD2-C6F9-075058F81595}"/>
              </a:ext>
            </a:extLst>
          </p:cNvPr>
          <p:cNvSpPr>
            <a:spLocks noGrp="1"/>
          </p:cNvSpPr>
          <p:nvPr>
            <p:ph idx="1"/>
          </p:nvPr>
        </p:nvSpPr>
        <p:spPr/>
        <p:txBody>
          <a:bodyPr>
            <a:normAutofit/>
          </a:bodyPr>
          <a:lstStyle/>
          <a:p>
            <a:r>
              <a:rPr lang="en-US" sz="2400" dirty="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Then we run the model with test set, we get even better result. We further inspect the best model, which is with Y-scrambling and external test set. The following result is the COMBINED result, because it is the most important to inspect, and the statistical values and contour map we inspecting is the PC7, which is the most optimal result.</a:t>
            </a:r>
            <a:endParaRPr lang="en-MY" sz="2400" dirty="0">
              <a:effectLst/>
              <a:latin typeface="Aptos" panose="020B0004020202020204" pitchFamily="34" charset="0"/>
              <a:ea typeface="Aptos" panose="020B0004020202020204" pitchFamily="34" charset="0"/>
              <a:cs typeface="Times New Roman" panose="02020603050405020304" pitchFamily="18" charset="0"/>
            </a:endParaRPr>
          </a:p>
          <a:p>
            <a:endParaRPr lang="en-MY" sz="2800" dirty="0"/>
          </a:p>
        </p:txBody>
      </p:sp>
    </p:spTree>
    <p:extLst>
      <p:ext uri="{BB962C8B-B14F-4D97-AF65-F5344CB8AC3E}">
        <p14:creationId xmlns:p14="http://schemas.microsoft.com/office/powerpoint/2010/main" val="30558559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69B776-CB50-D0B4-C459-C108399B2DA1}"/>
              </a:ext>
            </a:extLst>
          </p:cNvPr>
          <p:cNvSpPr>
            <a:spLocks noGrp="1"/>
          </p:cNvSpPr>
          <p:nvPr>
            <p:ph type="title"/>
          </p:nvPr>
        </p:nvSpPr>
        <p:spPr/>
        <p:txBody>
          <a:bodyPr/>
          <a:lstStyle/>
          <a:p>
            <a:endParaRPr lang="en-MY"/>
          </a:p>
        </p:txBody>
      </p:sp>
      <p:graphicFrame>
        <p:nvGraphicFramePr>
          <p:cNvPr id="4" name="Content Placeholder 3">
            <a:extLst>
              <a:ext uri="{FF2B5EF4-FFF2-40B4-BE49-F238E27FC236}">
                <a16:creationId xmlns:a16="http://schemas.microsoft.com/office/drawing/2014/main" id="{FA02C7B6-CD53-EDE3-68C1-01212E1CE8A9}"/>
              </a:ext>
            </a:extLst>
          </p:cNvPr>
          <p:cNvGraphicFramePr>
            <a:graphicFrameLocks noGrp="1"/>
          </p:cNvGraphicFramePr>
          <p:nvPr>
            <p:ph idx="1"/>
            <p:extLst>
              <p:ext uri="{D42A27DB-BD31-4B8C-83A1-F6EECF244321}">
                <p14:modId xmlns:p14="http://schemas.microsoft.com/office/powerpoint/2010/main" val="1869537703"/>
              </p:ext>
            </p:extLst>
          </p:nvPr>
        </p:nvGraphicFramePr>
        <p:xfrm>
          <a:off x="680591" y="872446"/>
          <a:ext cx="10891777" cy="4384698"/>
        </p:xfrm>
        <a:graphic>
          <a:graphicData uri="http://schemas.openxmlformats.org/drawingml/2006/table">
            <a:tbl>
              <a:tblPr firstRow="1" firstCol="1" bandRow="1"/>
              <a:tblGrid>
                <a:gridCol w="691939">
                  <a:extLst>
                    <a:ext uri="{9D8B030D-6E8A-4147-A177-3AD203B41FA5}">
                      <a16:colId xmlns:a16="http://schemas.microsoft.com/office/drawing/2014/main" val="2401181616"/>
                    </a:ext>
                  </a:extLst>
                </a:gridCol>
                <a:gridCol w="834840">
                  <a:extLst>
                    <a:ext uri="{9D8B030D-6E8A-4147-A177-3AD203B41FA5}">
                      <a16:colId xmlns:a16="http://schemas.microsoft.com/office/drawing/2014/main" val="1410143733"/>
                    </a:ext>
                  </a:extLst>
                </a:gridCol>
                <a:gridCol w="912558">
                  <a:extLst>
                    <a:ext uri="{9D8B030D-6E8A-4147-A177-3AD203B41FA5}">
                      <a16:colId xmlns:a16="http://schemas.microsoft.com/office/drawing/2014/main" val="4006368082"/>
                    </a:ext>
                  </a:extLst>
                </a:gridCol>
                <a:gridCol w="834840">
                  <a:extLst>
                    <a:ext uri="{9D8B030D-6E8A-4147-A177-3AD203B41FA5}">
                      <a16:colId xmlns:a16="http://schemas.microsoft.com/office/drawing/2014/main" val="4085976290"/>
                    </a:ext>
                  </a:extLst>
                </a:gridCol>
                <a:gridCol w="1066740">
                  <a:extLst>
                    <a:ext uri="{9D8B030D-6E8A-4147-A177-3AD203B41FA5}">
                      <a16:colId xmlns:a16="http://schemas.microsoft.com/office/drawing/2014/main" val="2968351070"/>
                    </a:ext>
                  </a:extLst>
                </a:gridCol>
                <a:gridCol w="1143204">
                  <a:extLst>
                    <a:ext uri="{9D8B030D-6E8A-4147-A177-3AD203B41FA5}">
                      <a16:colId xmlns:a16="http://schemas.microsoft.com/office/drawing/2014/main" val="192202899"/>
                    </a:ext>
                  </a:extLst>
                </a:gridCol>
                <a:gridCol w="1243485">
                  <a:extLst>
                    <a:ext uri="{9D8B030D-6E8A-4147-A177-3AD203B41FA5}">
                      <a16:colId xmlns:a16="http://schemas.microsoft.com/office/drawing/2014/main" val="1162142718"/>
                    </a:ext>
                  </a:extLst>
                </a:gridCol>
                <a:gridCol w="888741">
                  <a:extLst>
                    <a:ext uri="{9D8B030D-6E8A-4147-A177-3AD203B41FA5}">
                      <a16:colId xmlns:a16="http://schemas.microsoft.com/office/drawing/2014/main" val="3630955002"/>
                    </a:ext>
                  </a:extLst>
                </a:gridCol>
                <a:gridCol w="1243485">
                  <a:extLst>
                    <a:ext uri="{9D8B030D-6E8A-4147-A177-3AD203B41FA5}">
                      <a16:colId xmlns:a16="http://schemas.microsoft.com/office/drawing/2014/main" val="94431764"/>
                    </a:ext>
                  </a:extLst>
                </a:gridCol>
                <a:gridCol w="1197105">
                  <a:extLst>
                    <a:ext uri="{9D8B030D-6E8A-4147-A177-3AD203B41FA5}">
                      <a16:colId xmlns:a16="http://schemas.microsoft.com/office/drawing/2014/main" val="3462091332"/>
                    </a:ext>
                  </a:extLst>
                </a:gridCol>
                <a:gridCol w="834840">
                  <a:extLst>
                    <a:ext uri="{9D8B030D-6E8A-4147-A177-3AD203B41FA5}">
                      <a16:colId xmlns:a16="http://schemas.microsoft.com/office/drawing/2014/main" val="3098736797"/>
                    </a:ext>
                  </a:extLst>
                </a:gridCol>
              </a:tblGrid>
              <a:tr h="916074">
                <a:tc>
                  <a:txBody>
                    <a:bodyPr/>
                    <a:lstStyle/>
                    <a:p>
                      <a:pPr algn="just">
                        <a:lnSpc>
                          <a:spcPct val="150000"/>
                        </a:lnSpc>
                        <a:spcAft>
                          <a:spcPts val="800"/>
                        </a:spcAft>
                      </a:pPr>
                      <a:r>
                        <a:rPr lang="it-IT" sz="1600" kern="10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PC</a:t>
                      </a:r>
                      <a:endParaRPr lang="en-MY"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algn="just">
                        <a:lnSpc>
                          <a:spcPct val="150000"/>
                        </a:lnSpc>
                        <a:spcAft>
                          <a:spcPts val="800"/>
                        </a:spcAft>
                      </a:pPr>
                      <a:r>
                        <a:rPr lang="it-IT" sz="1600" kern="10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r</a:t>
                      </a:r>
                      <a:r>
                        <a:rPr lang="it-IT" sz="1600" kern="100" baseline="3000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2</a:t>
                      </a:r>
                      <a:endParaRPr lang="en-MY"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algn="just">
                        <a:lnSpc>
                          <a:spcPct val="150000"/>
                        </a:lnSpc>
                        <a:spcAft>
                          <a:spcPts val="800"/>
                        </a:spcAft>
                      </a:pPr>
                      <a:r>
                        <a:rPr lang="it-IT" sz="1600" kern="10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SDEC</a:t>
                      </a:r>
                      <a:endParaRPr lang="en-MY"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algn="just">
                        <a:lnSpc>
                          <a:spcPct val="150000"/>
                        </a:lnSpc>
                        <a:spcAft>
                          <a:spcPts val="800"/>
                        </a:spcAft>
                      </a:pPr>
                      <a:r>
                        <a:rPr lang="it-IT" sz="1600" kern="10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q</a:t>
                      </a:r>
                      <a:r>
                        <a:rPr lang="it-IT" sz="1600" kern="100" baseline="3000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2</a:t>
                      </a:r>
                      <a:r>
                        <a:rPr lang="it-IT" sz="1600" kern="100" baseline="-2500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cv</a:t>
                      </a:r>
                      <a:endParaRPr lang="en-MY"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algn="just">
                        <a:lnSpc>
                          <a:spcPct val="150000"/>
                        </a:lnSpc>
                        <a:spcAft>
                          <a:spcPts val="800"/>
                        </a:spcAft>
                      </a:pPr>
                      <a:r>
                        <a:rPr lang="it-IT" sz="1600" kern="10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SDEP</a:t>
                      </a:r>
                      <a:r>
                        <a:rPr lang="it-IT" sz="1600" kern="100" baseline="-2500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cv</a:t>
                      </a:r>
                      <a:endParaRPr lang="en-MY"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algn="just">
                        <a:lnSpc>
                          <a:spcPct val="150000"/>
                        </a:lnSpc>
                        <a:spcAft>
                          <a:spcPts val="800"/>
                        </a:spcAft>
                      </a:pPr>
                      <a:r>
                        <a:rPr lang="it-IT" sz="1600" kern="10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q</a:t>
                      </a:r>
                      <a:r>
                        <a:rPr lang="it-IT" sz="1600" kern="100" baseline="3000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2</a:t>
                      </a:r>
                      <a:r>
                        <a:rPr lang="it-IT" sz="1600" kern="100" baseline="-2500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ext</a:t>
                      </a:r>
                      <a:endParaRPr lang="en-MY"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algn="just">
                        <a:lnSpc>
                          <a:spcPct val="150000"/>
                        </a:lnSpc>
                        <a:spcAft>
                          <a:spcPts val="800"/>
                        </a:spcAft>
                      </a:pPr>
                      <a:r>
                        <a:rPr lang="it-IT" sz="1600" kern="10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SDEP</a:t>
                      </a:r>
                      <a:r>
                        <a:rPr lang="it-IT" sz="1600" kern="100" baseline="-2500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ext</a:t>
                      </a:r>
                      <a:endParaRPr lang="en-MY"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algn="just">
                        <a:lnSpc>
                          <a:spcPct val="150000"/>
                        </a:lnSpc>
                        <a:spcAft>
                          <a:spcPts val="800"/>
                        </a:spcAft>
                      </a:pPr>
                      <a:r>
                        <a:rPr lang="it-IT" sz="1600" kern="10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r</a:t>
                      </a:r>
                      <a:r>
                        <a:rPr lang="it-IT" sz="1600" kern="100" baseline="3000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2 </a:t>
                      </a:r>
                      <a:r>
                        <a:rPr lang="it-IT" sz="1600" kern="10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YS</a:t>
                      </a:r>
                      <a:endParaRPr lang="en-MY"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algn="just">
                        <a:lnSpc>
                          <a:spcPct val="150000"/>
                        </a:lnSpc>
                        <a:spcAft>
                          <a:spcPts val="800"/>
                        </a:spcAft>
                      </a:pPr>
                      <a:r>
                        <a:rPr lang="it-IT" sz="1600" kern="10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SDEC YS</a:t>
                      </a:r>
                      <a:endParaRPr lang="en-MY"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algn="just">
                        <a:lnSpc>
                          <a:spcPct val="150000"/>
                        </a:lnSpc>
                        <a:spcAft>
                          <a:spcPts val="800"/>
                        </a:spcAft>
                      </a:pPr>
                      <a:r>
                        <a:rPr lang="it-IT" sz="1600" kern="10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q</a:t>
                      </a:r>
                      <a:r>
                        <a:rPr lang="it-IT" sz="1600" kern="100" baseline="3000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2 </a:t>
                      </a:r>
                      <a:r>
                        <a:rPr lang="it-IT" sz="1600" kern="100" baseline="-2500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YS</a:t>
                      </a:r>
                      <a:endParaRPr lang="en-MY"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algn="just">
                        <a:lnSpc>
                          <a:spcPct val="150000"/>
                        </a:lnSpc>
                        <a:spcAft>
                          <a:spcPts val="800"/>
                        </a:spcAft>
                      </a:pPr>
                      <a:r>
                        <a:rPr lang="it-IT" sz="1600" kern="100" dirty="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SDEP YS</a:t>
                      </a:r>
                      <a:endParaRPr lang="en-MY" sz="20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194973956"/>
                  </a:ext>
                </a:extLst>
              </a:tr>
              <a:tr h="433578">
                <a:tc>
                  <a:txBody>
                    <a:bodyPr/>
                    <a:lstStyle/>
                    <a:p>
                      <a:pPr algn="just">
                        <a:lnSpc>
                          <a:spcPct val="150000"/>
                        </a:lnSpc>
                        <a:spcAft>
                          <a:spcPts val="800"/>
                        </a:spcAft>
                      </a:pPr>
                      <a:r>
                        <a:rPr lang="it-IT" sz="1600" kern="10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1</a:t>
                      </a:r>
                      <a:endParaRPr lang="en-MY"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600" kern="10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0.475</a:t>
                      </a:r>
                      <a:endParaRPr lang="en-MY"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just">
                        <a:lnSpc>
                          <a:spcPct val="150000"/>
                        </a:lnSpc>
                        <a:spcAft>
                          <a:spcPts val="800"/>
                        </a:spcAft>
                      </a:pPr>
                      <a:r>
                        <a:rPr lang="it-IT" sz="1600" kern="10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0.579</a:t>
                      </a:r>
                      <a:endParaRPr lang="en-MY"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just">
                        <a:lnSpc>
                          <a:spcPct val="150000"/>
                        </a:lnSpc>
                        <a:spcAft>
                          <a:spcPts val="800"/>
                        </a:spcAft>
                      </a:pPr>
                      <a:r>
                        <a:rPr lang="it-IT" sz="1600" kern="10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0.23</a:t>
                      </a:r>
                      <a:endParaRPr lang="en-MY"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just">
                        <a:lnSpc>
                          <a:spcPct val="150000"/>
                        </a:lnSpc>
                        <a:spcAft>
                          <a:spcPts val="800"/>
                        </a:spcAft>
                      </a:pPr>
                      <a:r>
                        <a:rPr lang="it-IT" sz="1600" kern="10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0.701</a:t>
                      </a:r>
                      <a:endParaRPr lang="en-MY"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just">
                        <a:lnSpc>
                          <a:spcPct val="150000"/>
                        </a:lnSpc>
                        <a:spcAft>
                          <a:spcPts val="800"/>
                        </a:spcAft>
                      </a:pPr>
                      <a:r>
                        <a:rPr lang="it-IT" sz="1600" kern="10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0.459</a:t>
                      </a:r>
                      <a:endParaRPr lang="en-MY"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just">
                        <a:lnSpc>
                          <a:spcPct val="150000"/>
                        </a:lnSpc>
                        <a:spcAft>
                          <a:spcPts val="800"/>
                        </a:spcAft>
                      </a:pPr>
                      <a:r>
                        <a:rPr lang="it-IT" sz="1600" kern="10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0.291</a:t>
                      </a:r>
                      <a:endParaRPr lang="en-MY"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just">
                        <a:lnSpc>
                          <a:spcPct val="150000"/>
                        </a:lnSpc>
                        <a:spcAft>
                          <a:spcPts val="800"/>
                        </a:spcAft>
                      </a:pPr>
                      <a:r>
                        <a:rPr lang="it-IT" sz="1600" kern="10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0.304</a:t>
                      </a:r>
                      <a:endParaRPr lang="en-MY"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just">
                        <a:lnSpc>
                          <a:spcPct val="150000"/>
                        </a:lnSpc>
                        <a:spcAft>
                          <a:spcPts val="800"/>
                        </a:spcAft>
                      </a:pPr>
                      <a:r>
                        <a:rPr lang="it-IT" sz="1600" kern="10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0.667</a:t>
                      </a:r>
                      <a:endParaRPr lang="en-MY"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just">
                        <a:lnSpc>
                          <a:spcPct val="150000"/>
                        </a:lnSpc>
                        <a:spcAft>
                          <a:spcPts val="800"/>
                        </a:spcAft>
                      </a:pPr>
                      <a:r>
                        <a:rPr lang="it-IT" sz="1600" kern="10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-0.089</a:t>
                      </a:r>
                      <a:endParaRPr lang="en-MY"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just">
                        <a:lnSpc>
                          <a:spcPct val="150000"/>
                        </a:lnSpc>
                        <a:spcAft>
                          <a:spcPts val="800"/>
                        </a:spcAft>
                      </a:pPr>
                      <a:r>
                        <a:rPr lang="it-IT" sz="1600" kern="10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0.834</a:t>
                      </a:r>
                      <a:endParaRPr lang="en-MY"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1441242121"/>
                  </a:ext>
                </a:extLst>
              </a:tr>
              <a:tr h="433578">
                <a:tc>
                  <a:txBody>
                    <a:bodyPr/>
                    <a:lstStyle/>
                    <a:p>
                      <a:pPr algn="just">
                        <a:lnSpc>
                          <a:spcPct val="150000"/>
                        </a:lnSpc>
                        <a:spcAft>
                          <a:spcPts val="800"/>
                        </a:spcAft>
                      </a:pPr>
                      <a:r>
                        <a:rPr lang="it-IT" sz="1600" kern="10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2</a:t>
                      </a:r>
                      <a:endParaRPr lang="en-MY"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600" kern="10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0.893</a:t>
                      </a:r>
                      <a:endParaRPr lang="en-MY"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just">
                        <a:lnSpc>
                          <a:spcPct val="150000"/>
                        </a:lnSpc>
                        <a:spcAft>
                          <a:spcPts val="800"/>
                        </a:spcAft>
                      </a:pPr>
                      <a:r>
                        <a:rPr lang="it-IT" sz="1600" kern="10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0.262</a:t>
                      </a:r>
                      <a:endParaRPr lang="en-MY"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just">
                        <a:lnSpc>
                          <a:spcPct val="150000"/>
                        </a:lnSpc>
                        <a:spcAft>
                          <a:spcPts val="800"/>
                        </a:spcAft>
                      </a:pPr>
                      <a:r>
                        <a:rPr lang="it-IT" sz="1600" kern="10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0.488</a:t>
                      </a:r>
                      <a:endParaRPr lang="en-MY"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just">
                        <a:lnSpc>
                          <a:spcPct val="150000"/>
                        </a:lnSpc>
                        <a:spcAft>
                          <a:spcPts val="800"/>
                        </a:spcAft>
                      </a:pPr>
                      <a:r>
                        <a:rPr lang="it-IT" sz="1600" kern="10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0.572</a:t>
                      </a:r>
                      <a:endParaRPr lang="en-MY"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just">
                        <a:lnSpc>
                          <a:spcPct val="150000"/>
                        </a:lnSpc>
                        <a:spcAft>
                          <a:spcPts val="800"/>
                        </a:spcAft>
                      </a:pPr>
                      <a:r>
                        <a:rPr lang="it-IT" sz="1600" kern="10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0.473</a:t>
                      </a:r>
                      <a:endParaRPr lang="en-MY"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just">
                        <a:lnSpc>
                          <a:spcPct val="150000"/>
                        </a:lnSpc>
                        <a:spcAft>
                          <a:spcPts val="800"/>
                        </a:spcAft>
                      </a:pPr>
                      <a:r>
                        <a:rPr lang="it-IT" sz="1600" kern="10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0.287</a:t>
                      </a:r>
                      <a:endParaRPr lang="en-MY"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just">
                        <a:lnSpc>
                          <a:spcPct val="150000"/>
                        </a:lnSpc>
                        <a:spcAft>
                          <a:spcPts val="800"/>
                        </a:spcAft>
                      </a:pPr>
                      <a:r>
                        <a:rPr lang="it-IT" sz="1600" kern="10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0.575</a:t>
                      </a:r>
                      <a:endParaRPr lang="en-MY"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just">
                        <a:lnSpc>
                          <a:spcPct val="150000"/>
                        </a:lnSpc>
                        <a:spcAft>
                          <a:spcPts val="800"/>
                        </a:spcAft>
                      </a:pPr>
                      <a:r>
                        <a:rPr lang="it-IT" sz="1600" kern="10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0.521</a:t>
                      </a:r>
                      <a:endParaRPr lang="en-MY"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just">
                        <a:lnSpc>
                          <a:spcPct val="150000"/>
                        </a:lnSpc>
                        <a:spcAft>
                          <a:spcPts val="800"/>
                        </a:spcAft>
                      </a:pPr>
                      <a:r>
                        <a:rPr lang="it-IT" sz="1600" kern="10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-0.022</a:t>
                      </a:r>
                      <a:endParaRPr lang="en-MY"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just">
                        <a:lnSpc>
                          <a:spcPct val="150000"/>
                        </a:lnSpc>
                        <a:spcAft>
                          <a:spcPts val="800"/>
                        </a:spcAft>
                      </a:pPr>
                      <a:r>
                        <a:rPr lang="it-IT" sz="1600" kern="10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0.808</a:t>
                      </a:r>
                      <a:endParaRPr lang="en-MY"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3764864649"/>
                  </a:ext>
                </a:extLst>
              </a:tr>
              <a:tr h="433578">
                <a:tc>
                  <a:txBody>
                    <a:bodyPr/>
                    <a:lstStyle/>
                    <a:p>
                      <a:pPr algn="just">
                        <a:lnSpc>
                          <a:spcPct val="150000"/>
                        </a:lnSpc>
                        <a:spcAft>
                          <a:spcPts val="800"/>
                        </a:spcAft>
                      </a:pPr>
                      <a:r>
                        <a:rPr lang="it-IT" sz="1600" kern="10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3</a:t>
                      </a:r>
                      <a:endParaRPr lang="en-MY"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600" kern="10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0.952</a:t>
                      </a:r>
                      <a:endParaRPr lang="en-MY"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just">
                        <a:lnSpc>
                          <a:spcPct val="150000"/>
                        </a:lnSpc>
                        <a:spcAft>
                          <a:spcPts val="800"/>
                        </a:spcAft>
                      </a:pPr>
                      <a:r>
                        <a:rPr lang="it-IT" sz="1600" kern="10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0.175</a:t>
                      </a:r>
                      <a:endParaRPr lang="en-MY"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just">
                        <a:lnSpc>
                          <a:spcPct val="150000"/>
                        </a:lnSpc>
                        <a:spcAft>
                          <a:spcPts val="800"/>
                        </a:spcAft>
                      </a:pPr>
                      <a:r>
                        <a:rPr lang="it-IT" sz="1600" kern="10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0.676</a:t>
                      </a:r>
                      <a:endParaRPr lang="en-MY"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just">
                        <a:lnSpc>
                          <a:spcPct val="150000"/>
                        </a:lnSpc>
                        <a:spcAft>
                          <a:spcPts val="800"/>
                        </a:spcAft>
                      </a:pPr>
                      <a:r>
                        <a:rPr lang="it-IT" sz="1600" kern="100" dirty="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0.455</a:t>
                      </a:r>
                      <a:endParaRPr lang="en-MY" sz="20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just">
                        <a:lnSpc>
                          <a:spcPct val="150000"/>
                        </a:lnSpc>
                        <a:spcAft>
                          <a:spcPts val="800"/>
                        </a:spcAft>
                      </a:pPr>
                      <a:r>
                        <a:rPr lang="it-IT" sz="1600" kern="10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0.16</a:t>
                      </a:r>
                      <a:endParaRPr lang="en-MY"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just">
                        <a:lnSpc>
                          <a:spcPct val="150000"/>
                        </a:lnSpc>
                        <a:spcAft>
                          <a:spcPts val="800"/>
                        </a:spcAft>
                      </a:pPr>
                      <a:r>
                        <a:rPr lang="it-IT" sz="1600" kern="10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0.362</a:t>
                      </a:r>
                      <a:endParaRPr lang="en-MY"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just">
                        <a:lnSpc>
                          <a:spcPct val="150000"/>
                        </a:lnSpc>
                        <a:spcAft>
                          <a:spcPts val="800"/>
                        </a:spcAft>
                      </a:pPr>
                      <a:r>
                        <a:rPr lang="it-IT" sz="1600" kern="10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0.811</a:t>
                      </a:r>
                      <a:endParaRPr lang="en-MY"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just">
                        <a:lnSpc>
                          <a:spcPct val="150000"/>
                        </a:lnSpc>
                        <a:spcAft>
                          <a:spcPts val="800"/>
                        </a:spcAft>
                      </a:pPr>
                      <a:r>
                        <a:rPr lang="it-IT" sz="1600" kern="10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0.348</a:t>
                      </a:r>
                      <a:endParaRPr lang="en-MY"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just">
                        <a:lnSpc>
                          <a:spcPct val="150000"/>
                        </a:lnSpc>
                        <a:spcAft>
                          <a:spcPts val="800"/>
                        </a:spcAft>
                      </a:pPr>
                      <a:r>
                        <a:rPr lang="it-IT" sz="1600" kern="10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0.062</a:t>
                      </a:r>
                      <a:endParaRPr lang="en-MY"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just">
                        <a:lnSpc>
                          <a:spcPct val="150000"/>
                        </a:lnSpc>
                        <a:spcAft>
                          <a:spcPts val="800"/>
                        </a:spcAft>
                      </a:pPr>
                      <a:r>
                        <a:rPr lang="it-IT" sz="1600" kern="10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0.774</a:t>
                      </a:r>
                      <a:endParaRPr lang="en-MY"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2291782040"/>
                  </a:ext>
                </a:extLst>
              </a:tr>
              <a:tr h="433578">
                <a:tc>
                  <a:txBody>
                    <a:bodyPr/>
                    <a:lstStyle/>
                    <a:p>
                      <a:pPr algn="just">
                        <a:lnSpc>
                          <a:spcPct val="150000"/>
                        </a:lnSpc>
                        <a:spcAft>
                          <a:spcPts val="800"/>
                        </a:spcAft>
                      </a:pPr>
                      <a:r>
                        <a:rPr lang="it-IT" sz="1600" kern="10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4</a:t>
                      </a:r>
                      <a:endParaRPr lang="en-MY"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600" kern="10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0.97</a:t>
                      </a:r>
                      <a:endParaRPr lang="en-MY"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just">
                        <a:lnSpc>
                          <a:spcPct val="150000"/>
                        </a:lnSpc>
                        <a:spcAft>
                          <a:spcPts val="800"/>
                        </a:spcAft>
                      </a:pPr>
                      <a:r>
                        <a:rPr lang="it-IT" sz="1600" kern="10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0.137</a:t>
                      </a:r>
                      <a:endParaRPr lang="en-MY"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just">
                        <a:lnSpc>
                          <a:spcPct val="150000"/>
                        </a:lnSpc>
                        <a:spcAft>
                          <a:spcPts val="800"/>
                        </a:spcAft>
                      </a:pPr>
                      <a:r>
                        <a:rPr lang="it-IT" sz="1600" kern="10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0.699</a:t>
                      </a:r>
                      <a:endParaRPr lang="en-MY"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just">
                        <a:lnSpc>
                          <a:spcPct val="150000"/>
                        </a:lnSpc>
                        <a:spcAft>
                          <a:spcPts val="800"/>
                        </a:spcAft>
                      </a:pPr>
                      <a:r>
                        <a:rPr lang="it-IT" sz="1600" kern="10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0.438</a:t>
                      </a:r>
                      <a:endParaRPr lang="en-MY"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just">
                        <a:lnSpc>
                          <a:spcPct val="150000"/>
                        </a:lnSpc>
                        <a:spcAft>
                          <a:spcPts val="800"/>
                        </a:spcAft>
                      </a:pPr>
                      <a:r>
                        <a:rPr lang="it-IT" sz="1600" kern="10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0.182</a:t>
                      </a:r>
                      <a:endParaRPr lang="en-MY"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just">
                        <a:lnSpc>
                          <a:spcPct val="150000"/>
                        </a:lnSpc>
                        <a:spcAft>
                          <a:spcPts val="800"/>
                        </a:spcAft>
                      </a:pPr>
                      <a:r>
                        <a:rPr lang="it-IT" sz="1600" kern="10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0.358</a:t>
                      </a:r>
                      <a:endParaRPr lang="en-MY"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just">
                        <a:lnSpc>
                          <a:spcPct val="150000"/>
                        </a:lnSpc>
                        <a:spcAft>
                          <a:spcPts val="800"/>
                        </a:spcAft>
                      </a:pPr>
                      <a:r>
                        <a:rPr lang="it-IT" sz="1600" kern="10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0.889</a:t>
                      </a:r>
                      <a:endParaRPr lang="en-MY"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just">
                        <a:lnSpc>
                          <a:spcPct val="150000"/>
                        </a:lnSpc>
                        <a:spcAft>
                          <a:spcPts val="800"/>
                        </a:spcAft>
                      </a:pPr>
                      <a:r>
                        <a:rPr lang="it-IT" sz="1600" kern="10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0.266</a:t>
                      </a:r>
                      <a:endParaRPr lang="en-MY"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just">
                        <a:lnSpc>
                          <a:spcPct val="150000"/>
                        </a:lnSpc>
                        <a:spcAft>
                          <a:spcPts val="800"/>
                        </a:spcAft>
                      </a:pPr>
                      <a:r>
                        <a:rPr lang="it-IT" sz="1600" kern="10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-0.109</a:t>
                      </a:r>
                      <a:endParaRPr lang="en-MY"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just">
                        <a:lnSpc>
                          <a:spcPct val="150000"/>
                        </a:lnSpc>
                        <a:spcAft>
                          <a:spcPts val="800"/>
                        </a:spcAft>
                      </a:pPr>
                      <a:r>
                        <a:rPr lang="it-IT" sz="1600" kern="10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0.842</a:t>
                      </a:r>
                      <a:endParaRPr lang="en-MY"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2884799320"/>
                  </a:ext>
                </a:extLst>
              </a:tr>
              <a:tr h="433578">
                <a:tc>
                  <a:txBody>
                    <a:bodyPr/>
                    <a:lstStyle/>
                    <a:p>
                      <a:pPr algn="just">
                        <a:lnSpc>
                          <a:spcPct val="150000"/>
                        </a:lnSpc>
                        <a:spcAft>
                          <a:spcPts val="800"/>
                        </a:spcAft>
                      </a:pPr>
                      <a:r>
                        <a:rPr lang="it-IT" sz="1600" kern="10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5</a:t>
                      </a:r>
                      <a:endParaRPr lang="en-MY"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600" kern="10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0.983</a:t>
                      </a:r>
                      <a:endParaRPr lang="en-MY"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just">
                        <a:lnSpc>
                          <a:spcPct val="150000"/>
                        </a:lnSpc>
                        <a:spcAft>
                          <a:spcPts val="800"/>
                        </a:spcAft>
                      </a:pPr>
                      <a:r>
                        <a:rPr lang="it-IT" sz="1600" kern="10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0.103</a:t>
                      </a:r>
                      <a:endParaRPr lang="en-MY"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just">
                        <a:lnSpc>
                          <a:spcPct val="150000"/>
                        </a:lnSpc>
                        <a:spcAft>
                          <a:spcPts val="800"/>
                        </a:spcAft>
                      </a:pPr>
                      <a:r>
                        <a:rPr lang="it-IT" sz="1600" kern="10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0.724</a:t>
                      </a:r>
                      <a:endParaRPr lang="en-MY"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just">
                        <a:lnSpc>
                          <a:spcPct val="150000"/>
                        </a:lnSpc>
                        <a:spcAft>
                          <a:spcPts val="800"/>
                        </a:spcAft>
                      </a:pPr>
                      <a:r>
                        <a:rPr lang="it-IT" sz="1600" kern="10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0.42</a:t>
                      </a:r>
                      <a:endParaRPr lang="en-MY"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just">
                        <a:lnSpc>
                          <a:spcPct val="150000"/>
                        </a:lnSpc>
                        <a:spcAft>
                          <a:spcPts val="800"/>
                        </a:spcAft>
                      </a:pPr>
                      <a:r>
                        <a:rPr lang="it-IT" sz="1600" kern="10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0.249</a:t>
                      </a:r>
                      <a:endParaRPr lang="en-MY"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just">
                        <a:lnSpc>
                          <a:spcPct val="150000"/>
                        </a:lnSpc>
                        <a:spcAft>
                          <a:spcPts val="800"/>
                        </a:spcAft>
                      </a:pPr>
                      <a:r>
                        <a:rPr lang="it-IT" sz="1600" kern="10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0.342</a:t>
                      </a:r>
                      <a:endParaRPr lang="en-MY"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just">
                        <a:lnSpc>
                          <a:spcPct val="150000"/>
                        </a:lnSpc>
                        <a:spcAft>
                          <a:spcPts val="800"/>
                        </a:spcAft>
                      </a:pPr>
                      <a:r>
                        <a:rPr lang="it-IT" sz="1600" kern="10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0.958</a:t>
                      </a:r>
                      <a:endParaRPr lang="en-MY"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just">
                        <a:lnSpc>
                          <a:spcPct val="150000"/>
                        </a:lnSpc>
                        <a:spcAft>
                          <a:spcPts val="800"/>
                        </a:spcAft>
                      </a:pPr>
                      <a:r>
                        <a:rPr lang="it-IT" sz="1600" kern="10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0.163</a:t>
                      </a:r>
                      <a:endParaRPr lang="en-MY"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just">
                        <a:lnSpc>
                          <a:spcPct val="150000"/>
                        </a:lnSpc>
                        <a:spcAft>
                          <a:spcPts val="800"/>
                        </a:spcAft>
                      </a:pPr>
                      <a:r>
                        <a:rPr lang="it-IT" sz="1600" kern="10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0.071</a:t>
                      </a:r>
                      <a:endParaRPr lang="en-MY"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just">
                        <a:lnSpc>
                          <a:spcPct val="150000"/>
                        </a:lnSpc>
                        <a:spcAft>
                          <a:spcPts val="800"/>
                        </a:spcAft>
                      </a:pPr>
                      <a:r>
                        <a:rPr lang="it-IT" sz="1600" kern="10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0.77</a:t>
                      </a:r>
                      <a:endParaRPr lang="en-MY"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734727649"/>
                  </a:ext>
                </a:extLst>
              </a:tr>
              <a:tr h="433578">
                <a:tc>
                  <a:txBody>
                    <a:bodyPr/>
                    <a:lstStyle/>
                    <a:p>
                      <a:pPr algn="just">
                        <a:lnSpc>
                          <a:spcPct val="150000"/>
                        </a:lnSpc>
                        <a:spcAft>
                          <a:spcPts val="800"/>
                        </a:spcAft>
                      </a:pPr>
                      <a:r>
                        <a:rPr lang="it-IT" sz="1600" kern="10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6</a:t>
                      </a:r>
                      <a:endParaRPr lang="en-MY"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600" kern="10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0.992</a:t>
                      </a:r>
                      <a:endParaRPr lang="en-MY"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just">
                        <a:lnSpc>
                          <a:spcPct val="150000"/>
                        </a:lnSpc>
                        <a:spcAft>
                          <a:spcPts val="800"/>
                        </a:spcAft>
                      </a:pPr>
                      <a:r>
                        <a:rPr lang="it-IT" sz="1600" kern="10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0.072</a:t>
                      </a:r>
                      <a:endParaRPr lang="en-MY"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just">
                        <a:lnSpc>
                          <a:spcPct val="150000"/>
                        </a:lnSpc>
                        <a:spcAft>
                          <a:spcPts val="800"/>
                        </a:spcAft>
                      </a:pPr>
                      <a:r>
                        <a:rPr lang="it-IT" sz="1600" kern="10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0.732</a:t>
                      </a:r>
                      <a:endParaRPr lang="en-MY"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just">
                        <a:lnSpc>
                          <a:spcPct val="150000"/>
                        </a:lnSpc>
                        <a:spcAft>
                          <a:spcPts val="800"/>
                        </a:spcAft>
                      </a:pPr>
                      <a:r>
                        <a:rPr lang="it-IT" sz="1600" kern="10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0.413</a:t>
                      </a:r>
                      <a:endParaRPr lang="en-MY"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just">
                        <a:lnSpc>
                          <a:spcPct val="150000"/>
                        </a:lnSpc>
                        <a:spcAft>
                          <a:spcPts val="800"/>
                        </a:spcAft>
                      </a:pPr>
                      <a:r>
                        <a:rPr lang="it-IT" sz="1600" kern="10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0.377</a:t>
                      </a:r>
                      <a:endParaRPr lang="en-MY"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just">
                        <a:lnSpc>
                          <a:spcPct val="150000"/>
                        </a:lnSpc>
                        <a:spcAft>
                          <a:spcPts val="800"/>
                        </a:spcAft>
                      </a:pPr>
                      <a:r>
                        <a:rPr lang="it-IT" sz="1600" kern="10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0.312</a:t>
                      </a:r>
                      <a:endParaRPr lang="en-MY"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just">
                        <a:lnSpc>
                          <a:spcPct val="150000"/>
                        </a:lnSpc>
                        <a:spcAft>
                          <a:spcPts val="800"/>
                        </a:spcAft>
                      </a:pPr>
                      <a:r>
                        <a:rPr lang="it-IT" sz="1600" kern="10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0.967</a:t>
                      </a:r>
                      <a:endParaRPr lang="en-MY"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just">
                        <a:lnSpc>
                          <a:spcPct val="150000"/>
                        </a:lnSpc>
                        <a:spcAft>
                          <a:spcPts val="800"/>
                        </a:spcAft>
                      </a:pPr>
                      <a:r>
                        <a:rPr lang="it-IT" sz="1600" kern="10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0.145</a:t>
                      </a:r>
                      <a:endParaRPr lang="en-MY"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just">
                        <a:lnSpc>
                          <a:spcPct val="150000"/>
                        </a:lnSpc>
                        <a:spcAft>
                          <a:spcPts val="800"/>
                        </a:spcAft>
                      </a:pPr>
                      <a:r>
                        <a:rPr lang="it-IT" sz="1600" kern="10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-0.238</a:t>
                      </a:r>
                      <a:endParaRPr lang="en-MY"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just">
                        <a:lnSpc>
                          <a:spcPct val="150000"/>
                        </a:lnSpc>
                        <a:spcAft>
                          <a:spcPts val="800"/>
                        </a:spcAft>
                      </a:pPr>
                      <a:r>
                        <a:rPr lang="it-IT" sz="1600" kern="10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0.889</a:t>
                      </a:r>
                      <a:endParaRPr lang="en-MY"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2890757574"/>
                  </a:ext>
                </a:extLst>
              </a:tr>
              <a:tr h="433578">
                <a:tc>
                  <a:txBody>
                    <a:bodyPr/>
                    <a:lstStyle/>
                    <a:p>
                      <a:pPr algn="just">
                        <a:lnSpc>
                          <a:spcPct val="150000"/>
                        </a:lnSpc>
                        <a:spcAft>
                          <a:spcPts val="800"/>
                        </a:spcAft>
                      </a:pPr>
                      <a:r>
                        <a:rPr lang="it-IT" sz="1600" b="1" kern="10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7*</a:t>
                      </a:r>
                      <a:endParaRPr lang="en-MY"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600" b="1" kern="10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0.996</a:t>
                      </a:r>
                      <a:endParaRPr lang="en-MY"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just">
                        <a:lnSpc>
                          <a:spcPct val="150000"/>
                        </a:lnSpc>
                        <a:spcAft>
                          <a:spcPts val="800"/>
                        </a:spcAft>
                      </a:pPr>
                      <a:r>
                        <a:rPr lang="it-IT" sz="1600" b="1" kern="10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0.051</a:t>
                      </a:r>
                      <a:endParaRPr lang="en-MY"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just">
                        <a:lnSpc>
                          <a:spcPct val="150000"/>
                        </a:lnSpc>
                        <a:spcAft>
                          <a:spcPts val="800"/>
                        </a:spcAft>
                      </a:pPr>
                      <a:r>
                        <a:rPr lang="it-IT" sz="1600" b="1" kern="10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0.744</a:t>
                      </a:r>
                      <a:endParaRPr lang="en-MY"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just">
                        <a:lnSpc>
                          <a:spcPct val="150000"/>
                        </a:lnSpc>
                        <a:spcAft>
                          <a:spcPts val="800"/>
                        </a:spcAft>
                      </a:pPr>
                      <a:r>
                        <a:rPr lang="it-IT" sz="1600" b="1" kern="10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0.405</a:t>
                      </a:r>
                      <a:endParaRPr lang="en-MY"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just">
                        <a:lnSpc>
                          <a:spcPct val="150000"/>
                        </a:lnSpc>
                        <a:spcAft>
                          <a:spcPts val="800"/>
                        </a:spcAft>
                      </a:pPr>
                      <a:r>
                        <a:rPr lang="it-IT" sz="1600" b="1" kern="10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0.497</a:t>
                      </a:r>
                      <a:endParaRPr lang="en-MY"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just">
                        <a:lnSpc>
                          <a:spcPct val="150000"/>
                        </a:lnSpc>
                        <a:spcAft>
                          <a:spcPts val="800"/>
                        </a:spcAft>
                      </a:pPr>
                      <a:r>
                        <a:rPr lang="it-IT" sz="1600" b="1" kern="10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0.28</a:t>
                      </a:r>
                      <a:endParaRPr lang="en-MY"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just">
                        <a:lnSpc>
                          <a:spcPct val="150000"/>
                        </a:lnSpc>
                        <a:spcAft>
                          <a:spcPts val="800"/>
                        </a:spcAft>
                      </a:pPr>
                      <a:r>
                        <a:rPr lang="it-IT" sz="1600" b="1" kern="10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0.996</a:t>
                      </a:r>
                      <a:endParaRPr lang="en-MY"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just">
                        <a:lnSpc>
                          <a:spcPct val="150000"/>
                        </a:lnSpc>
                        <a:spcAft>
                          <a:spcPts val="800"/>
                        </a:spcAft>
                      </a:pPr>
                      <a:r>
                        <a:rPr lang="it-IT" sz="1600" b="1" kern="10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0.048</a:t>
                      </a:r>
                      <a:endParaRPr lang="en-MY"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just">
                        <a:lnSpc>
                          <a:spcPct val="150000"/>
                        </a:lnSpc>
                        <a:spcAft>
                          <a:spcPts val="800"/>
                        </a:spcAft>
                      </a:pPr>
                      <a:r>
                        <a:rPr lang="it-IT" sz="1600" b="1" kern="10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0.11</a:t>
                      </a:r>
                      <a:endParaRPr lang="en-MY"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just">
                        <a:lnSpc>
                          <a:spcPct val="150000"/>
                        </a:lnSpc>
                        <a:spcAft>
                          <a:spcPts val="800"/>
                        </a:spcAft>
                      </a:pPr>
                      <a:r>
                        <a:rPr lang="it-IT" sz="1600" b="1" kern="10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0.754</a:t>
                      </a:r>
                      <a:endParaRPr lang="en-MY"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3497583956"/>
                  </a:ext>
                </a:extLst>
              </a:tr>
              <a:tr h="433578">
                <a:tc>
                  <a:txBody>
                    <a:bodyPr/>
                    <a:lstStyle/>
                    <a:p>
                      <a:pPr algn="just">
                        <a:lnSpc>
                          <a:spcPct val="150000"/>
                        </a:lnSpc>
                        <a:spcAft>
                          <a:spcPts val="800"/>
                        </a:spcAft>
                      </a:pPr>
                      <a:r>
                        <a:rPr lang="it-IT" sz="1600" kern="10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8</a:t>
                      </a:r>
                      <a:endParaRPr lang="en-MY"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600" kern="10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0.998</a:t>
                      </a:r>
                      <a:endParaRPr lang="en-MY"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just">
                        <a:lnSpc>
                          <a:spcPct val="150000"/>
                        </a:lnSpc>
                        <a:spcAft>
                          <a:spcPts val="800"/>
                        </a:spcAft>
                      </a:pPr>
                      <a:r>
                        <a:rPr lang="it-IT" sz="1600" kern="10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0.037</a:t>
                      </a:r>
                      <a:endParaRPr lang="en-MY"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just">
                        <a:lnSpc>
                          <a:spcPct val="150000"/>
                        </a:lnSpc>
                        <a:spcAft>
                          <a:spcPts val="800"/>
                        </a:spcAft>
                      </a:pPr>
                      <a:r>
                        <a:rPr lang="it-IT" sz="1600" kern="10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0.746</a:t>
                      </a:r>
                      <a:endParaRPr lang="en-MY"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just">
                        <a:lnSpc>
                          <a:spcPct val="150000"/>
                        </a:lnSpc>
                        <a:spcAft>
                          <a:spcPts val="800"/>
                        </a:spcAft>
                      </a:pPr>
                      <a:r>
                        <a:rPr lang="it-IT" sz="1600" kern="10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0.403</a:t>
                      </a:r>
                      <a:endParaRPr lang="en-MY"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just">
                        <a:lnSpc>
                          <a:spcPct val="150000"/>
                        </a:lnSpc>
                        <a:spcAft>
                          <a:spcPts val="800"/>
                        </a:spcAft>
                      </a:pPr>
                      <a:r>
                        <a:rPr lang="it-IT" sz="1600" kern="10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0.539</a:t>
                      </a:r>
                      <a:endParaRPr lang="en-MY"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just">
                        <a:lnSpc>
                          <a:spcPct val="150000"/>
                        </a:lnSpc>
                        <a:spcAft>
                          <a:spcPts val="800"/>
                        </a:spcAft>
                      </a:pPr>
                      <a:r>
                        <a:rPr lang="it-IT" sz="1600" kern="10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0.268</a:t>
                      </a:r>
                      <a:endParaRPr lang="en-MY"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just">
                        <a:lnSpc>
                          <a:spcPct val="150000"/>
                        </a:lnSpc>
                        <a:spcAft>
                          <a:spcPts val="800"/>
                        </a:spcAft>
                      </a:pPr>
                      <a:r>
                        <a:rPr lang="it-IT" sz="1600" kern="10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0.994</a:t>
                      </a:r>
                      <a:endParaRPr lang="en-MY"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just">
                        <a:lnSpc>
                          <a:spcPct val="150000"/>
                        </a:lnSpc>
                        <a:spcAft>
                          <a:spcPts val="800"/>
                        </a:spcAft>
                      </a:pPr>
                      <a:r>
                        <a:rPr lang="it-IT" sz="1600" kern="10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0.06</a:t>
                      </a:r>
                      <a:endParaRPr lang="en-MY"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just">
                        <a:lnSpc>
                          <a:spcPct val="150000"/>
                        </a:lnSpc>
                        <a:spcAft>
                          <a:spcPts val="800"/>
                        </a:spcAft>
                      </a:pPr>
                      <a:r>
                        <a:rPr lang="it-IT" sz="1600" kern="10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0.067</a:t>
                      </a:r>
                      <a:endParaRPr lang="en-MY"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just">
                        <a:lnSpc>
                          <a:spcPct val="150000"/>
                        </a:lnSpc>
                        <a:spcAft>
                          <a:spcPts val="800"/>
                        </a:spcAft>
                      </a:pPr>
                      <a:r>
                        <a:rPr lang="it-IT" sz="1600" kern="100" dirty="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0.772</a:t>
                      </a:r>
                      <a:endParaRPr lang="en-MY" sz="20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682383479"/>
                  </a:ext>
                </a:extLst>
              </a:tr>
            </a:tbl>
          </a:graphicData>
        </a:graphic>
      </p:graphicFrame>
      <p:sp>
        <p:nvSpPr>
          <p:cNvPr id="6" name="TextBox 5">
            <a:extLst>
              <a:ext uri="{FF2B5EF4-FFF2-40B4-BE49-F238E27FC236}">
                <a16:creationId xmlns:a16="http://schemas.microsoft.com/office/drawing/2014/main" id="{5326E442-7516-C63E-7C58-844DCFEE0EE3}"/>
              </a:ext>
            </a:extLst>
          </p:cNvPr>
          <p:cNvSpPr txBox="1"/>
          <p:nvPr/>
        </p:nvSpPr>
        <p:spPr>
          <a:xfrm>
            <a:off x="1328792" y="5257144"/>
            <a:ext cx="8261200" cy="983795"/>
          </a:xfrm>
          <a:prstGeom prst="rect">
            <a:avLst/>
          </a:prstGeom>
          <a:noFill/>
        </p:spPr>
        <p:txBody>
          <a:bodyPr wrap="square">
            <a:spAutoFit/>
          </a:bodyPr>
          <a:lstStyle/>
          <a:p>
            <a:pPr algn="just">
              <a:lnSpc>
                <a:spcPct val="150000"/>
              </a:lnSpc>
              <a:spcAft>
                <a:spcPts val="800"/>
              </a:spcAft>
            </a:pPr>
            <a:r>
              <a:rPr lang="en-US" sz="1800" dirty="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 = optimal PC</a:t>
            </a:r>
            <a:endParaRPr lang="en-MY" sz="1800" dirty="0">
              <a:effectLst/>
              <a:latin typeface="Aptos" panose="020B0004020202020204" pitchFamily="34" charset="0"/>
              <a:ea typeface="Aptos" panose="020B0004020202020204" pitchFamily="34" charset="0"/>
              <a:cs typeface="Times New Roman" panose="02020603050405020304" pitchFamily="18" charset="0"/>
            </a:endParaRPr>
          </a:p>
          <a:p>
            <a:pPr algn="ctr">
              <a:lnSpc>
                <a:spcPct val="150000"/>
              </a:lnSpc>
              <a:spcAft>
                <a:spcPts val="800"/>
              </a:spcAft>
            </a:pPr>
            <a:r>
              <a:rPr lang="en-US" sz="1800" dirty="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Table 2: Statistical result for DAT dataset model (COMBINED model field)</a:t>
            </a:r>
            <a:endParaRPr lang="en-MY" sz="1800" dirty="0">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16643799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B3685E-9275-CF4E-BB0D-AAA078BD6A33}"/>
              </a:ext>
            </a:extLst>
          </p:cNvPr>
          <p:cNvSpPr>
            <a:spLocks noGrp="1"/>
          </p:cNvSpPr>
          <p:nvPr>
            <p:ph type="title"/>
          </p:nvPr>
        </p:nvSpPr>
        <p:spPr/>
        <p:txBody>
          <a:bodyPr/>
          <a:lstStyle/>
          <a:p>
            <a:endParaRPr lang="en-MY"/>
          </a:p>
        </p:txBody>
      </p:sp>
      <p:sp>
        <p:nvSpPr>
          <p:cNvPr id="3" name="Content Placeholder 2">
            <a:extLst>
              <a:ext uri="{FF2B5EF4-FFF2-40B4-BE49-F238E27FC236}">
                <a16:creationId xmlns:a16="http://schemas.microsoft.com/office/drawing/2014/main" id="{9B8D7D42-935E-DC79-6739-9088BA20F692}"/>
              </a:ext>
            </a:extLst>
          </p:cNvPr>
          <p:cNvSpPr>
            <a:spLocks noGrp="1"/>
          </p:cNvSpPr>
          <p:nvPr>
            <p:ph idx="1"/>
          </p:nvPr>
        </p:nvSpPr>
        <p:spPr/>
        <p:txBody>
          <a:bodyPr>
            <a:normAutofit/>
          </a:bodyPr>
          <a:lstStyle/>
          <a:p>
            <a:r>
              <a:rPr lang="en-US" sz="2400" dirty="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From the result above, we can see that the PC8 has the highest value of both r</a:t>
            </a:r>
            <a:r>
              <a:rPr lang="en-US" sz="2400" baseline="30000" dirty="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2</a:t>
            </a:r>
            <a:r>
              <a:rPr lang="en-US" sz="2400" dirty="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 and the q</a:t>
            </a:r>
            <a:r>
              <a:rPr lang="en-US" sz="2400" baseline="30000" dirty="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2</a:t>
            </a:r>
            <a:r>
              <a:rPr lang="en-US" sz="2400" dirty="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 CV value, and SDEC value is the lowest.  The model also gives us the optimal PC combined is 7, which is good enough and close to the PC8. From the data in table above, we can also obtain its plot as below to better visualize. </a:t>
            </a:r>
            <a:endParaRPr lang="en-MY" sz="2400" dirty="0">
              <a:effectLst/>
              <a:latin typeface="Aptos" panose="020B0004020202020204" pitchFamily="34" charset="0"/>
              <a:ea typeface="Aptos" panose="020B0004020202020204" pitchFamily="34" charset="0"/>
              <a:cs typeface="Times New Roman" panose="02020603050405020304" pitchFamily="18" charset="0"/>
            </a:endParaRPr>
          </a:p>
          <a:p>
            <a:endParaRPr lang="en-MY" sz="2800" dirty="0"/>
          </a:p>
        </p:txBody>
      </p:sp>
    </p:spTree>
    <p:extLst>
      <p:ext uri="{BB962C8B-B14F-4D97-AF65-F5344CB8AC3E}">
        <p14:creationId xmlns:p14="http://schemas.microsoft.com/office/powerpoint/2010/main" val="52746484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EE0DEB-8D37-DC52-3EF1-5912F2A5F3BD}"/>
              </a:ext>
            </a:extLst>
          </p:cNvPr>
          <p:cNvSpPr>
            <a:spLocks noGrp="1"/>
          </p:cNvSpPr>
          <p:nvPr>
            <p:ph type="title"/>
          </p:nvPr>
        </p:nvSpPr>
        <p:spPr/>
        <p:txBody>
          <a:bodyPr/>
          <a:lstStyle/>
          <a:p>
            <a:endParaRPr lang="en-MY"/>
          </a:p>
        </p:txBody>
      </p:sp>
      <p:pic>
        <p:nvPicPr>
          <p:cNvPr id="6" name="Content Placeholder 5">
            <a:extLst>
              <a:ext uri="{FF2B5EF4-FFF2-40B4-BE49-F238E27FC236}">
                <a16:creationId xmlns:a16="http://schemas.microsoft.com/office/drawing/2014/main" id="{2113EDBD-5E0F-065D-9082-372B48424007}"/>
              </a:ext>
            </a:extLst>
          </p:cNvPr>
          <p:cNvPicPr>
            <a:picLocks noGrp="1" noChangeAspect="1"/>
          </p:cNvPicPr>
          <p:nvPr>
            <p:ph idx="1"/>
          </p:nvPr>
        </p:nvPicPr>
        <p:blipFill>
          <a:blip r:embed="rId2"/>
          <a:stretch>
            <a:fillRect/>
          </a:stretch>
        </p:blipFill>
        <p:spPr>
          <a:xfrm>
            <a:off x="-1319514" y="1027905"/>
            <a:ext cx="8266447" cy="5179105"/>
          </a:xfrm>
          <a:prstGeom prst="rect">
            <a:avLst/>
          </a:prstGeom>
        </p:spPr>
      </p:pic>
      <p:pic>
        <p:nvPicPr>
          <p:cNvPr id="7" name="Picture 6">
            <a:extLst>
              <a:ext uri="{FF2B5EF4-FFF2-40B4-BE49-F238E27FC236}">
                <a16:creationId xmlns:a16="http://schemas.microsoft.com/office/drawing/2014/main" id="{6B708C2F-9038-F7E3-25CC-AA935DFA1A61}"/>
              </a:ext>
            </a:extLst>
          </p:cNvPr>
          <p:cNvPicPr>
            <a:picLocks noChangeAspect="1"/>
          </p:cNvPicPr>
          <p:nvPr/>
        </p:nvPicPr>
        <p:blipFill>
          <a:blip r:embed="rId3"/>
          <a:stretch>
            <a:fillRect/>
          </a:stretch>
        </p:blipFill>
        <p:spPr>
          <a:xfrm>
            <a:off x="4413071" y="1027905"/>
            <a:ext cx="8420759" cy="5179105"/>
          </a:xfrm>
          <a:prstGeom prst="rect">
            <a:avLst/>
          </a:prstGeom>
        </p:spPr>
      </p:pic>
    </p:spTree>
    <p:extLst>
      <p:ext uri="{BB962C8B-B14F-4D97-AF65-F5344CB8AC3E}">
        <p14:creationId xmlns:p14="http://schemas.microsoft.com/office/powerpoint/2010/main" val="90181883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0C447D-87E8-D566-7FD9-1A9069263004}"/>
              </a:ext>
            </a:extLst>
          </p:cNvPr>
          <p:cNvSpPr>
            <a:spLocks noGrp="1"/>
          </p:cNvSpPr>
          <p:nvPr>
            <p:ph type="title"/>
          </p:nvPr>
        </p:nvSpPr>
        <p:spPr/>
        <p:txBody>
          <a:bodyPr/>
          <a:lstStyle/>
          <a:p>
            <a:r>
              <a:rPr lang="en-MY" dirty="0"/>
              <a:t>Exp /</a:t>
            </a:r>
            <a:r>
              <a:rPr lang="en-MY" dirty="0" err="1"/>
              <a:t>Recalcd</a:t>
            </a:r>
            <a:r>
              <a:rPr lang="en-MY" dirty="0"/>
              <a:t> / Pred Activities</a:t>
            </a:r>
          </a:p>
        </p:txBody>
      </p:sp>
      <p:pic>
        <p:nvPicPr>
          <p:cNvPr id="4" name="Content Placeholder 3">
            <a:extLst>
              <a:ext uri="{FF2B5EF4-FFF2-40B4-BE49-F238E27FC236}">
                <a16:creationId xmlns:a16="http://schemas.microsoft.com/office/drawing/2014/main" id="{647D4CB3-08BE-E10A-693B-36F616EF3CED}"/>
              </a:ext>
            </a:extLst>
          </p:cNvPr>
          <p:cNvPicPr>
            <a:picLocks noGrp="1" noChangeAspect="1"/>
          </p:cNvPicPr>
          <p:nvPr>
            <p:ph idx="1"/>
          </p:nvPr>
        </p:nvPicPr>
        <p:blipFill>
          <a:blip r:embed="rId3"/>
          <a:stretch>
            <a:fillRect/>
          </a:stretch>
        </p:blipFill>
        <p:spPr>
          <a:xfrm>
            <a:off x="1036320" y="833985"/>
            <a:ext cx="9456567" cy="5544291"/>
          </a:xfrm>
          <a:prstGeom prst="rect">
            <a:avLst/>
          </a:prstGeom>
        </p:spPr>
      </p:pic>
    </p:spTree>
    <p:extLst>
      <p:ext uri="{BB962C8B-B14F-4D97-AF65-F5344CB8AC3E}">
        <p14:creationId xmlns:p14="http://schemas.microsoft.com/office/powerpoint/2010/main" val="426886614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F8CACAA9-A75D-67A9-0679-21284953A2C8}"/>
              </a:ext>
            </a:extLst>
          </p:cNvPr>
          <p:cNvGraphicFramePr>
            <a:graphicFrameLocks noGrp="1"/>
          </p:cNvGraphicFramePr>
          <p:nvPr>
            <p:ph idx="1"/>
            <p:extLst>
              <p:ext uri="{D42A27DB-BD31-4B8C-83A1-F6EECF244321}">
                <p14:modId xmlns:p14="http://schemas.microsoft.com/office/powerpoint/2010/main" val="2874770509"/>
              </p:ext>
            </p:extLst>
          </p:nvPr>
        </p:nvGraphicFramePr>
        <p:xfrm>
          <a:off x="1944547" y="393540"/>
          <a:ext cx="8218023" cy="5518717"/>
        </p:xfrm>
        <a:graphic>
          <a:graphicData uri="http://schemas.openxmlformats.org/drawingml/2006/table">
            <a:tbl>
              <a:tblPr firstRow="1" firstCol="1" bandRow="1"/>
              <a:tblGrid>
                <a:gridCol w="903700">
                  <a:extLst>
                    <a:ext uri="{9D8B030D-6E8A-4147-A177-3AD203B41FA5}">
                      <a16:colId xmlns:a16="http://schemas.microsoft.com/office/drawing/2014/main" val="184665994"/>
                    </a:ext>
                  </a:extLst>
                </a:gridCol>
                <a:gridCol w="903700">
                  <a:extLst>
                    <a:ext uri="{9D8B030D-6E8A-4147-A177-3AD203B41FA5}">
                      <a16:colId xmlns:a16="http://schemas.microsoft.com/office/drawing/2014/main" val="1643152215"/>
                    </a:ext>
                  </a:extLst>
                </a:gridCol>
                <a:gridCol w="903700">
                  <a:extLst>
                    <a:ext uri="{9D8B030D-6E8A-4147-A177-3AD203B41FA5}">
                      <a16:colId xmlns:a16="http://schemas.microsoft.com/office/drawing/2014/main" val="1158611795"/>
                    </a:ext>
                  </a:extLst>
                </a:gridCol>
                <a:gridCol w="903700">
                  <a:extLst>
                    <a:ext uri="{9D8B030D-6E8A-4147-A177-3AD203B41FA5}">
                      <a16:colId xmlns:a16="http://schemas.microsoft.com/office/drawing/2014/main" val="1740082170"/>
                    </a:ext>
                  </a:extLst>
                </a:gridCol>
                <a:gridCol w="903700">
                  <a:extLst>
                    <a:ext uri="{9D8B030D-6E8A-4147-A177-3AD203B41FA5}">
                      <a16:colId xmlns:a16="http://schemas.microsoft.com/office/drawing/2014/main" val="2655420093"/>
                    </a:ext>
                  </a:extLst>
                </a:gridCol>
                <a:gridCol w="903700">
                  <a:extLst>
                    <a:ext uri="{9D8B030D-6E8A-4147-A177-3AD203B41FA5}">
                      <a16:colId xmlns:a16="http://schemas.microsoft.com/office/drawing/2014/main" val="2694886342"/>
                    </a:ext>
                  </a:extLst>
                </a:gridCol>
                <a:gridCol w="903700">
                  <a:extLst>
                    <a:ext uri="{9D8B030D-6E8A-4147-A177-3AD203B41FA5}">
                      <a16:colId xmlns:a16="http://schemas.microsoft.com/office/drawing/2014/main" val="2619436823"/>
                    </a:ext>
                  </a:extLst>
                </a:gridCol>
                <a:gridCol w="903700">
                  <a:extLst>
                    <a:ext uri="{9D8B030D-6E8A-4147-A177-3AD203B41FA5}">
                      <a16:colId xmlns:a16="http://schemas.microsoft.com/office/drawing/2014/main" val="211689039"/>
                    </a:ext>
                  </a:extLst>
                </a:gridCol>
                <a:gridCol w="988423">
                  <a:extLst>
                    <a:ext uri="{9D8B030D-6E8A-4147-A177-3AD203B41FA5}">
                      <a16:colId xmlns:a16="http://schemas.microsoft.com/office/drawing/2014/main" val="1484680677"/>
                    </a:ext>
                  </a:extLst>
                </a:gridCol>
              </a:tblGrid>
              <a:tr h="501368">
                <a:tc>
                  <a:txBody>
                    <a:bodyPr/>
                    <a:lstStyle/>
                    <a:p>
                      <a:endParaRPr lang="en-MY" sz="2400" kern="100" dirty="0">
                        <a:effectLst/>
                        <a:latin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algn="just">
                        <a:lnSpc>
                          <a:spcPct val="150000"/>
                        </a:lnSpc>
                        <a:spcAft>
                          <a:spcPts val="800"/>
                        </a:spcAft>
                      </a:pPr>
                      <a:r>
                        <a:rPr lang="it-IT" sz="12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ID</a:t>
                      </a:r>
                      <a:endParaRPr lang="en-MY"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algn="just">
                        <a:lnSpc>
                          <a:spcPct val="150000"/>
                        </a:lnSpc>
                        <a:spcAft>
                          <a:spcPts val="800"/>
                        </a:spcAft>
                      </a:pPr>
                      <a:r>
                        <a:rPr lang="it-IT" sz="12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Name</a:t>
                      </a:r>
                      <a:endParaRPr lang="en-MY"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algn="just">
                        <a:lnSpc>
                          <a:spcPct val="150000"/>
                        </a:lnSpc>
                        <a:spcAft>
                          <a:spcPts val="800"/>
                        </a:spcAft>
                      </a:pPr>
                      <a:r>
                        <a:rPr lang="it-IT" sz="12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Exp</a:t>
                      </a:r>
                      <a:endParaRPr lang="en-MY"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algn="just">
                        <a:lnSpc>
                          <a:spcPct val="150000"/>
                        </a:lnSpc>
                        <a:spcAft>
                          <a:spcPts val="800"/>
                        </a:spcAft>
                      </a:pPr>
                      <a:r>
                        <a:rPr lang="it-IT" sz="12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Fit/Pred</a:t>
                      </a:r>
                      <a:endParaRPr lang="en-MY"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algn="just">
                        <a:lnSpc>
                          <a:spcPct val="150000"/>
                        </a:lnSpc>
                        <a:spcAft>
                          <a:spcPts val="800"/>
                        </a:spcAft>
                      </a:pPr>
                      <a:r>
                        <a:rPr lang="it-IT" sz="12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Err Fit/Pred</a:t>
                      </a:r>
                      <a:endParaRPr lang="en-MY"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algn="just">
                        <a:lnSpc>
                          <a:spcPct val="150000"/>
                        </a:lnSpc>
                        <a:spcAft>
                          <a:spcPts val="800"/>
                        </a:spcAft>
                      </a:pPr>
                      <a:r>
                        <a:rPr lang="it-IT" sz="12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CV</a:t>
                      </a:r>
                      <a:endParaRPr lang="en-MY"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algn="just">
                        <a:lnSpc>
                          <a:spcPct val="150000"/>
                        </a:lnSpc>
                        <a:spcAft>
                          <a:spcPts val="800"/>
                        </a:spcAft>
                      </a:pPr>
                      <a:r>
                        <a:rPr lang="it-IT" sz="12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Err CV</a:t>
                      </a:r>
                      <a:endParaRPr lang="en-MY"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algn="just">
                        <a:lnSpc>
                          <a:spcPct val="150000"/>
                        </a:lnSpc>
                        <a:spcAft>
                          <a:spcPts val="800"/>
                        </a:spcAft>
                      </a:pPr>
                      <a:r>
                        <a:rPr lang="it-IT" sz="12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Mol Set</a:t>
                      </a:r>
                      <a:endParaRPr lang="en-MY"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2735191735"/>
                  </a:ext>
                </a:extLst>
              </a:tr>
              <a:tr h="264071">
                <a:tc>
                  <a:txBody>
                    <a:bodyPr/>
                    <a:lstStyle/>
                    <a:p>
                      <a:pPr algn="just">
                        <a:lnSpc>
                          <a:spcPct val="150000"/>
                        </a:lnSpc>
                        <a:spcAft>
                          <a:spcPts val="800"/>
                        </a:spcAft>
                      </a:pPr>
                      <a:r>
                        <a:rPr lang="it-IT" sz="12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1</a:t>
                      </a:r>
                      <a:endParaRPr lang="en-MY"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just">
                        <a:lnSpc>
                          <a:spcPct val="150000"/>
                        </a:lnSpc>
                        <a:spcAft>
                          <a:spcPts val="800"/>
                        </a:spcAft>
                      </a:pPr>
                      <a:r>
                        <a:rPr lang="it-IT" sz="12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1775937</a:t>
                      </a:r>
                      <a:endParaRPr lang="en-MY"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just">
                        <a:lnSpc>
                          <a:spcPct val="150000"/>
                        </a:lnSpc>
                        <a:spcAft>
                          <a:spcPts val="800"/>
                        </a:spcAft>
                      </a:pPr>
                      <a:r>
                        <a:rPr lang="it-IT" sz="12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1a</a:t>
                      </a:r>
                      <a:endParaRPr lang="en-MY"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just">
                        <a:lnSpc>
                          <a:spcPct val="150000"/>
                        </a:lnSpc>
                        <a:spcAft>
                          <a:spcPts val="800"/>
                        </a:spcAft>
                      </a:pPr>
                      <a:r>
                        <a:rPr lang="it-IT" sz="1200" kern="100"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3.76</a:t>
                      </a:r>
                      <a:endParaRPr lang="en-MY" sz="20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just">
                        <a:lnSpc>
                          <a:spcPct val="150000"/>
                        </a:lnSpc>
                        <a:spcAft>
                          <a:spcPts val="800"/>
                        </a:spcAft>
                      </a:pPr>
                      <a:r>
                        <a:rPr lang="it-IT" sz="12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3.731</a:t>
                      </a:r>
                      <a:endParaRPr lang="en-MY"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just">
                        <a:lnSpc>
                          <a:spcPct val="150000"/>
                        </a:lnSpc>
                        <a:spcAft>
                          <a:spcPts val="800"/>
                        </a:spcAft>
                      </a:pPr>
                      <a:r>
                        <a:rPr lang="it-IT" sz="12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0.029</a:t>
                      </a:r>
                      <a:endParaRPr lang="en-MY"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just">
                        <a:lnSpc>
                          <a:spcPct val="150000"/>
                        </a:lnSpc>
                        <a:spcAft>
                          <a:spcPts val="800"/>
                        </a:spcAft>
                      </a:pPr>
                      <a:r>
                        <a:rPr lang="it-IT" sz="12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4.861</a:t>
                      </a:r>
                      <a:endParaRPr lang="en-MY"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just">
                        <a:lnSpc>
                          <a:spcPct val="150000"/>
                        </a:lnSpc>
                        <a:spcAft>
                          <a:spcPts val="800"/>
                        </a:spcAft>
                      </a:pPr>
                      <a:r>
                        <a:rPr lang="it-IT" sz="12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-1.101</a:t>
                      </a:r>
                      <a:endParaRPr lang="en-MY"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just">
                        <a:lnSpc>
                          <a:spcPct val="150000"/>
                        </a:lnSpc>
                        <a:spcAft>
                          <a:spcPts val="800"/>
                        </a:spcAft>
                      </a:pPr>
                      <a:r>
                        <a:rPr lang="it-IT" sz="12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Training Set</a:t>
                      </a:r>
                      <a:endParaRPr lang="en-MY"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F0"/>
                    </a:solidFill>
                  </a:tcPr>
                </a:tc>
                <a:extLst>
                  <a:ext uri="{0D108BD9-81ED-4DB2-BD59-A6C34878D82A}">
                    <a16:rowId xmlns:a16="http://schemas.microsoft.com/office/drawing/2014/main" val="4194227276"/>
                  </a:ext>
                </a:extLst>
              </a:tr>
              <a:tr h="264071">
                <a:tc>
                  <a:txBody>
                    <a:bodyPr/>
                    <a:lstStyle/>
                    <a:p>
                      <a:pPr algn="just">
                        <a:lnSpc>
                          <a:spcPct val="150000"/>
                        </a:lnSpc>
                        <a:spcAft>
                          <a:spcPts val="800"/>
                        </a:spcAft>
                      </a:pPr>
                      <a:r>
                        <a:rPr lang="it-IT" sz="12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2</a:t>
                      </a:r>
                      <a:endParaRPr lang="en-MY"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2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1775938</a:t>
                      </a:r>
                      <a:endParaRPr lang="en-MY"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2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1b</a:t>
                      </a:r>
                      <a:endParaRPr lang="en-MY"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2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6.63</a:t>
                      </a:r>
                      <a:endParaRPr lang="en-MY"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2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6.631</a:t>
                      </a:r>
                      <a:endParaRPr lang="en-MY"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2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-0.001</a:t>
                      </a:r>
                      <a:endParaRPr lang="en-MY"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2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6.36</a:t>
                      </a:r>
                      <a:endParaRPr lang="en-MY"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2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0.27</a:t>
                      </a:r>
                      <a:endParaRPr lang="en-MY"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200" kern="100"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Training Set</a:t>
                      </a:r>
                      <a:endParaRPr lang="en-MY" sz="20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F0"/>
                    </a:solidFill>
                  </a:tcPr>
                </a:tc>
                <a:extLst>
                  <a:ext uri="{0D108BD9-81ED-4DB2-BD59-A6C34878D82A}">
                    <a16:rowId xmlns:a16="http://schemas.microsoft.com/office/drawing/2014/main" val="1943668261"/>
                  </a:ext>
                </a:extLst>
              </a:tr>
              <a:tr h="264071">
                <a:tc>
                  <a:txBody>
                    <a:bodyPr/>
                    <a:lstStyle/>
                    <a:p>
                      <a:pPr algn="just">
                        <a:lnSpc>
                          <a:spcPct val="150000"/>
                        </a:lnSpc>
                        <a:spcAft>
                          <a:spcPts val="800"/>
                        </a:spcAft>
                      </a:pPr>
                      <a:r>
                        <a:rPr lang="it-IT" sz="12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3</a:t>
                      </a:r>
                      <a:endParaRPr lang="en-MY"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2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1775939</a:t>
                      </a:r>
                      <a:endParaRPr lang="en-MY"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2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1c</a:t>
                      </a:r>
                      <a:endParaRPr lang="en-MY"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2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6.28</a:t>
                      </a:r>
                      <a:endParaRPr lang="en-MY"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2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6.367</a:t>
                      </a:r>
                      <a:endParaRPr lang="en-MY"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2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-0.087</a:t>
                      </a:r>
                      <a:endParaRPr lang="en-MY"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2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6.514</a:t>
                      </a:r>
                      <a:endParaRPr lang="en-MY"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2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-0.234</a:t>
                      </a:r>
                      <a:endParaRPr lang="en-MY"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2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Training Set</a:t>
                      </a:r>
                      <a:endParaRPr lang="en-MY"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F0"/>
                    </a:solidFill>
                  </a:tcPr>
                </a:tc>
                <a:extLst>
                  <a:ext uri="{0D108BD9-81ED-4DB2-BD59-A6C34878D82A}">
                    <a16:rowId xmlns:a16="http://schemas.microsoft.com/office/drawing/2014/main" val="3424334766"/>
                  </a:ext>
                </a:extLst>
              </a:tr>
              <a:tr h="264071">
                <a:tc>
                  <a:txBody>
                    <a:bodyPr/>
                    <a:lstStyle/>
                    <a:p>
                      <a:pPr algn="just">
                        <a:lnSpc>
                          <a:spcPct val="150000"/>
                        </a:lnSpc>
                        <a:spcAft>
                          <a:spcPts val="800"/>
                        </a:spcAft>
                      </a:pPr>
                      <a:r>
                        <a:rPr lang="it-IT" sz="12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4</a:t>
                      </a:r>
                      <a:endParaRPr lang="en-MY"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2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1775940</a:t>
                      </a:r>
                      <a:endParaRPr lang="en-MY"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2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1d</a:t>
                      </a:r>
                      <a:endParaRPr lang="en-MY"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2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6.5</a:t>
                      </a:r>
                      <a:endParaRPr lang="en-MY"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2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6.531</a:t>
                      </a:r>
                      <a:endParaRPr lang="en-MY"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2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-0.031</a:t>
                      </a:r>
                      <a:endParaRPr lang="en-MY"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2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6.321</a:t>
                      </a:r>
                      <a:endParaRPr lang="en-MY"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2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0.179</a:t>
                      </a:r>
                      <a:endParaRPr lang="en-MY"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200" kern="100"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Training Set</a:t>
                      </a:r>
                      <a:endParaRPr lang="en-MY" sz="20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F0"/>
                    </a:solidFill>
                  </a:tcPr>
                </a:tc>
                <a:extLst>
                  <a:ext uri="{0D108BD9-81ED-4DB2-BD59-A6C34878D82A}">
                    <a16:rowId xmlns:a16="http://schemas.microsoft.com/office/drawing/2014/main" val="2992817524"/>
                  </a:ext>
                </a:extLst>
              </a:tr>
              <a:tr h="264071">
                <a:tc>
                  <a:txBody>
                    <a:bodyPr/>
                    <a:lstStyle/>
                    <a:p>
                      <a:pPr algn="just">
                        <a:lnSpc>
                          <a:spcPct val="150000"/>
                        </a:lnSpc>
                        <a:spcAft>
                          <a:spcPts val="800"/>
                        </a:spcAft>
                      </a:pPr>
                      <a:r>
                        <a:rPr lang="it-IT" sz="12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5</a:t>
                      </a:r>
                      <a:endParaRPr lang="en-MY"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2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1775941</a:t>
                      </a:r>
                      <a:endParaRPr lang="en-MY"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2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1f</a:t>
                      </a:r>
                      <a:endParaRPr lang="en-MY"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2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5.94</a:t>
                      </a:r>
                      <a:endParaRPr lang="en-MY"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2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5.947</a:t>
                      </a:r>
                      <a:endParaRPr lang="en-MY"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2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-0.007</a:t>
                      </a:r>
                      <a:endParaRPr lang="en-MY"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2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6.437</a:t>
                      </a:r>
                      <a:endParaRPr lang="en-MY"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2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-0.497</a:t>
                      </a:r>
                      <a:endParaRPr lang="en-MY"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2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Training Set</a:t>
                      </a:r>
                      <a:endParaRPr lang="en-MY"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F0"/>
                    </a:solidFill>
                  </a:tcPr>
                </a:tc>
                <a:extLst>
                  <a:ext uri="{0D108BD9-81ED-4DB2-BD59-A6C34878D82A}">
                    <a16:rowId xmlns:a16="http://schemas.microsoft.com/office/drawing/2014/main" val="804355563"/>
                  </a:ext>
                </a:extLst>
              </a:tr>
              <a:tr h="264071">
                <a:tc>
                  <a:txBody>
                    <a:bodyPr/>
                    <a:lstStyle/>
                    <a:p>
                      <a:pPr algn="just">
                        <a:lnSpc>
                          <a:spcPct val="150000"/>
                        </a:lnSpc>
                        <a:spcAft>
                          <a:spcPts val="800"/>
                        </a:spcAft>
                      </a:pPr>
                      <a:r>
                        <a:rPr lang="it-IT" sz="12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6</a:t>
                      </a:r>
                      <a:endParaRPr lang="en-MY"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2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1775942</a:t>
                      </a:r>
                      <a:endParaRPr lang="en-MY"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2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1g</a:t>
                      </a:r>
                      <a:endParaRPr lang="en-MY"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2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5.85</a:t>
                      </a:r>
                      <a:endParaRPr lang="en-MY"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2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5.834</a:t>
                      </a:r>
                      <a:endParaRPr lang="en-MY"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2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0.016</a:t>
                      </a:r>
                      <a:endParaRPr lang="en-MY"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2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6.125</a:t>
                      </a:r>
                      <a:endParaRPr lang="en-MY"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2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-0.275</a:t>
                      </a:r>
                      <a:endParaRPr lang="en-MY"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200" kern="100"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Training Set</a:t>
                      </a:r>
                      <a:endParaRPr lang="en-MY" sz="20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F0"/>
                    </a:solidFill>
                  </a:tcPr>
                </a:tc>
                <a:extLst>
                  <a:ext uri="{0D108BD9-81ED-4DB2-BD59-A6C34878D82A}">
                    <a16:rowId xmlns:a16="http://schemas.microsoft.com/office/drawing/2014/main" val="225230182"/>
                  </a:ext>
                </a:extLst>
              </a:tr>
              <a:tr h="264071">
                <a:tc>
                  <a:txBody>
                    <a:bodyPr/>
                    <a:lstStyle/>
                    <a:p>
                      <a:pPr algn="just">
                        <a:lnSpc>
                          <a:spcPct val="150000"/>
                        </a:lnSpc>
                        <a:spcAft>
                          <a:spcPts val="800"/>
                        </a:spcAft>
                      </a:pPr>
                      <a:r>
                        <a:rPr lang="it-IT" sz="12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7</a:t>
                      </a:r>
                      <a:endParaRPr lang="en-MY"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2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1775943</a:t>
                      </a:r>
                      <a:endParaRPr lang="en-MY"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2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1h</a:t>
                      </a:r>
                      <a:endParaRPr lang="en-MY"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2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7.28</a:t>
                      </a:r>
                      <a:endParaRPr lang="en-MY"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2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7.324</a:t>
                      </a:r>
                      <a:endParaRPr lang="en-MY"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2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-0.044</a:t>
                      </a:r>
                      <a:endParaRPr lang="en-MY"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2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6.984</a:t>
                      </a:r>
                      <a:endParaRPr lang="en-MY"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2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0.296</a:t>
                      </a:r>
                      <a:endParaRPr lang="en-MY"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2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Training Set</a:t>
                      </a:r>
                      <a:endParaRPr lang="en-MY"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F0"/>
                    </a:solidFill>
                  </a:tcPr>
                </a:tc>
                <a:extLst>
                  <a:ext uri="{0D108BD9-81ED-4DB2-BD59-A6C34878D82A}">
                    <a16:rowId xmlns:a16="http://schemas.microsoft.com/office/drawing/2014/main" val="890990141"/>
                  </a:ext>
                </a:extLst>
              </a:tr>
              <a:tr h="264071">
                <a:tc>
                  <a:txBody>
                    <a:bodyPr/>
                    <a:lstStyle/>
                    <a:p>
                      <a:pPr algn="just">
                        <a:lnSpc>
                          <a:spcPct val="150000"/>
                        </a:lnSpc>
                        <a:spcAft>
                          <a:spcPts val="800"/>
                        </a:spcAft>
                      </a:pPr>
                      <a:r>
                        <a:rPr lang="it-IT" sz="12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8</a:t>
                      </a:r>
                      <a:endParaRPr lang="en-MY"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2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1775944</a:t>
                      </a:r>
                      <a:endParaRPr lang="en-MY"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2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1i</a:t>
                      </a:r>
                      <a:endParaRPr lang="en-MY"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2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5</a:t>
                      </a:r>
                      <a:endParaRPr lang="en-MY"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2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5.051</a:t>
                      </a:r>
                      <a:endParaRPr lang="en-MY"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2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-0.051</a:t>
                      </a:r>
                      <a:endParaRPr lang="en-MY"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2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5.774</a:t>
                      </a:r>
                      <a:endParaRPr lang="en-MY"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2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-0.774</a:t>
                      </a:r>
                      <a:endParaRPr lang="en-MY"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200" kern="100"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Training Set</a:t>
                      </a:r>
                      <a:endParaRPr lang="en-MY" sz="20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F0"/>
                    </a:solidFill>
                  </a:tcPr>
                </a:tc>
                <a:extLst>
                  <a:ext uri="{0D108BD9-81ED-4DB2-BD59-A6C34878D82A}">
                    <a16:rowId xmlns:a16="http://schemas.microsoft.com/office/drawing/2014/main" val="2947850733"/>
                  </a:ext>
                </a:extLst>
              </a:tr>
              <a:tr h="264071">
                <a:tc>
                  <a:txBody>
                    <a:bodyPr/>
                    <a:lstStyle/>
                    <a:p>
                      <a:pPr algn="just">
                        <a:lnSpc>
                          <a:spcPct val="150000"/>
                        </a:lnSpc>
                        <a:spcAft>
                          <a:spcPts val="800"/>
                        </a:spcAft>
                      </a:pPr>
                      <a:r>
                        <a:rPr lang="it-IT" sz="12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9</a:t>
                      </a:r>
                      <a:endParaRPr lang="en-MY"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2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1775945</a:t>
                      </a:r>
                      <a:endParaRPr lang="en-MY"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2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1j</a:t>
                      </a:r>
                      <a:endParaRPr lang="en-MY"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2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5.67</a:t>
                      </a:r>
                      <a:endParaRPr lang="en-MY"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2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5.643</a:t>
                      </a:r>
                      <a:endParaRPr lang="en-MY"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2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0.027</a:t>
                      </a:r>
                      <a:endParaRPr lang="en-MY"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2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5.564</a:t>
                      </a:r>
                      <a:endParaRPr lang="en-MY"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2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0.106</a:t>
                      </a:r>
                      <a:endParaRPr lang="en-MY"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200" kern="100"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Training Set</a:t>
                      </a:r>
                      <a:endParaRPr lang="en-MY" sz="20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F0"/>
                    </a:solidFill>
                  </a:tcPr>
                </a:tc>
                <a:extLst>
                  <a:ext uri="{0D108BD9-81ED-4DB2-BD59-A6C34878D82A}">
                    <a16:rowId xmlns:a16="http://schemas.microsoft.com/office/drawing/2014/main" val="2639513676"/>
                  </a:ext>
                </a:extLst>
              </a:tr>
              <a:tr h="264071">
                <a:tc>
                  <a:txBody>
                    <a:bodyPr/>
                    <a:lstStyle/>
                    <a:p>
                      <a:pPr algn="just">
                        <a:lnSpc>
                          <a:spcPct val="150000"/>
                        </a:lnSpc>
                        <a:spcAft>
                          <a:spcPts val="800"/>
                        </a:spcAft>
                      </a:pPr>
                      <a:r>
                        <a:rPr lang="it-IT" sz="12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10</a:t>
                      </a:r>
                      <a:endParaRPr lang="en-MY"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2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1775946</a:t>
                      </a:r>
                      <a:endParaRPr lang="en-MY"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2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1k</a:t>
                      </a:r>
                      <a:endParaRPr lang="en-MY"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2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6.04</a:t>
                      </a:r>
                      <a:endParaRPr lang="en-MY"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2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6.104</a:t>
                      </a:r>
                      <a:endParaRPr lang="en-MY"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2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-0.064</a:t>
                      </a:r>
                      <a:endParaRPr lang="en-MY"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2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6.177</a:t>
                      </a:r>
                      <a:endParaRPr lang="en-MY"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2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-0.137</a:t>
                      </a:r>
                      <a:endParaRPr lang="en-MY"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200" kern="100"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Training Set</a:t>
                      </a:r>
                      <a:endParaRPr lang="en-MY" sz="20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F0"/>
                    </a:solidFill>
                  </a:tcPr>
                </a:tc>
                <a:extLst>
                  <a:ext uri="{0D108BD9-81ED-4DB2-BD59-A6C34878D82A}">
                    <a16:rowId xmlns:a16="http://schemas.microsoft.com/office/drawing/2014/main" val="319999001"/>
                  </a:ext>
                </a:extLst>
              </a:tr>
              <a:tr h="264071">
                <a:tc>
                  <a:txBody>
                    <a:bodyPr/>
                    <a:lstStyle/>
                    <a:p>
                      <a:pPr algn="just">
                        <a:lnSpc>
                          <a:spcPct val="150000"/>
                        </a:lnSpc>
                        <a:spcAft>
                          <a:spcPts val="800"/>
                        </a:spcAft>
                      </a:pPr>
                      <a:r>
                        <a:rPr lang="it-IT" sz="12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11</a:t>
                      </a:r>
                      <a:endParaRPr lang="en-MY"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2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1775947</a:t>
                      </a:r>
                      <a:endParaRPr lang="en-MY"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2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1l</a:t>
                      </a:r>
                      <a:endParaRPr lang="en-MY"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2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6.73</a:t>
                      </a:r>
                      <a:endParaRPr lang="en-MY"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2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6.768</a:t>
                      </a:r>
                      <a:endParaRPr lang="en-MY"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2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-0.038</a:t>
                      </a:r>
                      <a:endParaRPr lang="en-MY"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2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6.603</a:t>
                      </a:r>
                      <a:endParaRPr lang="en-MY"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2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0.127</a:t>
                      </a:r>
                      <a:endParaRPr lang="en-MY"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200" kern="100"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Training Set</a:t>
                      </a:r>
                      <a:endParaRPr lang="en-MY" sz="20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F0"/>
                    </a:solidFill>
                  </a:tcPr>
                </a:tc>
                <a:extLst>
                  <a:ext uri="{0D108BD9-81ED-4DB2-BD59-A6C34878D82A}">
                    <a16:rowId xmlns:a16="http://schemas.microsoft.com/office/drawing/2014/main" val="2149859879"/>
                  </a:ext>
                </a:extLst>
              </a:tr>
              <a:tr h="264071">
                <a:tc>
                  <a:txBody>
                    <a:bodyPr/>
                    <a:lstStyle/>
                    <a:p>
                      <a:pPr algn="just">
                        <a:lnSpc>
                          <a:spcPct val="150000"/>
                        </a:lnSpc>
                        <a:spcAft>
                          <a:spcPts val="800"/>
                        </a:spcAft>
                      </a:pPr>
                      <a:r>
                        <a:rPr lang="it-IT" sz="12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12</a:t>
                      </a:r>
                      <a:endParaRPr lang="en-MY"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2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1775948</a:t>
                      </a:r>
                      <a:endParaRPr lang="en-MY"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2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1m</a:t>
                      </a:r>
                      <a:endParaRPr lang="en-MY"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2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6.41</a:t>
                      </a:r>
                      <a:endParaRPr lang="en-MY"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2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6.394</a:t>
                      </a:r>
                      <a:endParaRPr lang="en-MY"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2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0.016</a:t>
                      </a:r>
                      <a:endParaRPr lang="en-MY"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2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6.385</a:t>
                      </a:r>
                      <a:endParaRPr lang="en-MY"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2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0.025</a:t>
                      </a:r>
                      <a:endParaRPr lang="en-MY"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200" kern="100"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Training Set</a:t>
                      </a:r>
                      <a:endParaRPr lang="en-MY" sz="20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F0"/>
                    </a:solidFill>
                  </a:tcPr>
                </a:tc>
                <a:extLst>
                  <a:ext uri="{0D108BD9-81ED-4DB2-BD59-A6C34878D82A}">
                    <a16:rowId xmlns:a16="http://schemas.microsoft.com/office/drawing/2014/main" val="922404988"/>
                  </a:ext>
                </a:extLst>
              </a:tr>
              <a:tr h="264071">
                <a:tc>
                  <a:txBody>
                    <a:bodyPr/>
                    <a:lstStyle/>
                    <a:p>
                      <a:pPr algn="just">
                        <a:lnSpc>
                          <a:spcPct val="150000"/>
                        </a:lnSpc>
                        <a:spcAft>
                          <a:spcPts val="800"/>
                        </a:spcAft>
                      </a:pPr>
                      <a:r>
                        <a:rPr lang="it-IT" sz="12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13</a:t>
                      </a:r>
                      <a:endParaRPr lang="en-MY"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2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1775949</a:t>
                      </a:r>
                      <a:endParaRPr lang="en-MY"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2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1o</a:t>
                      </a:r>
                      <a:endParaRPr lang="en-MY"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2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6.3</a:t>
                      </a:r>
                      <a:endParaRPr lang="en-MY"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2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6.375</a:t>
                      </a:r>
                      <a:endParaRPr lang="en-MY"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2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-0.075</a:t>
                      </a:r>
                      <a:endParaRPr lang="en-MY"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2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6.825</a:t>
                      </a:r>
                      <a:endParaRPr lang="en-MY"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2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-0.525</a:t>
                      </a:r>
                      <a:endParaRPr lang="en-MY"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200" kern="100"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Training Set</a:t>
                      </a:r>
                      <a:endParaRPr lang="en-MY" sz="20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F0"/>
                    </a:solidFill>
                  </a:tcPr>
                </a:tc>
                <a:extLst>
                  <a:ext uri="{0D108BD9-81ED-4DB2-BD59-A6C34878D82A}">
                    <a16:rowId xmlns:a16="http://schemas.microsoft.com/office/drawing/2014/main" val="3875951723"/>
                  </a:ext>
                </a:extLst>
              </a:tr>
              <a:tr h="264071">
                <a:tc>
                  <a:txBody>
                    <a:bodyPr/>
                    <a:lstStyle/>
                    <a:p>
                      <a:pPr algn="just">
                        <a:lnSpc>
                          <a:spcPct val="150000"/>
                        </a:lnSpc>
                        <a:spcAft>
                          <a:spcPts val="800"/>
                        </a:spcAft>
                      </a:pPr>
                      <a:r>
                        <a:rPr lang="it-IT" sz="12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14</a:t>
                      </a:r>
                      <a:endParaRPr lang="en-MY"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2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1775950</a:t>
                      </a:r>
                      <a:endParaRPr lang="en-MY"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2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1p</a:t>
                      </a:r>
                      <a:endParaRPr lang="en-MY"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2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7.22</a:t>
                      </a:r>
                      <a:endParaRPr lang="en-MY"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2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7.207</a:t>
                      </a:r>
                      <a:endParaRPr lang="en-MY"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2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0.013</a:t>
                      </a:r>
                      <a:endParaRPr lang="en-MY"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2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7</a:t>
                      </a:r>
                      <a:endParaRPr lang="en-MY"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2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0.22</a:t>
                      </a:r>
                      <a:endParaRPr lang="en-MY"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200" kern="100"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Training Set</a:t>
                      </a:r>
                      <a:endParaRPr lang="en-MY" sz="20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F0"/>
                    </a:solidFill>
                  </a:tcPr>
                </a:tc>
                <a:extLst>
                  <a:ext uri="{0D108BD9-81ED-4DB2-BD59-A6C34878D82A}">
                    <a16:rowId xmlns:a16="http://schemas.microsoft.com/office/drawing/2014/main" val="2236991929"/>
                  </a:ext>
                </a:extLst>
              </a:tr>
              <a:tr h="264071">
                <a:tc>
                  <a:txBody>
                    <a:bodyPr/>
                    <a:lstStyle/>
                    <a:p>
                      <a:pPr algn="just">
                        <a:lnSpc>
                          <a:spcPct val="150000"/>
                        </a:lnSpc>
                        <a:spcAft>
                          <a:spcPts val="800"/>
                        </a:spcAft>
                      </a:pPr>
                      <a:r>
                        <a:rPr lang="it-IT" sz="12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15</a:t>
                      </a:r>
                      <a:endParaRPr lang="en-MY"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2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1775951</a:t>
                      </a:r>
                      <a:endParaRPr lang="en-MY"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2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1q</a:t>
                      </a:r>
                      <a:endParaRPr lang="en-MY"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2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6.1</a:t>
                      </a:r>
                      <a:endParaRPr lang="en-MY"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2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6.057</a:t>
                      </a:r>
                      <a:endParaRPr lang="en-MY"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2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0.043</a:t>
                      </a:r>
                      <a:endParaRPr lang="en-MY"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2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6.375</a:t>
                      </a:r>
                      <a:endParaRPr lang="en-MY"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2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-0.275</a:t>
                      </a:r>
                      <a:endParaRPr lang="en-MY"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200" kern="100"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Training Set</a:t>
                      </a:r>
                      <a:endParaRPr lang="en-MY" sz="20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F0"/>
                    </a:solidFill>
                  </a:tcPr>
                </a:tc>
                <a:extLst>
                  <a:ext uri="{0D108BD9-81ED-4DB2-BD59-A6C34878D82A}">
                    <a16:rowId xmlns:a16="http://schemas.microsoft.com/office/drawing/2014/main" val="305428615"/>
                  </a:ext>
                </a:extLst>
              </a:tr>
              <a:tr h="264071">
                <a:tc>
                  <a:txBody>
                    <a:bodyPr/>
                    <a:lstStyle/>
                    <a:p>
                      <a:pPr algn="just">
                        <a:lnSpc>
                          <a:spcPct val="150000"/>
                        </a:lnSpc>
                        <a:spcAft>
                          <a:spcPts val="800"/>
                        </a:spcAft>
                      </a:pPr>
                      <a:r>
                        <a:rPr lang="it-IT" sz="12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16</a:t>
                      </a:r>
                      <a:endParaRPr lang="en-MY"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2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1775952</a:t>
                      </a:r>
                      <a:endParaRPr lang="en-MY"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2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1s</a:t>
                      </a:r>
                      <a:endParaRPr lang="en-MY"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2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6.59</a:t>
                      </a:r>
                      <a:endParaRPr lang="en-MY"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2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6.564</a:t>
                      </a:r>
                      <a:endParaRPr lang="en-MY"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2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0.026</a:t>
                      </a:r>
                      <a:endParaRPr lang="en-MY"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2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6.081</a:t>
                      </a:r>
                      <a:endParaRPr lang="en-MY"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2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0.509</a:t>
                      </a:r>
                      <a:endParaRPr lang="en-MY"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200" kern="100"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Training Set</a:t>
                      </a:r>
                      <a:endParaRPr lang="en-MY" sz="20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F0"/>
                    </a:solidFill>
                  </a:tcPr>
                </a:tc>
                <a:extLst>
                  <a:ext uri="{0D108BD9-81ED-4DB2-BD59-A6C34878D82A}">
                    <a16:rowId xmlns:a16="http://schemas.microsoft.com/office/drawing/2014/main" val="2511047726"/>
                  </a:ext>
                </a:extLst>
              </a:tr>
              <a:tr h="264071">
                <a:tc>
                  <a:txBody>
                    <a:bodyPr/>
                    <a:lstStyle/>
                    <a:p>
                      <a:pPr algn="just">
                        <a:lnSpc>
                          <a:spcPct val="150000"/>
                        </a:lnSpc>
                        <a:spcAft>
                          <a:spcPts val="800"/>
                        </a:spcAft>
                      </a:pPr>
                      <a:r>
                        <a:rPr lang="it-IT" sz="12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17</a:t>
                      </a:r>
                      <a:endParaRPr lang="en-MY"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2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1775953</a:t>
                      </a:r>
                      <a:endParaRPr lang="en-MY"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2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1t</a:t>
                      </a:r>
                      <a:endParaRPr lang="en-MY"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2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6.22</a:t>
                      </a:r>
                      <a:endParaRPr lang="en-MY"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2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6.271</a:t>
                      </a:r>
                      <a:endParaRPr lang="en-MY"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2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-0.051</a:t>
                      </a:r>
                      <a:endParaRPr lang="en-MY"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2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6.602</a:t>
                      </a:r>
                      <a:endParaRPr lang="en-MY"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2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-0.382</a:t>
                      </a:r>
                      <a:endParaRPr lang="en-MY"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200" kern="100"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Training Set</a:t>
                      </a:r>
                      <a:endParaRPr lang="en-MY" sz="20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F0"/>
                    </a:solidFill>
                  </a:tcPr>
                </a:tc>
                <a:extLst>
                  <a:ext uri="{0D108BD9-81ED-4DB2-BD59-A6C34878D82A}">
                    <a16:rowId xmlns:a16="http://schemas.microsoft.com/office/drawing/2014/main" val="4125617129"/>
                  </a:ext>
                </a:extLst>
              </a:tr>
              <a:tr h="264071">
                <a:tc>
                  <a:txBody>
                    <a:bodyPr/>
                    <a:lstStyle/>
                    <a:p>
                      <a:pPr algn="just">
                        <a:lnSpc>
                          <a:spcPct val="150000"/>
                        </a:lnSpc>
                        <a:spcAft>
                          <a:spcPts val="800"/>
                        </a:spcAft>
                      </a:pPr>
                      <a:r>
                        <a:rPr lang="it-IT" sz="12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18</a:t>
                      </a:r>
                      <a:endParaRPr lang="en-MY"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2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1775954</a:t>
                      </a:r>
                      <a:endParaRPr lang="en-MY"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2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1u</a:t>
                      </a:r>
                      <a:endParaRPr lang="en-MY"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2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6.57</a:t>
                      </a:r>
                      <a:endParaRPr lang="en-MY"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2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6.535</a:t>
                      </a:r>
                      <a:endParaRPr lang="en-MY"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2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0.035</a:t>
                      </a:r>
                      <a:endParaRPr lang="en-MY"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2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6.416</a:t>
                      </a:r>
                      <a:endParaRPr lang="en-MY"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2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0.154</a:t>
                      </a:r>
                      <a:endParaRPr lang="en-MY"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200" kern="100"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Training Set</a:t>
                      </a:r>
                      <a:endParaRPr lang="en-MY" sz="20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F0"/>
                    </a:solidFill>
                  </a:tcPr>
                </a:tc>
                <a:extLst>
                  <a:ext uri="{0D108BD9-81ED-4DB2-BD59-A6C34878D82A}">
                    <a16:rowId xmlns:a16="http://schemas.microsoft.com/office/drawing/2014/main" val="1046837733"/>
                  </a:ext>
                </a:extLst>
              </a:tr>
              <a:tr h="264071">
                <a:tc>
                  <a:txBody>
                    <a:bodyPr/>
                    <a:lstStyle/>
                    <a:p>
                      <a:pPr algn="just">
                        <a:lnSpc>
                          <a:spcPct val="150000"/>
                        </a:lnSpc>
                        <a:spcAft>
                          <a:spcPts val="800"/>
                        </a:spcAft>
                      </a:pPr>
                      <a:r>
                        <a:rPr lang="it-IT" sz="12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19</a:t>
                      </a:r>
                      <a:endParaRPr lang="en-MY"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2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1775955</a:t>
                      </a:r>
                      <a:endParaRPr lang="en-MY"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2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1v</a:t>
                      </a:r>
                      <a:endParaRPr lang="en-MY"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2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6.56</a:t>
                      </a:r>
                      <a:endParaRPr lang="en-MY"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2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6.561</a:t>
                      </a:r>
                      <a:endParaRPr lang="en-MY"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2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-0.001</a:t>
                      </a:r>
                      <a:endParaRPr lang="en-MY"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2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6.72</a:t>
                      </a:r>
                      <a:endParaRPr lang="en-MY"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2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-0.16</a:t>
                      </a:r>
                      <a:endParaRPr lang="en-MY"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200" kern="100"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Training Set</a:t>
                      </a:r>
                      <a:endParaRPr lang="en-MY" sz="20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F0"/>
                    </a:solidFill>
                  </a:tcPr>
                </a:tc>
                <a:extLst>
                  <a:ext uri="{0D108BD9-81ED-4DB2-BD59-A6C34878D82A}">
                    <a16:rowId xmlns:a16="http://schemas.microsoft.com/office/drawing/2014/main" val="1210539912"/>
                  </a:ext>
                </a:extLst>
              </a:tr>
            </a:tbl>
          </a:graphicData>
        </a:graphic>
      </p:graphicFrame>
    </p:spTree>
    <p:extLst>
      <p:ext uri="{BB962C8B-B14F-4D97-AF65-F5344CB8AC3E}">
        <p14:creationId xmlns:p14="http://schemas.microsoft.com/office/powerpoint/2010/main" val="108143090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6AA66F0A-B721-2964-469D-4B2C69F9736F}"/>
              </a:ext>
            </a:extLst>
          </p:cNvPr>
          <p:cNvGraphicFramePr>
            <a:graphicFrameLocks noGrp="1"/>
          </p:cNvGraphicFramePr>
          <p:nvPr>
            <p:ph idx="1"/>
            <p:extLst>
              <p:ext uri="{D42A27DB-BD31-4B8C-83A1-F6EECF244321}">
                <p14:modId xmlns:p14="http://schemas.microsoft.com/office/powerpoint/2010/main" val="990813314"/>
              </p:ext>
            </p:extLst>
          </p:nvPr>
        </p:nvGraphicFramePr>
        <p:xfrm>
          <a:off x="1666753" y="370391"/>
          <a:ext cx="8102277" cy="6064035"/>
        </p:xfrm>
        <a:graphic>
          <a:graphicData uri="http://schemas.openxmlformats.org/drawingml/2006/table">
            <a:tbl>
              <a:tblPr firstRow="1" firstCol="1" bandRow="1"/>
              <a:tblGrid>
                <a:gridCol w="890972">
                  <a:extLst>
                    <a:ext uri="{9D8B030D-6E8A-4147-A177-3AD203B41FA5}">
                      <a16:colId xmlns:a16="http://schemas.microsoft.com/office/drawing/2014/main" val="1670661953"/>
                    </a:ext>
                  </a:extLst>
                </a:gridCol>
                <a:gridCol w="890972">
                  <a:extLst>
                    <a:ext uri="{9D8B030D-6E8A-4147-A177-3AD203B41FA5}">
                      <a16:colId xmlns:a16="http://schemas.microsoft.com/office/drawing/2014/main" val="4039654514"/>
                    </a:ext>
                  </a:extLst>
                </a:gridCol>
                <a:gridCol w="890972">
                  <a:extLst>
                    <a:ext uri="{9D8B030D-6E8A-4147-A177-3AD203B41FA5}">
                      <a16:colId xmlns:a16="http://schemas.microsoft.com/office/drawing/2014/main" val="3316892053"/>
                    </a:ext>
                  </a:extLst>
                </a:gridCol>
                <a:gridCol w="890972">
                  <a:extLst>
                    <a:ext uri="{9D8B030D-6E8A-4147-A177-3AD203B41FA5}">
                      <a16:colId xmlns:a16="http://schemas.microsoft.com/office/drawing/2014/main" val="1686464158"/>
                    </a:ext>
                  </a:extLst>
                </a:gridCol>
                <a:gridCol w="890972">
                  <a:extLst>
                    <a:ext uri="{9D8B030D-6E8A-4147-A177-3AD203B41FA5}">
                      <a16:colId xmlns:a16="http://schemas.microsoft.com/office/drawing/2014/main" val="605988732"/>
                    </a:ext>
                  </a:extLst>
                </a:gridCol>
                <a:gridCol w="890972">
                  <a:extLst>
                    <a:ext uri="{9D8B030D-6E8A-4147-A177-3AD203B41FA5}">
                      <a16:colId xmlns:a16="http://schemas.microsoft.com/office/drawing/2014/main" val="3323756828"/>
                    </a:ext>
                  </a:extLst>
                </a:gridCol>
                <a:gridCol w="890972">
                  <a:extLst>
                    <a:ext uri="{9D8B030D-6E8A-4147-A177-3AD203B41FA5}">
                      <a16:colId xmlns:a16="http://schemas.microsoft.com/office/drawing/2014/main" val="4113330556"/>
                    </a:ext>
                  </a:extLst>
                </a:gridCol>
                <a:gridCol w="890972">
                  <a:extLst>
                    <a:ext uri="{9D8B030D-6E8A-4147-A177-3AD203B41FA5}">
                      <a16:colId xmlns:a16="http://schemas.microsoft.com/office/drawing/2014/main" val="2289387868"/>
                    </a:ext>
                  </a:extLst>
                </a:gridCol>
                <a:gridCol w="974501">
                  <a:extLst>
                    <a:ext uri="{9D8B030D-6E8A-4147-A177-3AD203B41FA5}">
                      <a16:colId xmlns:a16="http://schemas.microsoft.com/office/drawing/2014/main" val="3057095068"/>
                    </a:ext>
                  </a:extLst>
                </a:gridCol>
              </a:tblGrid>
              <a:tr h="232694">
                <a:tc>
                  <a:txBody>
                    <a:bodyPr/>
                    <a:lstStyle/>
                    <a:p>
                      <a:pPr algn="just">
                        <a:lnSpc>
                          <a:spcPct val="150000"/>
                        </a:lnSpc>
                        <a:spcAft>
                          <a:spcPts val="800"/>
                        </a:spcAft>
                      </a:pPr>
                      <a:r>
                        <a:rPr lang="it-IT" sz="11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20</a:t>
                      </a:r>
                      <a:endParaRPr lang="en-MY" sz="1800" kern="100">
                        <a:effectLst/>
                        <a:latin typeface="Aptos" panose="020B0004020202020204" pitchFamily="34" charset="0"/>
                        <a:ea typeface="Aptos" panose="020B0004020202020204" pitchFamily="34" charset="0"/>
                        <a:cs typeface="Times New Roman" panose="02020603050405020304" pitchFamily="18" charset="0"/>
                      </a:endParaRPr>
                    </a:p>
                  </a:txBody>
                  <a:tcPr marL="65536" marR="6553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1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1775956</a:t>
                      </a:r>
                      <a:endParaRPr lang="en-MY" sz="1800" kern="100">
                        <a:effectLst/>
                        <a:latin typeface="Aptos" panose="020B0004020202020204" pitchFamily="34" charset="0"/>
                        <a:ea typeface="Aptos" panose="020B0004020202020204" pitchFamily="34" charset="0"/>
                        <a:cs typeface="Times New Roman" panose="02020603050405020304" pitchFamily="18" charset="0"/>
                      </a:endParaRPr>
                    </a:p>
                  </a:txBody>
                  <a:tcPr marL="65536" marR="6553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1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1w</a:t>
                      </a:r>
                      <a:endParaRPr lang="en-MY" sz="1800" kern="100">
                        <a:effectLst/>
                        <a:latin typeface="Aptos" panose="020B0004020202020204" pitchFamily="34" charset="0"/>
                        <a:ea typeface="Aptos" panose="020B0004020202020204" pitchFamily="34" charset="0"/>
                        <a:cs typeface="Times New Roman" panose="02020603050405020304" pitchFamily="18" charset="0"/>
                      </a:endParaRPr>
                    </a:p>
                  </a:txBody>
                  <a:tcPr marL="65536" marR="6553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1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6.74</a:t>
                      </a:r>
                      <a:endParaRPr lang="en-MY" sz="1800" kern="100">
                        <a:effectLst/>
                        <a:latin typeface="Aptos" panose="020B0004020202020204" pitchFamily="34" charset="0"/>
                        <a:ea typeface="Aptos" panose="020B0004020202020204" pitchFamily="34" charset="0"/>
                        <a:cs typeface="Times New Roman" panose="02020603050405020304" pitchFamily="18" charset="0"/>
                      </a:endParaRPr>
                    </a:p>
                  </a:txBody>
                  <a:tcPr marL="65536" marR="6553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1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6.659</a:t>
                      </a:r>
                      <a:endParaRPr lang="en-MY" sz="1800" kern="100">
                        <a:effectLst/>
                        <a:latin typeface="Aptos" panose="020B0004020202020204" pitchFamily="34" charset="0"/>
                        <a:ea typeface="Aptos" panose="020B0004020202020204" pitchFamily="34" charset="0"/>
                        <a:cs typeface="Times New Roman" panose="02020603050405020304" pitchFamily="18" charset="0"/>
                      </a:endParaRPr>
                    </a:p>
                  </a:txBody>
                  <a:tcPr marL="65536" marR="6553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1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0.081</a:t>
                      </a:r>
                      <a:endParaRPr lang="en-MY" sz="1800" kern="100">
                        <a:effectLst/>
                        <a:latin typeface="Aptos" panose="020B0004020202020204" pitchFamily="34" charset="0"/>
                        <a:ea typeface="Aptos" panose="020B0004020202020204" pitchFamily="34" charset="0"/>
                        <a:cs typeface="Times New Roman" panose="02020603050405020304" pitchFamily="18" charset="0"/>
                      </a:endParaRPr>
                    </a:p>
                  </a:txBody>
                  <a:tcPr marL="65536" marR="6553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1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7.227</a:t>
                      </a:r>
                      <a:endParaRPr lang="en-MY" sz="1800" kern="100">
                        <a:effectLst/>
                        <a:latin typeface="Aptos" panose="020B0004020202020204" pitchFamily="34" charset="0"/>
                        <a:ea typeface="Aptos" panose="020B0004020202020204" pitchFamily="34" charset="0"/>
                        <a:cs typeface="Times New Roman" panose="02020603050405020304" pitchFamily="18" charset="0"/>
                      </a:endParaRPr>
                    </a:p>
                  </a:txBody>
                  <a:tcPr marL="65536" marR="6553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1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-0.487</a:t>
                      </a:r>
                      <a:endParaRPr lang="en-MY" sz="1800" kern="100">
                        <a:effectLst/>
                        <a:latin typeface="Aptos" panose="020B0004020202020204" pitchFamily="34" charset="0"/>
                        <a:ea typeface="Aptos" panose="020B0004020202020204" pitchFamily="34" charset="0"/>
                        <a:cs typeface="Times New Roman" panose="02020603050405020304" pitchFamily="18" charset="0"/>
                      </a:endParaRPr>
                    </a:p>
                  </a:txBody>
                  <a:tcPr marL="65536" marR="6553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1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Training Set</a:t>
                      </a:r>
                      <a:endParaRPr lang="en-MY" sz="1800" kern="100">
                        <a:effectLst/>
                        <a:latin typeface="Aptos" panose="020B0004020202020204" pitchFamily="34" charset="0"/>
                        <a:ea typeface="Aptos" panose="020B0004020202020204" pitchFamily="34" charset="0"/>
                        <a:cs typeface="Times New Roman" panose="02020603050405020304" pitchFamily="18" charset="0"/>
                      </a:endParaRPr>
                    </a:p>
                  </a:txBody>
                  <a:tcPr marL="65536" marR="6553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F0"/>
                    </a:solidFill>
                  </a:tcPr>
                </a:tc>
                <a:extLst>
                  <a:ext uri="{0D108BD9-81ED-4DB2-BD59-A6C34878D82A}">
                    <a16:rowId xmlns:a16="http://schemas.microsoft.com/office/drawing/2014/main" val="2191416946"/>
                  </a:ext>
                </a:extLst>
              </a:tr>
              <a:tr h="232694">
                <a:tc>
                  <a:txBody>
                    <a:bodyPr/>
                    <a:lstStyle/>
                    <a:p>
                      <a:pPr algn="just">
                        <a:lnSpc>
                          <a:spcPct val="150000"/>
                        </a:lnSpc>
                        <a:spcAft>
                          <a:spcPts val="800"/>
                        </a:spcAft>
                      </a:pPr>
                      <a:r>
                        <a:rPr lang="it-IT" sz="11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21</a:t>
                      </a:r>
                      <a:endParaRPr lang="en-MY" sz="1800" kern="100">
                        <a:effectLst/>
                        <a:latin typeface="Aptos" panose="020B0004020202020204" pitchFamily="34" charset="0"/>
                        <a:ea typeface="Aptos" panose="020B0004020202020204" pitchFamily="34" charset="0"/>
                        <a:cs typeface="Times New Roman" panose="02020603050405020304" pitchFamily="18" charset="0"/>
                      </a:endParaRPr>
                    </a:p>
                  </a:txBody>
                  <a:tcPr marL="65536" marR="6553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1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1775957</a:t>
                      </a:r>
                      <a:endParaRPr lang="en-MY" sz="1800" kern="100">
                        <a:effectLst/>
                        <a:latin typeface="Aptos" panose="020B0004020202020204" pitchFamily="34" charset="0"/>
                        <a:ea typeface="Aptos" panose="020B0004020202020204" pitchFamily="34" charset="0"/>
                        <a:cs typeface="Times New Roman" panose="02020603050405020304" pitchFamily="18" charset="0"/>
                      </a:endParaRPr>
                    </a:p>
                  </a:txBody>
                  <a:tcPr marL="65536" marR="6553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1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1y</a:t>
                      </a:r>
                      <a:endParaRPr lang="en-MY" sz="1800" kern="100">
                        <a:effectLst/>
                        <a:latin typeface="Aptos" panose="020B0004020202020204" pitchFamily="34" charset="0"/>
                        <a:ea typeface="Aptos" panose="020B0004020202020204" pitchFamily="34" charset="0"/>
                        <a:cs typeface="Times New Roman" panose="02020603050405020304" pitchFamily="18" charset="0"/>
                      </a:endParaRPr>
                    </a:p>
                  </a:txBody>
                  <a:tcPr marL="65536" marR="6553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1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7.26</a:t>
                      </a:r>
                      <a:endParaRPr lang="en-MY" sz="1800" kern="100">
                        <a:effectLst/>
                        <a:latin typeface="Aptos" panose="020B0004020202020204" pitchFamily="34" charset="0"/>
                        <a:ea typeface="Aptos" panose="020B0004020202020204" pitchFamily="34" charset="0"/>
                        <a:cs typeface="Times New Roman" panose="02020603050405020304" pitchFamily="18" charset="0"/>
                      </a:endParaRPr>
                    </a:p>
                  </a:txBody>
                  <a:tcPr marL="65536" marR="6553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1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7.273</a:t>
                      </a:r>
                      <a:endParaRPr lang="en-MY" sz="1800" kern="100">
                        <a:effectLst/>
                        <a:latin typeface="Aptos" panose="020B0004020202020204" pitchFamily="34" charset="0"/>
                        <a:ea typeface="Aptos" panose="020B0004020202020204" pitchFamily="34" charset="0"/>
                        <a:cs typeface="Times New Roman" panose="02020603050405020304" pitchFamily="18" charset="0"/>
                      </a:endParaRPr>
                    </a:p>
                  </a:txBody>
                  <a:tcPr marL="65536" marR="6553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1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-0.013</a:t>
                      </a:r>
                      <a:endParaRPr lang="en-MY" sz="1800" kern="100">
                        <a:effectLst/>
                        <a:latin typeface="Aptos" panose="020B0004020202020204" pitchFamily="34" charset="0"/>
                        <a:ea typeface="Aptos" panose="020B0004020202020204" pitchFamily="34" charset="0"/>
                        <a:cs typeface="Times New Roman" panose="02020603050405020304" pitchFamily="18" charset="0"/>
                      </a:endParaRPr>
                    </a:p>
                  </a:txBody>
                  <a:tcPr marL="65536" marR="6553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1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6.587</a:t>
                      </a:r>
                      <a:endParaRPr lang="en-MY" sz="1800" kern="100">
                        <a:effectLst/>
                        <a:latin typeface="Aptos" panose="020B0004020202020204" pitchFamily="34" charset="0"/>
                        <a:ea typeface="Aptos" panose="020B0004020202020204" pitchFamily="34" charset="0"/>
                        <a:cs typeface="Times New Roman" panose="02020603050405020304" pitchFamily="18" charset="0"/>
                      </a:endParaRPr>
                    </a:p>
                  </a:txBody>
                  <a:tcPr marL="65536" marR="6553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1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0.673</a:t>
                      </a:r>
                      <a:endParaRPr lang="en-MY" sz="1800" kern="100">
                        <a:effectLst/>
                        <a:latin typeface="Aptos" panose="020B0004020202020204" pitchFamily="34" charset="0"/>
                        <a:ea typeface="Aptos" panose="020B0004020202020204" pitchFamily="34" charset="0"/>
                        <a:cs typeface="Times New Roman" panose="02020603050405020304" pitchFamily="18" charset="0"/>
                      </a:endParaRPr>
                    </a:p>
                  </a:txBody>
                  <a:tcPr marL="65536" marR="6553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1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Training Set</a:t>
                      </a:r>
                      <a:endParaRPr lang="en-MY" sz="1800" kern="100">
                        <a:effectLst/>
                        <a:latin typeface="Aptos" panose="020B0004020202020204" pitchFamily="34" charset="0"/>
                        <a:ea typeface="Aptos" panose="020B0004020202020204" pitchFamily="34" charset="0"/>
                        <a:cs typeface="Times New Roman" panose="02020603050405020304" pitchFamily="18" charset="0"/>
                      </a:endParaRPr>
                    </a:p>
                  </a:txBody>
                  <a:tcPr marL="65536" marR="6553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F0"/>
                    </a:solidFill>
                  </a:tcPr>
                </a:tc>
                <a:extLst>
                  <a:ext uri="{0D108BD9-81ED-4DB2-BD59-A6C34878D82A}">
                    <a16:rowId xmlns:a16="http://schemas.microsoft.com/office/drawing/2014/main" val="467233273"/>
                  </a:ext>
                </a:extLst>
              </a:tr>
              <a:tr h="232694">
                <a:tc>
                  <a:txBody>
                    <a:bodyPr/>
                    <a:lstStyle/>
                    <a:p>
                      <a:pPr algn="just">
                        <a:lnSpc>
                          <a:spcPct val="150000"/>
                        </a:lnSpc>
                        <a:spcAft>
                          <a:spcPts val="800"/>
                        </a:spcAft>
                      </a:pPr>
                      <a:r>
                        <a:rPr lang="it-IT" sz="11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22</a:t>
                      </a:r>
                      <a:endParaRPr lang="en-MY" sz="1800" kern="100">
                        <a:effectLst/>
                        <a:latin typeface="Aptos" panose="020B0004020202020204" pitchFamily="34" charset="0"/>
                        <a:ea typeface="Aptos" panose="020B0004020202020204" pitchFamily="34" charset="0"/>
                        <a:cs typeface="Times New Roman" panose="02020603050405020304" pitchFamily="18" charset="0"/>
                      </a:endParaRPr>
                    </a:p>
                  </a:txBody>
                  <a:tcPr marL="65536" marR="6553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1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1775958</a:t>
                      </a:r>
                      <a:endParaRPr lang="en-MY" sz="1800" kern="100">
                        <a:effectLst/>
                        <a:latin typeface="Aptos" panose="020B0004020202020204" pitchFamily="34" charset="0"/>
                        <a:ea typeface="Aptos" panose="020B0004020202020204" pitchFamily="34" charset="0"/>
                        <a:cs typeface="Times New Roman" panose="02020603050405020304" pitchFamily="18" charset="0"/>
                      </a:endParaRPr>
                    </a:p>
                  </a:txBody>
                  <a:tcPr marL="65536" marR="6553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1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2a</a:t>
                      </a:r>
                      <a:endParaRPr lang="en-MY" sz="1800" kern="100">
                        <a:effectLst/>
                        <a:latin typeface="Aptos" panose="020B0004020202020204" pitchFamily="34" charset="0"/>
                        <a:ea typeface="Aptos" panose="020B0004020202020204" pitchFamily="34" charset="0"/>
                        <a:cs typeface="Times New Roman" panose="02020603050405020304" pitchFamily="18" charset="0"/>
                      </a:endParaRPr>
                    </a:p>
                  </a:txBody>
                  <a:tcPr marL="65536" marR="6553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1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5.52</a:t>
                      </a:r>
                      <a:endParaRPr lang="en-MY" sz="1800" kern="100">
                        <a:effectLst/>
                        <a:latin typeface="Aptos" panose="020B0004020202020204" pitchFamily="34" charset="0"/>
                        <a:ea typeface="Aptos" panose="020B0004020202020204" pitchFamily="34" charset="0"/>
                        <a:cs typeface="Times New Roman" panose="02020603050405020304" pitchFamily="18" charset="0"/>
                      </a:endParaRPr>
                    </a:p>
                  </a:txBody>
                  <a:tcPr marL="65536" marR="6553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1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5.485</a:t>
                      </a:r>
                      <a:endParaRPr lang="en-MY" sz="1800" kern="100">
                        <a:effectLst/>
                        <a:latin typeface="Aptos" panose="020B0004020202020204" pitchFamily="34" charset="0"/>
                        <a:ea typeface="Aptos" panose="020B0004020202020204" pitchFamily="34" charset="0"/>
                        <a:cs typeface="Times New Roman" panose="02020603050405020304" pitchFamily="18" charset="0"/>
                      </a:endParaRPr>
                    </a:p>
                  </a:txBody>
                  <a:tcPr marL="65536" marR="6553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1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0.035</a:t>
                      </a:r>
                      <a:endParaRPr lang="en-MY" sz="1800" kern="100">
                        <a:effectLst/>
                        <a:latin typeface="Aptos" panose="020B0004020202020204" pitchFamily="34" charset="0"/>
                        <a:ea typeface="Aptos" panose="020B0004020202020204" pitchFamily="34" charset="0"/>
                        <a:cs typeface="Times New Roman" panose="02020603050405020304" pitchFamily="18" charset="0"/>
                      </a:endParaRPr>
                    </a:p>
                  </a:txBody>
                  <a:tcPr marL="65536" marR="6553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1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5.315</a:t>
                      </a:r>
                      <a:endParaRPr lang="en-MY" sz="1800" kern="100">
                        <a:effectLst/>
                        <a:latin typeface="Aptos" panose="020B0004020202020204" pitchFamily="34" charset="0"/>
                        <a:ea typeface="Aptos" panose="020B0004020202020204" pitchFamily="34" charset="0"/>
                        <a:cs typeface="Times New Roman" panose="02020603050405020304" pitchFamily="18" charset="0"/>
                      </a:endParaRPr>
                    </a:p>
                  </a:txBody>
                  <a:tcPr marL="65536" marR="6553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1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0.205</a:t>
                      </a:r>
                      <a:endParaRPr lang="en-MY" sz="1800" kern="100">
                        <a:effectLst/>
                        <a:latin typeface="Aptos" panose="020B0004020202020204" pitchFamily="34" charset="0"/>
                        <a:ea typeface="Aptos" panose="020B0004020202020204" pitchFamily="34" charset="0"/>
                        <a:cs typeface="Times New Roman" panose="02020603050405020304" pitchFamily="18" charset="0"/>
                      </a:endParaRPr>
                    </a:p>
                  </a:txBody>
                  <a:tcPr marL="65536" marR="6553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1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Training Set</a:t>
                      </a:r>
                      <a:endParaRPr lang="en-MY" sz="1800" kern="100">
                        <a:effectLst/>
                        <a:latin typeface="Aptos" panose="020B0004020202020204" pitchFamily="34" charset="0"/>
                        <a:ea typeface="Aptos" panose="020B0004020202020204" pitchFamily="34" charset="0"/>
                        <a:cs typeface="Times New Roman" panose="02020603050405020304" pitchFamily="18" charset="0"/>
                      </a:endParaRPr>
                    </a:p>
                  </a:txBody>
                  <a:tcPr marL="65536" marR="6553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F0"/>
                    </a:solidFill>
                  </a:tcPr>
                </a:tc>
                <a:extLst>
                  <a:ext uri="{0D108BD9-81ED-4DB2-BD59-A6C34878D82A}">
                    <a16:rowId xmlns:a16="http://schemas.microsoft.com/office/drawing/2014/main" val="4060572903"/>
                  </a:ext>
                </a:extLst>
              </a:tr>
              <a:tr h="232694">
                <a:tc>
                  <a:txBody>
                    <a:bodyPr/>
                    <a:lstStyle/>
                    <a:p>
                      <a:pPr algn="just">
                        <a:lnSpc>
                          <a:spcPct val="150000"/>
                        </a:lnSpc>
                        <a:spcAft>
                          <a:spcPts val="800"/>
                        </a:spcAft>
                      </a:pPr>
                      <a:r>
                        <a:rPr lang="it-IT" sz="11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23</a:t>
                      </a:r>
                      <a:endParaRPr lang="en-MY" sz="1800" kern="100">
                        <a:effectLst/>
                        <a:latin typeface="Aptos" panose="020B0004020202020204" pitchFamily="34" charset="0"/>
                        <a:ea typeface="Aptos" panose="020B0004020202020204" pitchFamily="34" charset="0"/>
                        <a:cs typeface="Times New Roman" panose="02020603050405020304" pitchFamily="18" charset="0"/>
                      </a:endParaRPr>
                    </a:p>
                  </a:txBody>
                  <a:tcPr marL="65536" marR="6553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1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1775959</a:t>
                      </a:r>
                      <a:endParaRPr lang="en-MY" sz="1800" kern="100">
                        <a:effectLst/>
                        <a:latin typeface="Aptos" panose="020B0004020202020204" pitchFamily="34" charset="0"/>
                        <a:ea typeface="Aptos" panose="020B0004020202020204" pitchFamily="34" charset="0"/>
                        <a:cs typeface="Times New Roman" panose="02020603050405020304" pitchFamily="18" charset="0"/>
                      </a:endParaRPr>
                    </a:p>
                  </a:txBody>
                  <a:tcPr marL="65536" marR="6553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1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2b</a:t>
                      </a:r>
                      <a:endParaRPr lang="en-MY" sz="1800" kern="100">
                        <a:effectLst/>
                        <a:latin typeface="Aptos" panose="020B0004020202020204" pitchFamily="34" charset="0"/>
                        <a:ea typeface="Aptos" panose="020B0004020202020204" pitchFamily="34" charset="0"/>
                        <a:cs typeface="Times New Roman" panose="02020603050405020304" pitchFamily="18" charset="0"/>
                      </a:endParaRPr>
                    </a:p>
                  </a:txBody>
                  <a:tcPr marL="65536" marR="6553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1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7.1</a:t>
                      </a:r>
                      <a:endParaRPr lang="en-MY" sz="1800" kern="100">
                        <a:effectLst/>
                        <a:latin typeface="Aptos" panose="020B0004020202020204" pitchFamily="34" charset="0"/>
                        <a:ea typeface="Aptos" panose="020B0004020202020204" pitchFamily="34" charset="0"/>
                        <a:cs typeface="Times New Roman" panose="02020603050405020304" pitchFamily="18" charset="0"/>
                      </a:endParaRPr>
                    </a:p>
                  </a:txBody>
                  <a:tcPr marL="65536" marR="6553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1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7.113</a:t>
                      </a:r>
                      <a:endParaRPr lang="en-MY" sz="1800" kern="100">
                        <a:effectLst/>
                        <a:latin typeface="Aptos" panose="020B0004020202020204" pitchFamily="34" charset="0"/>
                        <a:ea typeface="Aptos" panose="020B0004020202020204" pitchFamily="34" charset="0"/>
                        <a:cs typeface="Times New Roman" panose="02020603050405020304" pitchFamily="18" charset="0"/>
                      </a:endParaRPr>
                    </a:p>
                  </a:txBody>
                  <a:tcPr marL="65536" marR="6553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1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-0.013</a:t>
                      </a:r>
                      <a:endParaRPr lang="en-MY" sz="1800" kern="100">
                        <a:effectLst/>
                        <a:latin typeface="Aptos" panose="020B0004020202020204" pitchFamily="34" charset="0"/>
                        <a:ea typeface="Aptos" panose="020B0004020202020204" pitchFamily="34" charset="0"/>
                        <a:cs typeface="Times New Roman" panose="02020603050405020304" pitchFamily="18" charset="0"/>
                      </a:endParaRPr>
                    </a:p>
                  </a:txBody>
                  <a:tcPr marL="65536" marR="6553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1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7.153</a:t>
                      </a:r>
                      <a:endParaRPr lang="en-MY" sz="1800" kern="100">
                        <a:effectLst/>
                        <a:latin typeface="Aptos" panose="020B0004020202020204" pitchFamily="34" charset="0"/>
                        <a:ea typeface="Aptos" panose="020B0004020202020204" pitchFamily="34" charset="0"/>
                        <a:cs typeface="Times New Roman" panose="02020603050405020304" pitchFamily="18" charset="0"/>
                      </a:endParaRPr>
                    </a:p>
                  </a:txBody>
                  <a:tcPr marL="65536" marR="6553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1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-0.053</a:t>
                      </a:r>
                      <a:endParaRPr lang="en-MY" sz="1800" kern="100">
                        <a:effectLst/>
                        <a:latin typeface="Aptos" panose="020B0004020202020204" pitchFamily="34" charset="0"/>
                        <a:ea typeface="Aptos" panose="020B0004020202020204" pitchFamily="34" charset="0"/>
                        <a:cs typeface="Times New Roman" panose="02020603050405020304" pitchFamily="18" charset="0"/>
                      </a:endParaRPr>
                    </a:p>
                  </a:txBody>
                  <a:tcPr marL="65536" marR="6553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1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Training Set</a:t>
                      </a:r>
                      <a:endParaRPr lang="en-MY" sz="1800" kern="100">
                        <a:effectLst/>
                        <a:latin typeface="Aptos" panose="020B0004020202020204" pitchFamily="34" charset="0"/>
                        <a:ea typeface="Aptos" panose="020B0004020202020204" pitchFamily="34" charset="0"/>
                        <a:cs typeface="Times New Roman" panose="02020603050405020304" pitchFamily="18" charset="0"/>
                      </a:endParaRPr>
                    </a:p>
                  </a:txBody>
                  <a:tcPr marL="65536" marR="6553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F0"/>
                    </a:solidFill>
                  </a:tcPr>
                </a:tc>
                <a:extLst>
                  <a:ext uri="{0D108BD9-81ED-4DB2-BD59-A6C34878D82A}">
                    <a16:rowId xmlns:a16="http://schemas.microsoft.com/office/drawing/2014/main" val="2666415701"/>
                  </a:ext>
                </a:extLst>
              </a:tr>
              <a:tr h="232694">
                <a:tc>
                  <a:txBody>
                    <a:bodyPr/>
                    <a:lstStyle/>
                    <a:p>
                      <a:pPr algn="just">
                        <a:lnSpc>
                          <a:spcPct val="150000"/>
                        </a:lnSpc>
                        <a:spcAft>
                          <a:spcPts val="800"/>
                        </a:spcAft>
                      </a:pPr>
                      <a:r>
                        <a:rPr lang="it-IT" sz="11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24</a:t>
                      </a:r>
                      <a:endParaRPr lang="en-MY" sz="1800" kern="100">
                        <a:effectLst/>
                        <a:latin typeface="Aptos" panose="020B0004020202020204" pitchFamily="34" charset="0"/>
                        <a:ea typeface="Aptos" panose="020B0004020202020204" pitchFamily="34" charset="0"/>
                        <a:cs typeface="Times New Roman" panose="02020603050405020304" pitchFamily="18" charset="0"/>
                      </a:endParaRPr>
                    </a:p>
                  </a:txBody>
                  <a:tcPr marL="65536" marR="6553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1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1775960</a:t>
                      </a:r>
                      <a:endParaRPr lang="en-MY" sz="1800" kern="100">
                        <a:effectLst/>
                        <a:latin typeface="Aptos" panose="020B0004020202020204" pitchFamily="34" charset="0"/>
                        <a:ea typeface="Aptos" panose="020B0004020202020204" pitchFamily="34" charset="0"/>
                        <a:cs typeface="Times New Roman" panose="02020603050405020304" pitchFamily="18" charset="0"/>
                      </a:endParaRPr>
                    </a:p>
                  </a:txBody>
                  <a:tcPr marL="65536" marR="6553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1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2c</a:t>
                      </a:r>
                      <a:endParaRPr lang="en-MY" sz="1800" kern="100">
                        <a:effectLst/>
                        <a:latin typeface="Aptos" panose="020B0004020202020204" pitchFamily="34" charset="0"/>
                        <a:ea typeface="Aptos" panose="020B0004020202020204" pitchFamily="34" charset="0"/>
                        <a:cs typeface="Times New Roman" panose="02020603050405020304" pitchFamily="18" charset="0"/>
                      </a:endParaRPr>
                    </a:p>
                  </a:txBody>
                  <a:tcPr marL="65536" marR="6553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1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7.45</a:t>
                      </a:r>
                      <a:endParaRPr lang="en-MY" sz="1800" kern="100">
                        <a:effectLst/>
                        <a:latin typeface="Aptos" panose="020B0004020202020204" pitchFamily="34" charset="0"/>
                        <a:ea typeface="Aptos" panose="020B0004020202020204" pitchFamily="34" charset="0"/>
                        <a:cs typeface="Times New Roman" panose="02020603050405020304" pitchFamily="18" charset="0"/>
                      </a:endParaRPr>
                    </a:p>
                  </a:txBody>
                  <a:tcPr marL="65536" marR="6553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1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7.454</a:t>
                      </a:r>
                      <a:endParaRPr lang="en-MY" sz="1800" kern="100">
                        <a:effectLst/>
                        <a:latin typeface="Aptos" panose="020B0004020202020204" pitchFamily="34" charset="0"/>
                        <a:ea typeface="Aptos" panose="020B0004020202020204" pitchFamily="34" charset="0"/>
                        <a:cs typeface="Times New Roman" panose="02020603050405020304" pitchFamily="18" charset="0"/>
                      </a:endParaRPr>
                    </a:p>
                  </a:txBody>
                  <a:tcPr marL="65536" marR="6553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1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-0.004</a:t>
                      </a:r>
                      <a:endParaRPr lang="en-MY" sz="1800" kern="100">
                        <a:effectLst/>
                        <a:latin typeface="Aptos" panose="020B0004020202020204" pitchFamily="34" charset="0"/>
                        <a:ea typeface="Aptos" panose="020B0004020202020204" pitchFamily="34" charset="0"/>
                        <a:cs typeface="Times New Roman" panose="02020603050405020304" pitchFamily="18" charset="0"/>
                      </a:endParaRPr>
                    </a:p>
                  </a:txBody>
                  <a:tcPr marL="65536" marR="6553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1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7.109</a:t>
                      </a:r>
                      <a:endParaRPr lang="en-MY" sz="1800" kern="100">
                        <a:effectLst/>
                        <a:latin typeface="Aptos" panose="020B0004020202020204" pitchFamily="34" charset="0"/>
                        <a:ea typeface="Aptos" panose="020B0004020202020204" pitchFamily="34" charset="0"/>
                        <a:cs typeface="Times New Roman" panose="02020603050405020304" pitchFamily="18" charset="0"/>
                      </a:endParaRPr>
                    </a:p>
                  </a:txBody>
                  <a:tcPr marL="65536" marR="6553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1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0.341</a:t>
                      </a:r>
                      <a:endParaRPr lang="en-MY" sz="1800" kern="100">
                        <a:effectLst/>
                        <a:latin typeface="Aptos" panose="020B0004020202020204" pitchFamily="34" charset="0"/>
                        <a:ea typeface="Aptos" panose="020B0004020202020204" pitchFamily="34" charset="0"/>
                        <a:cs typeface="Times New Roman" panose="02020603050405020304" pitchFamily="18" charset="0"/>
                      </a:endParaRPr>
                    </a:p>
                  </a:txBody>
                  <a:tcPr marL="65536" marR="6553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1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Training Set</a:t>
                      </a:r>
                      <a:endParaRPr lang="en-MY" sz="1800" kern="100">
                        <a:effectLst/>
                        <a:latin typeface="Aptos" panose="020B0004020202020204" pitchFamily="34" charset="0"/>
                        <a:ea typeface="Aptos" panose="020B0004020202020204" pitchFamily="34" charset="0"/>
                        <a:cs typeface="Times New Roman" panose="02020603050405020304" pitchFamily="18" charset="0"/>
                      </a:endParaRPr>
                    </a:p>
                  </a:txBody>
                  <a:tcPr marL="65536" marR="6553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F0"/>
                    </a:solidFill>
                  </a:tcPr>
                </a:tc>
                <a:extLst>
                  <a:ext uri="{0D108BD9-81ED-4DB2-BD59-A6C34878D82A}">
                    <a16:rowId xmlns:a16="http://schemas.microsoft.com/office/drawing/2014/main" val="794155803"/>
                  </a:ext>
                </a:extLst>
              </a:tr>
              <a:tr h="232694">
                <a:tc>
                  <a:txBody>
                    <a:bodyPr/>
                    <a:lstStyle/>
                    <a:p>
                      <a:pPr algn="just">
                        <a:lnSpc>
                          <a:spcPct val="150000"/>
                        </a:lnSpc>
                        <a:spcAft>
                          <a:spcPts val="800"/>
                        </a:spcAft>
                      </a:pPr>
                      <a:r>
                        <a:rPr lang="it-IT" sz="11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25</a:t>
                      </a:r>
                      <a:endParaRPr lang="en-MY" sz="1800" kern="100">
                        <a:effectLst/>
                        <a:latin typeface="Aptos" panose="020B0004020202020204" pitchFamily="34" charset="0"/>
                        <a:ea typeface="Aptos" panose="020B0004020202020204" pitchFamily="34" charset="0"/>
                        <a:cs typeface="Times New Roman" panose="02020603050405020304" pitchFamily="18" charset="0"/>
                      </a:endParaRPr>
                    </a:p>
                  </a:txBody>
                  <a:tcPr marL="65536" marR="6553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1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1775961</a:t>
                      </a:r>
                      <a:endParaRPr lang="en-MY" sz="1800" kern="100">
                        <a:effectLst/>
                        <a:latin typeface="Aptos" panose="020B0004020202020204" pitchFamily="34" charset="0"/>
                        <a:ea typeface="Aptos" panose="020B0004020202020204" pitchFamily="34" charset="0"/>
                        <a:cs typeface="Times New Roman" panose="02020603050405020304" pitchFamily="18" charset="0"/>
                      </a:endParaRPr>
                    </a:p>
                  </a:txBody>
                  <a:tcPr marL="65536" marR="6553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1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2d</a:t>
                      </a:r>
                      <a:endParaRPr lang="en-MY" sz="1800" kern="100">
                        <a:effectLst/>
                        <a:latin typeface="Aptos" panose="020B0004020202020204" pitchFamily="34" charset="0"/>
                        <a:ea typeface="Aptos" panose="020B0004020202020204" pitchFamily="34" charset="0"/>
                        <a:cs typeface="Times New Roman" panose="02020603050405020304" pitchFamily="18" charset="0"/>
                      </a:endParaRPr>
                    </a:p>
                  </a:txBody>
                  <a:tcPr marL="65536" marR="6553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1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6.03</a:t>
                      </a:r>
                      <a:endParaRPr lang="en-MY" sz="1800" kern="100">
                        <a:effectLst/>
                        <a:latin typeface="Aptos" panose="020B0004020202020204" pitchFamily="34" charset="0"/>
                        <a:ea typeface="Aptos" panose="020B0004020202020204" pitchFamily="34" charset="0"/>
                        <a:cs typeface="Times New Roman" panose="02020603050405020304" pitchFamily="18" charset="0"/>
                      </a:endParaRPr>
                    </a:p>
                  </a:txBody>
                  <a:tcPr marL="65536" marR="6553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1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5.941</a:t>
                      </a:r>
                      <a:endParaRPr lang="en-MY" sz="1800" kern="100">
                        <a:effectLst/>
                        <a:latin typeface="Aptos" panose="020B0004020202020204" pitchFamily="34" charset="0"/>
                        <a:ea typeface="Aptos" panose="020B0004020202020204" pitchFamily="34" charset="0"/>
                        <a:cs typeface="Times New Roman" panose="02020603050405020304" pitchFamily="18" charset="0"/>
                      </a:endParaRPr>
                    </a:p>
                  </a:txBody>
                  <a:tcPr marL="65536" marR="6553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1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0.089</a:t>
                      </a:r>
                      <a:endParaRPr lang="en-MY" sz="1800" kern="100">
                        <a:effectLst/>
                        <a:latin typeface="Aptos" panose="020B0004020202020204" pitchFamily="34" charset="0"/>
                        <a:ea typeface="Aptos" panose="020B0004020202020204" pitchFamily="34" charset="0"/>
                        <a:cs typeface="Times New Roman" panose="02020603050405020304" pitchFamily="18" charset="0"/>
                      </a:endParaRPr>
                    </a:p>
                  </a:txBody>
                  <a:tcPr marL="65536" marR="6553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1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6.054</a:t>
                      </a:r>
                      <a:endParaRPr lang="en-MY" sz="1800" kern="100">
                        <a:effectLst/>
                        <a:latin typeface="Aptos" panose="020B0004020202020204" pitchFamily="34" charset="0"/>
                        <a:ea typeface="Aptos" panose="020B0004020202020204" pitchFamily="34" charset="0"/>
                        <a:cs typeface="Times New Roman" panose="02020603050405020304" pitchFamily="18" charset="0"/>
                      </a:endParaRPr>
                    </a:p>
                  </a:txBody>
                  <a:tcPr marL="65536" marR="6553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1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-0.024</a:t>
                      </a:r>
                      <a:endParaRPr lang="en-MY" sz="1800" kern="100">
                        <a:effectLst/>
                        <a:latin typeface="Aptos" panose="020B0004020202020204" pitchFamily="34" charset="0"/>
                        <a:ea typeface="Aptos" panose="020B0004020202020204" pitchFamily="34" charset="0"/>
                        <a:cs typeface="Times New Roman" panose="02020603050405020304" pitchFamily="18" charset="0"/>
                      </a:endParaRPr>
                    </a:p>
                  </a:txBody>
                  <a:tcPr marL="65536" marR="6553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1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Training Set</a:t>
                      </a:r>
                      <a:endParaRPr lang="en-MY" sz="1800" kern="100">
                        <a:effectLst/>
                        <a:latin typeface="Aptos" panose="020B0004020202020204" pitchFamily="34" charset="0"/>
                        <a:ea typeface="Aptos" panose="020B0004020202020204" pitchFamily="34" charset="0"/>
                        <a:cs typeface="Times New Roman" panose="02020603050405020304" pitchFamily="18" charset="0"/>
                      </a:endParaRPr>
                    </a:p>
                  </a:txBody>
                  <a:tcPr marL="65536" marR="6553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F0"/>
                    </a:solidFill>
                  </a:tcPr>
                </a:tc>
                <a:extLst>
                  <a:ext uri="{0D108BD9-81ED-4DB2-BD59-A6C34878D82A}">
                    <a16:rowId xmlns:a16="http://schemas.microsoft.com/office/drawing/2014/main" val="252401865"/>
                  </a:ext>
                </a:extLst>
              </a:tr>
              <a:tr h="232694">
                <a:tc>
                  <a:txBody>
                    <a:bodyPr/>
                    <a:lstStyle/>
                    <a:p>
                      <a:pPr algn="just">
                        <a:lnSpc>
                          <a:spcPct val="150000"/>
                        </a:lnSpc>
                        <a:spcAft>
                          <a:spcPts val="800"/>
                        </a:spcAft>
                      </a:pPr>
                      <a:r>
                        <a:rPr lang="it-IT" sz="11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26</a:t>
                      </a:r>
                      <a:endParaRPr lang="en-MY" sz="1800" kern="100">
                        <a:effectLst/>
                        <a:latin typeface="Aptos" panose="020B0004020202020204" pitchFamily="34" charset="0"/>
                        <a:ea typeface="Aptos" panose="020B0004020202020204" pitchFamily="34" charset="0"/>
                        <a:cs typeface="Times New Roman" panose="02020603050405020304" pitchFamily="18" charset="0"/>
                      </a:endParaRPr>
                    </a:p>
                  </a:txBody>
                  <a:tcPr marL="65536" marR="6553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1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1775962</a:t>
                      </a:r>
                      <a:endParaRPr lang="en-MY" sz="1800" kern="100">
                        <a:effectLst/>
                        <a:latin typeface="Aptos" panose="020B0004020202020204" pitchFamily="34" charset="0"/>
                        <a:ea typeface="Aptos" panose="020B0004020202020204" pitchFamily="34" charset="0"/>
                        <a:cs typeface="Times New Roman" panose="02020603050405020304" pitchFamily="18" charset="0"/>
                      </a:endParaRPr>
                    </a:p>
                  </a:txBody>
                  <a:tcPr marL="65536" marR="6553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1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2e</a:t>
                      </a:r>
                      <a:endParaRPr lang="en-MY" sz="1800" kern="100">
                        <a:effectLst/>
                        <a:latin typeface="Aptos" panose="020B0004020202020204" pitchFamily="34" charset="0"/>
                        <a:ea typeface="Aptos" panose="020B0004020202020204" pitchFamily="34" charset="0"/>
                        <a:cs typeface="Times New Roman" panose="02020603050405020304" pitchFamily="18" charset="0"/>
                      </a:endParaRPr>
                    </a:p>
                  </a:txBody>
                  <a:tcPr marL="65536" marR="6553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1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6.15</a:t>
                      </a:r>
                      <a:endParaRPr lang="en-MY" sz="1800" kern="100">
                        <a:effectLst/>
                        <a:latin typeface="Aptos" panose="020B0004020202020204" pitchFamily="34" charset="0"/>
                        <a:ea typeface="Aptos" panose="020B0004020202020204" pitchFamily="34" charset="0"/>
                        <a:cs typeface="Times New Roman" panose="02020603050405020304" pitchFamily="18" charset="0"/>
                      </a:endParaRPr>
                    </a:p>
                  </a:txBody>
                  <a:tcPr marL="65536" marR="6553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1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6.118</a:t>
                      </a:r>
                      <a:endParaRPr lang="en-MY" sz="1800" kern="100">
                        <a:effectLst/>
                        <a:latin typeface="Aptos" panose="020B0004020202020204" pitchFamily="34" charset="0"/>
                        <a:ea typeface="Aptos" panose="020B0004020202020204" pitchFamily="34" charset="0"/>
                        <a:cs typeface="Times New Roman" panose="02020603050405020304" pitchFamily="18" charset="0"/>
                      </a:endParaRPr>
                    </a:p>
                  </a:txBody>
                  <a:tcPr marL="65536" marR="6553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1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0.032</a:t>
                      </a:r>
                      <a:endParaRPr lang="en-MY" sz="1800" kern="100">
                        <a:effectLst/>
                        <a:latin typeface="Aptos" panose="020B0004020202020204" pitchFamily="34" charset="0"/>
                        <a:ea typeface="Aptos" panose="020B0004020202020204" pitchFamily="34" charset="0"/>
                        <a:cs typeface="Times New Roman" panose="02020603050405020304" pitchFamily="18" charset="0"/>
                      </a:endParaRPr>
                    </a:p>
                  </a:txBody>
                  <a:tcPr marL="65536" marR="6553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1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6.577</a:t>
                      </a:r>
                      <a:endParaRPr lang="en-MY" sz="1800" kern="100">
                        <a:effectLst/>
                        <a:latin typeface="Aptos" panose="020B0004020202020204" pitchFamily="34" charset="0"/>
                        <a:ea typeface="Aptos" panose="020B0004020202020204" pitchFamily="34" charset="0"/>
                        <a:cs typeface="Times New Roman" panose="02020603050405020304" pitchFamily="18" charset="0"/>
                      </a:endParaRPr>
                    </a:p>
                  </a:txBody>
                  <a:tcPr marL="65536" marR="6553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1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-0.427</a:t>
                      </a:r>
                      <a:endParaRPr lang="en-MY" sz="1800" kern="100">
                        <a:effectLst/>
                        <a:latin typeface="Aptos" panose="020B0004020202020204" pitchFamily="34" charset="0"/>
                        <a:ea typeface="Aptos" panose="020B0004020202020204" pitchFamily="34" charset="0"/>
                        <a:cs typeface="Times New Roman" panose="02020603050405020304" pitchFamily="18" charset="0"/>
                      </a:endParaRPr>
                    </a:p>
                  </a:txBody>
                  <a:tcPr marL="65536" marR="6553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1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Training Set</a:t>
                      </a:r>
                      <a:endParaRPr lang="en-MY" sz="1800" kern="100">
                        <a:effectLst/>
                        <a:latin typeface="Aptos" panose="020B0004020202020204" pitchFamily="34" charset="0"/>
                        <a:ea typeface="Aptos" panose="020B0004020202020204" pitchFamily="34" charset="0"/>
                        <a:cs typeface="Times New Roman" panose="02020603050405020304" pitchFamily="18" charset="0"/>
                      </a:endParaRPr>
                    </a:p>
                  </a:txBody>
                  <a:tcPr marL="65536" marR="6553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F0"/>
                    </a:solidFill>
                  </a:tcPr>
                </a:tc>
                <a:extLst>
                  <a:ext uri="{0D108BD9-81ED-4DB2-BD59-A6C34878D82A}">
                    <a16:rowId xmlns:a16="http://schemas.microsoft.com/office/drawing/2014/main" val="2353634766"/>
                  </a:ext>
                </a:extLst>
              </a:tr>
              <a:tr h="232694">
                <a:tc>
                  <a:txBody>
                    <a:bodyPr/>
                    <a:lstStyle/>
                    <a:p>
                      <a:pPr algn="just">
                        <a:lnSpc>
                          <a:spcPct val="150000"/>
                        </a:lnSpc>
                        <a:spcAft>
                          <a:spcPts val="800"/>
                        </a:spcAft>
                      </a:pPr>
                      <a:r>
                        <a:rPr lang="it-IT" sz="11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27</a:t>
                      </a:r>
                      <a:endParaRPr lang="en-MY" sz="1800" kern="100">
                        <a:effectLst/>
                        <a:latin typeface="Aptos" panose="020B0004020202020204" pitchFamily="34" charset="0"/>
                        <a:ea typeface="Aptos" panose="020B0004020202020204" pitchFamily="34" charset="0"/>
                        <a:cs typeface="Times New Roman" panose="02020603050405020304" pitchFamily="18" charset="0"/>
                      </a:endParaRPr>
                    </a:p>
                  </a:txBody>
                  <a:tcPr marL="65536" marR="6553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1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1775963</a:t>
                      </a:r>
                      <a:endParaRPr lang="en-MY" sz="1800" kern="100">
                        <a:effectLst/>
                        <a:latin typeface="Aptos" panose="020B0004020202020204" pitchFamily="34" charset="0"/>
                        <a:ea typeface="Aptos" panose="020B0004020202020204" pitchFamily="34" charset="0"/>
                        <a:cs typeface="Times New Roman" panose="02020603050405020304" pitchFamily="18" charset="0"/>
                      </a:endParaRPr>
                    </a:p>
                  </a:txBody>
                  <a:tcPr marL="65536" marR="6553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1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2f</a:t>
                      </a:r>
                      <a:endParaRPr lang="en-MY" sz="1800" kern="100">
                        <a:effectLst/>
                        <a:latin typeface="Aptos" panose="020B0004020202020204" pitchFamily="34" charset="0"/>
                        <a:ea typeface="Aptos" panose="020B0004020202020204" pitchFamily="34" charset="0"/>
                        <a:cs typeface="Times New Roman" panose="02020603050405020304" pitchFamily="18" charset="0"/>
                      </a:endParaRPr>
                    </a:p>
                  </a:txBody>
                  <a:tcPr marL="65536" marR="6553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1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6.57</a:t>
                      </a:r>
                      <a:endParaRPr lang="en-MY" sz="1800" kern="100">
                        <a:effectLst/>
                        <a:latin typeface="Aptos" panose="020B0004020202020204" pitchFamily="34" charset="0"/>
                        <a:ea typeface="Aptos" panose="020B0004020202020204" pitchFamily="34" charset="0"/>
                        <a:cs typeface="Times New Roman" panose="02020603050405020304" pitchFamily="18" charset="0"/>
                      </a:endParaRPr>
                    </a:p>
                  </a:txBody>
                  <a:tcPr marL="65536" marR="6553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1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6.523</a:t>
                      </a:r>
                      <a:endParaRPr lang="en-MY" sz="1800" kern="100">
                        <a:effectLst/>
                        <a:latin typeface="Aptos" panose="020B0004020202020204" pitchFamily="34" charset="0"/>
                        <a:ea typeface="Aptos" panose="020B0004020202020204" pitchFamily="34" charset="0"/>
                        <a:cs typeface="Times New Roman" panose="02020603050405020304" pitchFamily="18" charset="0"/>
                      </a:endParaRPr>
                    </a:p>
                  </a:txBody>
                  <a:tcPr marL="65536" marR="6553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1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0.047</a:t>
                      </a:r>
                      <a:endParaRPr lang="en-MY" sz="1800" kern="100">
                        <a:effectLst/>
                        <a:latin typeface="Aptos" panose="020B0004020202020204" pitchFamily="34" charset="0"/>
                        <a:ea typeface="Aptos" panose="020B0004020202020204" pitchFamily="34" charset="0"/>
                        <a:cs typeface="Times New Roman" panose="02020603050405020304" pitchFamily="18" charset="0"/>
                      </a:endParaRPr>
                    </a:p>
                  </a:txBody>
                  <a:tcPr marL="65536" marR="6553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1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7.136</a:t>
                      </a:r>
                      <a:endParaRPr lang="en-MY" sz="1800" kern="100">
                        <a:effectLst/>
                        <a:latin typeface="Aptos" panose="020B0004020202020204" pitchFamily="34" charset="0"/>
                        <a:ea typeface="Aptos" panose="020B0004020202020204" pitchFamily="34" charset="0"/>
                        <a:cs typeface="Times New Roman" panose="02020603050405020304" pitchFamily="18" charset="0"/>
                      </a:endParaRPr>
                    </a:p>
                  </a:txBody>
                  <a:tcPr marL="65536" marR="6553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1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-0.566</a:t>
                      </a:r>
                      <a:endParaRPr lang="en-MY" sz="1800" kern="100">
                        <a:effectLst/>
                        <a:latin typeface="Aptos" panose="020B0004020202020204" pitchFamily="34" charset="0"/>
                        <a:ea typeface="Aptos" panose="020B0004020202020204" pitchFamily="34" charset="0"/>
                        <a:cs typeface="Times New Roman" panose="02020603050405020304" pitchFamily="18" charset="0"/>
                      </a:endParaRPr>
                    </a:p>
                  </a:txBody>
                  <a:tcPr marL="65536" marR="6553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1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Training Set</a:t>
                      </a:r>
                      <a:endParaRPr lang="en-MY" sz="1800" kern="100">
                        <a:effectLst/>
                        <a:latin typeface="Aptos" panose="020B0004020202020204" pitchFamily="34" charset="0"/>
                        <a:ea typeface="Aptos" panose="020B0004020202020204" pitchFamily="34" charset="0"/>
                        <a:cs typeface="Times New Roman" panose="02020603050405020304" pitchFamily="18" charset="0"/>
                      </a:endParaRPr>
                    </a:p>
                  </a:txBody>
                  <a:tcPr marL="65536" marR="6553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F0"/>
                    </a:solidFill>
                  </a:tcPr>
                </a:tc>
                <a:extLst>
                  <a:ext uri="{0D108BD9-81ED-4DB2-BD59-A6C34878D82A}">
                    <a16:rowId xmlns:a16="http://schemas.microsoft.com/office/drawing/2014/main" val="3522687688"/>
                  </a:ext>
                </a:extLst>
              </a:tr>
              <a:tr h="232694">
                <a:tc>
                  <a:txBody>
                    <a:bodyPr/>
                    <a:lstStyle/>
                    <a:p>
                      <a:pPr algn="just">
                        <a:lnSpc>
                          <a:spcPct val="150000"/>
                        </a:lnSpc>
                        <a:spcAft>
                          <a:spcPts val="800"/>
                        </a:spcAft>
                      </a:pPr>
                      <a:r>
                        <a:rPr lang="it-IT" sz="11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28</a:t>
                      </a:r>
                      <a:endParaRPr lang="en-MY" sz="1800" kern="100">
                        <a:effectLst/>
                        <a:latin typeface="Aptos" panose="020B0004020202020204" pitchFamily="34" charset="0"/>
                        <a:ea typeface="Aptos" panose="020B0004020202020204" pitchFamily="34" charset="0"/>
                        <a:cs typeface="Times New Roman" panose="02020603050405020304" pitchFamily="18" charset="0"/>
                      </a:endParaRPr>
                    </a:p>
                  </a:txBody>
                  <a:tcPr marL="65536" marR="6553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just">
                        <a:lnSpc>
                          <a:spcPct val="150000"/>
                        </a:lnSpc>
                        <a:spcAft>
                          <a:spcPts val="800"/>
                        </a:spcAft>
                      </a:pPr>
                      <a:r>
                        <a:rPr lang="it-IT" sz="11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1775964</a:t>
                      </a:r>
                      <a:endParaRPr lang="en-MY" sz="1800" kern="100">
                        <a:effectLst/>
                        <a:latin typeface="Aptos" panose="020B0004020202020204" pitchFamily="34" charset="0"/>
                        <a:ea typeface="Aptos" panose="020B0004020202020204" pitchFamily="34" charset="0"/>
                        <a:cs typeface="Times New Roman" panose="02020603050405020304" pitchFamily="18" charset="0"/>
                      </a:endParaRPr>
                    </a:p>
                  </a:txBody>
                  <a:tcPr marL="65536" marR="6553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just">
                        <a:lnSpc>
                          <a:spcPct val="150000"/>
                        </a:lnSpc>
                        <a:spcAft>
                          <a:spcPts val="800"/>
                        </a:spcAft>
                      </a:pPr>
                      <a:r>
                        <a:rPr lang="it-IT" sz="11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2g</a:t>
                      </a:r>
                      <a:endParaRPr lang="en-MY" sz="1800" kern="100">
                        <a:effectLst/>
                        <a:latin typeface="Aptos" panose="020B0004020202020204" pitchFamily="34" charset="0"/>
                        <a:ea typeface="Aptos" panose="020B0004020202020204" pitchFamily="34" charset="0"/>
                        <a:cs typeface="Times New Roman" panose="02020603050405020304" pitchFamily="18" charset="0"/>
                      </a:endParaRPr>
                    </a:p>
                  </a:txBody>
                  <a:tcPr marL="65536" marR="6553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just">
                        <a:lnSpc>
                          <a:spcPct val="150000"/>
                        </a:lnSpc>
                        <a:spcAft>
                          <a:spcPts val="800"/>
                        </a:spcAft>
                      </a:pPr>
                      <a:r>
                        <a:rPr lang="it-IT" sz="11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7.81</a:t>
                      </a:r>
                      <a:endParaRPr lang="en-MY" sz="1800" kern="100">
                        <a:effectLst/>
                        <a:latin typeface="Aptos" panose="020B0004020202020204" pitchFamily="34" charset="0"/>
                        <a:ea typeface="Aptos" panose="020B0004020202020204" pitchFamily="34" charset="0"/>
                        <a:cs typeface="Times New Roman" panose="02020603050405020304" pitchFamily="18" charset="0"/>
                      </a:endParaRPr>
                    </a:p>
                  </a:txBody>
                  <a:tcPr marL="65536" marR="6553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just">
                        <a:lnSpc>
                          <a:spcPct val="150000"/>
                        </a:lnSpc>
                        <a:spcAft>
                          <a:spcPts val="800"/>
                        </a:spcAft>
                      </a:pPr>
                      <a:r>
                        <a:rPr lang="it-IT" sz="11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7.807</a:t>
                      </a:r>
                      <a:endParaRPr lang="en-MY" sz="1800" kern="100">
                        <a:effectLst/>
                        <a:latin typeface="Aptos" panose="020B0004020202020204" pitchFamily="34" charset="0"/>
                        <a:ea typeface="Aptos" panose="020B0004020202020204" pitchFamily="34" charset="0"/>
                        <a:cs typeface="Times New Roman" panose="02020603050405020304" pitchFamily="18" charset="0"/>
                      </a:endParaRPr>
                    </a:p>
                  </a:txBody>
                  <a:tcPr marL="65536" marR="6553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just">
                        <a:lnSpc>
                          <a:spcPct val="150000"/>
                        </a:lnSpc>
                        <a:spcAft>
                          <a:spcPts val="800"/>
                        </a:spcAft>
                      </a:pPr>
                      <a:r>
                        <a:rPr lang="it-IT" sz="11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0.003</a:t>
                      </a:r>
                      <a:endParaRPr lang="en-MY" sz="1800" kern="100">
                        <a:effectLst/>
                        <a:latin typeface="Aptos" panose="020B0004020202020204" pitchFamily="34" charset="0"/>
                        <a:ea typeface="Aptos" panose="020B0004020202020204" pitchFamily="34" charset="0"/>
                        <a:cs typeface="Times New Roman" panose="02020603050405020304" pitchFamily="18" charset="0"/>
                      </a:endParaRPr>
                    </a:p>
                  </a:txBody>
                  <a:tcPr marL="65536" marR="6553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just">
                        <a:lnSpc>
                          <a:spcPct val="150000"/>
                        </a:lnSpc>
                        <a:spcAft>
                          <a:spcPts val="800"/>
                        </a:spcAft>
                      </a:pPr>
                      <a:r>
                        <a:rPr lang="it-IT" sz="11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7.615</a:t>
                      </a:r>
                      <a:endParaRPr lang="en-MY" sz="1800" kern="100">
                        <a:effectLst/>
                        <a:latin typeface="Aptos" panose="020B0004020202020204" pitchFamily="34" charset="0"/>
                        <a:ea typeface="Aptos" panose="020B0004020202020204" pitchFamily="34" charset="0"/>
                        <a:cs typeface="Times New Roman" panose="02020603050405020304" pitchFamily="18" charset="0"/>
                      </a:endParaRPr>
                    </a:p>
                  </a:txBody>
                  <a:tcPr marL="65536" marR="6553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just">
                        <a:lnSpc>
                          <a:spcPct val="150000"/>
                        </a:lnSpc>
                        <a:spcAft>
                          <a:spcPts val="800"/>
                        </a:spcAft>
                      </a:pPr>
                      <a:r>
                        <a:rPr lang="it-IT" sz="11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0.195</a:t>
                      </a:r>
                      <a:endParaRPr lang="en-MY" sz="1800" kern="100">
                        <a:effectLst/>
                        <a:latin typeface="Aptos" panose="020B0004020202020204" pitchFamily="34" charset="0"/>
                        <a:ea typeface="Aptos" panose="020B0004020202020204" pitchFamily="34" charset="0"/>
                        <a:cs typeface="Times New Roman" panose="02020603050405020304" pitchFamily="18" charset="0"/>
                      </a:endParaRPr>
                    </a:p>
                  </a:txBody>
                  <a:tcPr marL="65536" marR="6553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just">
                        <a:lnSpc>
                          <a:spcPct val="150000"/>
                        </a:lnSpc>
                        <a:spcAft>
                          <a:spcPts val="800"/>
                        </a:spcAft>
                      </a:pPr>
                      <a:r>
                        <a:rPr lang="it-IT" sz="11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Training Set</a:t>
                      </a:r>
                      <a:endParaRPr lang="en-MY" sz="1800" kern="100">
                        <a:effectLst/>
                        <a:latin typeface="Aptos" panose="020B0004020202020204" pitchFamily="34" charset="0"/>
                        <a:ea typeface="Aptos" panose="020B0004020202020204" pitchFamily="34" charset="0"/>
                        <a:cs typeface="Times New Roman" panose="02020603050405020304" pitchFamily="18" charset="0"/>
                      </a:endParaRPr>
                    </a:p>
                  </a:txBody>
                  <a:tcPr marL="65536" marR="6553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F0"/>
                    </a:solidFill>
                  </a:tcPr>
                </a:tc>
                <a:extLst>
                  <a:ext uri="{0D108BD9-81ED-4DB2-BD59-A6C34878D82A}">
                    <a16:rowId xmlns:a16="http://schemas.microsoft.com/office/drawing/2014/main" val="3533864321"/>
                  </a:ext>
                </a:extLst>
              </a:tr>
              <a:tr h="232694">
                <a:tc>
                  <a:txBody>
                    <a:bodyPr/>
                    <a:lstStyle/>
                    <a:p>
                      <a:pPr algn="just">
                        <a:lnSpc>
                          <a:spcPct val="150000"/>
                        </a:lnSpc>
                        <a:spcAft>
                          <a:spcPts val="800"/>
                        </a:spcAft>
                      </a:pPr>
                      <a:r>
                        <a:rPr lang="it-IT" sz="11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29</a:t>
                      </a:r>
                      <a:endParaRPr lang="en-MY" sz="1800" kern="100">
                        <a:effectLst/>
                        <a:latin typeface="Aptos" panose="020B0004020202020204" pitchFamily="34" charset="0"/>
                        <a:ea typeface="Aptos" panose="020B0004020202020204" pitchFamily="34" charset="0"/>
                        <a:cs typeface="Times New Roman" panose="02020603050405020304" pitchFamily="18" charset="0"/>
                      </a:endParaRPr>
                    </a:p>
                  </a:txBody>
                  <a:tcPr marL="65536" marR="6553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1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1775965</a:t>
                      </a:r>
                      <a:endParaRPr lang="en-MY" sz="1800" kern="100">
                        <a:effectLst/>
                        <a:latin typeface="Aptos" panose="020B0004020202020204" pitchFamily="34" charset="0"/>
                        <a:ea typeface="Aptos" panose="020B0004020202020204" pitchFamily="34" charset="0"/>
                        <a:cs typeface="Times New Roman" panose="02020603050405020304" pitchFamily="18" charset="0"/>
                      </a:endParaRPr>
                    </a:p>
                  </a:txBody>
                  <a:tcPr marL="65536" marR="6553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1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2i</a:t>
                      </a:r>
                      <a:endParaRPr lang="en-MY" sz="1800" kern="100">
                        <a:effectLst/>
                        <a:latin typeface="Aptos" panose="020B0004020202020204" pitchFamily="34" charset="0"/>
                        <a:ea typeface="Aptos" panose="020B0004020202020204" pitchFamily="34" charset="0"/>
                        <a:cs typeface="Times New Roman" panose="02020603050405020304" pitchFamily="18" charset="0"/>
                      </a:endParaRPr>
                    </a:p>
                  </a:txBody>
                  <a:tcPr marL="65536" marR="6553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1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7.36</a:t>
                      </a:r>
                      <a:endParaRPr lang="en-MY" sz="1800" kern="100">
                        <a:effectLst/>
                        <a:latin typeface="Aptos" panose="020B0004020202020204" pitchFamily="34" charset="0"/>
                        <a:ea typeface="Aptos" panose="020B0004020202020204" pitchFamily="34" charset="0"/>
                        <a:cs typeface="Times New Roman" panose="02020603050405020304" pitchFamily="18" charset="0"/>
                      </a:endParaRPr>
                    </a:p>
                  </a:txBody>
                  <a:tcPr marL="65536" marR="6553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1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7.33</a:t>
                      </a:r>
                      <a:endParaRPr lang="en-MY" sz="1800" kern="100">
                        <a:effectLst/>
                        <a:latin typeface="Aptos" panose="020B0004020202020204" pitchFamily="34" charset="0"/>
                        <a:ea typeface="Aptos" panose="020B0004020202020204" pitchFamily="34" charset="0"/>
                        <a:cs typeface="Times New Roman" panose="02020603050405020304" pitchFamily="18" charset="0"/>
                      </a:endParaRPr>
                    </a:p>
                  </a:txBody>
                  <a:tcPr marL="65536" marR="6553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1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0.03</a:t>
                      </a:r>
                      <a:endParaRPr lang="en-MY" sz="1800" kern="100">
                        <a:effectLst/>
                        <a:latin typeface="Aptos" panose="020B0004020202020204" pitchFamily="34" charset="0"/>
                        <a:ea typeface="Aptos" panose="020B0004020202020204" pitchFamily="34" charset="0"/>
                        <a:cs typeface="Times New Roman" panose="02020603050405020304" pitchFamily="18" charset="0"/>
                      </a:endParaRPr>
                    </a:p>
                  </a:txBody>
                  <a:tcPr marL="65536" marR="6553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1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6.889</a:t>
                      </a:r>
                      <a:endParaRPr lang="en-MY" sz="1800" kern="100">
                        <a:effectLst/>
                        <a:latin typeface="Aptos" panose="020B0004020202020204" pitchFamily="34" charset="0"/>
                        <a:ea typeface="Aptos" panose="020B0004020202020204" pitchFamily="34" charset="0"/>
                        <a:cs typeface="Times New Roman" panose="02020603050405020304" pitchFamily="18" charset="0"/>
                      </a:endParaRPr>
                    </a:p>
                  </a:txBody>
                  <a:tcPr marL="65536" marR="6553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1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0.471</a:t>
                      </a:r>
                      <a:endParaRPr lang="en-MY" sz="1800" kern="100">
                        <a:effectLst/>
                        <a:latin typeface="Aptos" panose="020B0004020202020204" pitchFamily="34" charset="0"/>
                        <a:ea typeface="Aptos" panose="020B0004020202020204" pitchFamily="34" charset="0"/>
                        <a:cs typeface="Times New Roman" panose="02020603050405020304" pitchFamily="18" charset="0"/>
                      </a:endParaRPr>
                    </a:p>
                  </a:txBody>
                  <a:tcPr marL="65536" marR="6553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1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Training Set</a:t>
                      </a:r>
                      <a:endParaRPr lang="en-MY" sz="1800" kern="100">
                        <a:effectLst/>
                        <a:latin typeface="Aptos" panose="020B0004020202020204" pitchFamily="34" charset="0"/>
                        <a:ea typeface="Aptos" panose="020B0004020202020204" pitchFamily="34" charset="0"/>
                        <a:cs typeface="Times New Roman" panose="02020603050405020304" pitchFamily="18" charset="0"/>
                      </a:endParaRPr>
                    </a:p>
                  </a:txBody>
                  <a:tcPr marL="65536" marR="6553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F0"/>
                    </a:solidFill>
                  </a:tcPr>
                </a:tc>
                <a:extLst>
                  <a:ext uri="{0D108BD9-81ED-4DB2-BD59-A6C34878D82A}">
                    <a16:rowId xmlns:a16="http://schemas.microsoft.com/office/drawing/2014/main" val="1020623315"/>
                  </a:ext>
                </a:extLst>
              </a:tr>
              <a:tr h="232694">
                <a:tc>
                  <a:txBody>
                    <a:bodyPr/>
                    <a:lstStyle/>
                    <a:p>
                      <a:pPr algn="just">
                        <a:lnSpc>
                          <a:spcPct val="150000"/>
                        </a:lnSpc>
                        <a:spcAft>
                          <a:spcPts val="800"/>
                        </a:spcAft>
                      </a:pPr>
                      <a:r>
                        <a:rPr lang="it-IT" sz="11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30</a:t>
                      </a:r>
                      <a:endParaRPr lang="en-MY" sz="1800" kern="100">
                        <a:effectLst/>
                        <a:latin typeface="Aptos" panose="020B0004020202020204" pitchFamily="34" charset="0"/>
                        <a:ea typeface="Aptos" panose="020B0004020202020204" pitchFamily="34" charset="0"/>
                        <a:cs typeface="Times New Roman" panose="02020603050405020304" pitchFamily="18" charset="0"/>
                      </a:endParaRPr>
                    </a:p>
                  </a:txBody>
                  <a:tcPr marL="65536" marR="6553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1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1775966</a:t>
                      </a:r>
                      <a:endParaRPr lang="en-MY" sz="1800" kern="100">
                        <a:effectLst/>
                        <a:latin typeface="Aptos" panose="020B0004020202020204" pitchFamily="34" charset="0"/>
                        <a:ea typeface="Aptos" panose="020B0004020202020204" pitchFamily="34" charset="0"/>
                        <a:cs typeface="Times New Roman" panose="02020603050405020304" pitchFamily="18" charset="0"/>
                      </a:endParaRPr>
                    </a:p>
                  </a:txBody>
                  <a:tcPr marL="65536" marR="6553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1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3a</a:t>
                      </a:r>
                      <a:endParaRPr lang="en-MY" sz="1800" kern="100">
                        <a:effectLst/>
                        <a:latin typeface="Aptos" panose="020B0004020202020204" pitchFamily="34" charset="0"/>
                        <a:ea typeface="Aptos" panose="020B0004020202020204" pitchFamily="34" charset="0"/>
                        <a:cs typeface="Times New Roman" panose="02020603050405020304" pitchFamily="18" charset="0"/>
                      </a:endParaRPr>
                    </a:p>
                  </a:txBody>
                  <a:tcPr marL="65536" marR="6553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1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5.89</a:t>
                      </a:r>
                      <a:endParaRPr lang="en-MY" sz="1800" kern="100">
                        <a:effectLst/>
                        <a:latin typeface="Aptos" panose="020B0004020202020204" pitchFamily="34" charset="0"/>
                        <a:ea typeface="Aptos" panose="020B0004020202020204" pitchFamily="34" charset="0"/>
                        <a:cs typeface="Times New Roman" panose="02020603050405020304" pitchFamily="18" charset="0"/>
                      </a:endParaRPr>
                    </a:p>
                  </a:txBody>
                  <a:tcPr marL="65536" marR="6553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1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5.933</a:t>
                      </a:r>
                      <a:endParaRPr lang="en-MY" sz="1800" kern="100">
                        <a:effectLst/>
                        <a:latin typeface="Aptos" panose="020B0004020202020204" pitchFamily="34" charset="0"/>
                        <a:ea typeface="Aptos" panose="020B0004020202020204" pitchFamily="34" charset="0"/>
                        <a:cs typeface="Times New Roman" panose="02020603050405020304" pitchFamily="18" charset="0"/>
                      </a:endParaRPr>
                    </a:p>
                  </a:txBody>
                  <a:tcPr marL="65536" marR="6553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1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-0.043</a:t>
                      </a:r>
                      <a:endParaRPr lang="en-MY" sz="1800" kern="100">
                        <a:effectLst/>
                        <a:latin typeface="Aptos" panose="020B0004020202020204" pitchFamily="34" charset="0"/>
                        <a:ea typeface="Aptos" panose="020B0004020202020204" pitchFamily="34" charset="0"/>
                        <a:cs typeface="Times New Roman" panose="02020603050405020304" pitchFamily="18" charset="0"/>
                      </a:endParaRPr>
                    </a:p>
                  </a:txBody>
                  <a:tcPr marL="65536" marR="6553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1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5.703</a:t>
                      </a:r>
                      <a:endParaRPr lang="en-MY" sz="1800" kern="100">
                        <a:effectLst/>
                        <a:latin typeface="Aptos" panose="020B0004020202020204" pitchFamily="34" charset="0"/>
                        <a:ea typeface="Aptos" panose="020B0004020202020204" pitchFamily="34" charset="0"/>
                        <a:cs typeface="Times New Roman" panose="02020603050405020304" pitchFamily="18" charset="0"/>
                      </a:endParaRPr>
                    </a:p>
                  </a:txBody>
                  <a:tcPr marL="65536" marR="6553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1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0.187</a:t>
                      </a:r>
                      <a:endParaRPr lang="en-MY" sz="1800" kern="100">
                        <a:effectLst/>
                        <a:latin typeface="Aptos" panose="020B0004020202020204" pitchFamily="34" charset="0"/>
                        <a:ea typeface="Aptos" panose="020B0004020202020204" pitchFamily="34" charset="0"/>
                        <a:cs typeface="Times New Roman" panose="02020603050405020304" pitchFamily="18" charset="0"/>
                      </a:endParaRPr>
                    </a:p>
                  </a:txBody>
                  <a:tcPr marL="65536" marR="6553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1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Training Set</a:t>
                      </a:r>
                      <a:endParaRPr lang="en-MY" sz="1800" kern="100">
                        <a:effectLst/>
                        <a:latin typeface="Aptos" panose="020B0004020202020204" pitchFamily="34" charset="0"/>
                        <a:ea typeface="Aptos" panose="020B0004020202020204" pitchFamily="34" charset="0"/>
                        <a:cs typeface="Times New Roman" panose="02020603050405020304" pitchFamily="18" charset="0"/>
                      </a:endParaRPr>
                    </a:p>
                  </a:txBody>
                  <a:tcPr marL="65536" marR="6553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F0"/>
                    </a:solidFill>
                  </a:tcPr>
                </a:tc>
                <a:extLst>
                  <a:ext uri="{0D108BD9-81ED-4DB2-BD59-A6C34878D82A}">
                    <a16:rowId xmlns:a16="http://schemas.microsoft.com/office/drawing/2014/main" val="1700579395"/>
                  </a:ext>
                </a:extLst>
              </a:tr>
              <a:tr h="232694">
                <a:tc>
                  <a:txBody>
                    <a:bodyPr/>
                    <a:lstStyle/>
                    <a:p>
                      <a:pPr algn="just">
                        <a:lnSpc>
                          <a:spcPct val="150000"/>
                        </a:lnSpc>
                        <a:spcAft>
                          <a:spcPts val="800"/>
                        </a:spcAft>
                      </a:pPr>
                      <a:r>
                        <a:rPr lang="it-IT" sz="11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31</a:t>
                      </a:r>
                      <a:endParaRPr lang="en-MY" sz="1800" kern="100">
                        <a:effectLst/>
                        <a:latin typeface="Aptos" panose="020B0004020202020204" pitchFamily="34" charset="0"/>
                        <a:ea typeface="Aptos" panose="020B0004020202020204" pitchFamily="34" charset="0"/>
                        <a:cs typeface="Times New Roman" panose="02020603050405020304" pitchFamily="18" charset="0"/>
                      </a:endParaRPr>
                    </a:p>
                  </a:txBody>
                  <a:tcPr marL="65536" marR="6553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1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1775967</a:t>
                      </a:r>
                      <a:endParaRPr lang="en-MY" sz="1800" kern="100">
                        <a:effectLst/>
                        <a:latin typeface="Aptos" panose="020B0004020202020204" pitchFamily="34" charset="0"/>
                        <a:ea typeface="Aptos" panose="020B0004020202020204" pitchFamily="34" charset="0"/>
                        <a:cs typeface="Times New Roman" panose="02020603050405020304" pitchFamily="18" charset="0"/>
                      </a:endParaRPr>
                    </a:p>
                  </a:txBody>
                  <a:tcPr marL="65536" marR="6553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1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3c</a:t>
                      </a:r>
                      <a:endParaRPr lang="en-MY" sz="1800" kern="100">
                        <a:effectLst/>
                        <a:latin typeface="Aptos" panose="020B0004020202020204" pitchFamily="34" charset="0"/>
                        <a:ea typeface="Aptos" panose="020B0004020202020204" pitchFamily="34" charset="0"/>
                        <a:cs typeface="Times New Roman" panose="02020603050405020304" pitchFamily="18" charset="0"/>
                      </a:endParaRPr>
                    </a:p>
                  </a:txBody>
                  <a:tcPr marL="65536" marR="6553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1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7.28</a:t>
                      </a:r>
                      <a:endParaRPr lang="en-MY" sz="1800" kern="100">
                        <a:effectLst/>
                        <a:latin typeface="Aptos" panose="020B0004020202020204" pitchFamily="34" charset="0"/>
                        <a:ea typeface="Aptos" panose="020B0004020202020204" pitchFamily="34" charset="0"/>
                        <a:cs typeface="Times New Roman" panose="02020603050405020304" pitchFamily="18" charset="0"/>
                      </a:endParaRPr>
                    </a:p>
                  </a:txBody>
                  <a:tcPr marL="65536" marR="6553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1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7.324</a:t>
                      </a:r>
                      <a:endParaRPr lang="en-MY" sz="1800" kern="100">
                        <a:effectLst/>
                        <a:latin typeface="Aptos" panose="020B0004020202020204" pitchFamily="34" charset="0"/>
                        <a:ea typeface="Aptos" panose="020B0004020202020204" pitchFamily="34" charset="0"/>
                        <a:cs typeface="Times New Roman" panose="02020603050405020304" pitchFamily="18" charset="0"/>
                      </a:endParaRPr>
                    </a:p>
                  </a:txBody>
                  <a:tcPr marL="65536" marR="6553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1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-0.044</a:t>
                      </a:r>
                      <a:endParaRPr lang="en-MY" sz="1800" kern="100">
                        <a:effectLst/>
                        <a:latin typeface="Aptos" panose="020B0004020202020204" pitchFamily="34" charset="0"/>
                        <a:ea typeface="Aptos" panose="020B0004020202020204" pitchFamily="34" charset="0"/>
                        <a:cs typeface="Times New Roman" panose="02020603050405020304" pitchFamily="18" charset="0"/>
                      </a:endParaRPr>
                    </a:p>
                  </a:txBody>
                  <a:tcPr marL="65536" marR="6553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1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7.351</a:t>
                      </a:r>
                      <a:endParaRPr lang="en-MY" sz="1800" kern="100">
                        <a:effectLst/>
                        <a:latin typeface="Aptos" panose="020B0004020202020204" pitchFamily="34" charset="0"/>
                        <a:ea typeface="Aptos" panose="020B0004020202020204" pitchFamily="34" charset="0"/>
                        <a:cs typeface="Times New Roman" panose="02020603050405020304" pitchFamily="18" charset="0"/>
                      </a:endParaRPr>
                    </a:p>
                  </a:txBody>
                  <a:tcPr marL="65536" marR="6553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1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-0.071</a:t>
                      </a:r>
                      <a:endParaRPr lang="en-MY" sz="1800" kern="100">
                        <a:effectLst/>
                        <a:latin typeface="Aptos" panose="020B0004020202020204" pitchFamily="34" charset="0"/>
                        <a:ea typeface="Aptos" panose="020B0004020202020204" pitchFamily="34" charset="0"/>
                        <a:cs typeface="Times New Roman" panose="02020603050405020304" pitchFamily="18" charset="0"/>
                      </a:endParaRPr>
                    </a:p>
                  </a:txBody>
                  <a:tcPr marL="65536" marR="6553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1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Training Set</a:t>
                      </a:r>
                      <a:endParaRPr lang="en-MY" sz="1800" kern="100">
                        <a:effectLst/>
                        <a:latin typeface="Aptos" panose="020B0004020202020204" pitchFamily="34" charset="0"/>
                        <a:ea typeface="Aptos" panose="020B0004020202020204" pitchFamily="34" charset="0"/>
                        <a:cs typeface="Times New Roman" panose="02020603050405020304" pitchFamily="18" charset="0"/>
                      </a:endParaRPr>
                    </a:p>
                  </a:txBody>
                  <a:tcPr marL="65536" marR="6553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F0"/>
                    </a:solidFill>
                  </a:tcPr>
                </a:tc>
                <a:extLst>
                  <a:ext uri="{0D108BD9-81ED-4DB2-BD59-A6C34878D82A}">
                    <a16:rowId xmlns:a16="http://schemas.microsoft.com/office/drawing/2014/main" val="512681507"/>
                  </a:ext>
                </a:extLst>
              </a:tr>
              <a:tr h="232694">
                <a:tc>
                  <a:txBody>
                    <a:bodyPr/>
                    <a:lstStyle/>
                    <a:p>
                      <a:pPr algn="just">
                        <a:lnSpc>
                          <a:spcPct val="150000"/>
                        </a:lnSpc>
                        <a:spcAft>
                          <a:spcPts val="800"/>
                        </a:spcAft>
                      </a:pPr>
                      <a:r>
                        <a:rPr lang="it-IT" sz="11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32</a:t>
                      </a:r>
                      <a:endParaRPr lang="en-MY" sz="1800" kern="100">
                        <a:effectLst/>
                        <a:latin typeface="Aptos" panose="020B0004020202020204" pitchFamily="34" charset="0"/>
                        <a:ea typeface="Aptos" panose="020B0004020202020204" pitchFamily="34" charset="0"/>
                        <a:cs typeface="Times New Roman" panose="02020603050405020304" pitchFamily="18" charset="0"/>
                      </a:endParaRPr>
                    </a:p>
                  </a:txBody>
                  <a:tcPr marL="65536" marR="6553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1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1775968</a:t>
                      </a:r>
                      <a:endParaRPr lang="en-MY" sz="1800" kern="100">
                        <a:effectLst/>
                        <a:latin typeface="Aptos" panose="020B0004020202020204" pitchFamily="34" charset="0"/>
                        <a:ea typeface="Aptos" panose="020B0004020202020204" pitchFamily="34" charset="0"/>
                        <a:cs typeface="Times New Roman" panose="02020603050405020304" pitchFamily="18" charset="0"/>
                      </a:endParaRPr>
                    </a:p>
                  </a:txBody>
                  <a:tcPr marL="65536" marR="6553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1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3d</a:t>
                      </a:r>
                      <a:endParaRPr lang="en-MY" sz="1800" kern="100">
                        <a:effectLst/>
                        <a:latin typeface="Aptos" panose="020B0004020202020204" pitchFamily="34" charset="0"/>
                        <a:ea typeface="Aptos" panose="020B0004020202020204" pitchFamily="34" charset="0"/>
                        <a:cs typeface="Times New Roman" panose="02020603050405020304" pitchFamily="18" charset="0"/>
                      </a:endParaRPr>
                    </a:p>
                  </a:txBody>
                  <a:tcPr marL="65536" marR="6553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1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6.7</a:t>
                      </a:r>
                      <a:endParaRPr lang="en-MY" sz="1800" kern="100">
                        <a:effectLst/>
                        <a:latin typeface="Aptos" panose="020B0004020202020204" pitchFamily="34" charset="0"/>
                        <a:ea typeface="Aptos" panose="020B0004020202020204" pitchFamily="34" charset="0"/>
                        <a:cs typeface="Times New Roman" panose="02020603050405020304" pitchFamily="18" charset="0"/>
                      </a:endParaRPr>
                    </a:p>
                  </a:txBody>
                  <a:tcPr marL="65536" marR="6553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1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6.804</a:t>
                      </a:r>
                      <a:endParaRPr lang="en-MY" sz="1800" kern="100">
                        <a:effectLst/>
                        <a:latin typeface="Aptos" panose="020B0004020202020204" pitchFamily="34" charset="0"/>
                        <a:ea typeface="Aptos" panose="020B0004020202020204" pitchFamily="34" charset="0"/>
                        <a:cs typeface="Times New Roman" panose="02020603050405020304" pitchFamily="18" charset="0"/>
                      </a:endParaRPr>
                    </a:p>
                  </a:txBody>
                  <a:tcPr marL="65536" marR="6553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1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-0.104</a:t>
                      </a:r>
                      <a:endParaRPr lang="en-MY" sz="1800" kern="100">
                        <a:effectLst/>
                        <a:latin typeface="Aptos" panose="020B0004020202020204" pitchFamily="34" charset="0"/>
                        <a:ea typeface="Aptos" panose="020B0004020202020204" pitchFamily="34" charset="0"/>
                        <a:cs typeface="Times New Roman" panose="02020603050405020304" pitchFamily="18" charset="0"/>
                      </a:endParaRPr>
                    </a:p>
                  </a:txBody>
                  <a:tcPr marL="65536" marR="6553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1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7.338</a:t>
                      </a:r>
                      <a:endParaRPr lang="en-MY" sz="1800" kern="100">
                        <a:effectLst/>
                        <a:latin typeface="Aptos" panose="020B0004020202020204" pitchFamily="34" charset="0"/>
                        <a:ea typeface="Aptos" panose="020B0004020202020204" pitchFamily="34" charset="0"/>
                        <a:cs typeface="Times New Roman" panose="02020603050405020304" pitchFamily="18" charset="0"/>
                      </a:endParaRPr>
                    </a:p>
                  </a:txBody>
                  <a:tcPr marL="65536" marR="6553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1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-0.638</a:t>
                      </a:r>
                      <a:endParaRPr lang="en-MY" sz="1800" kern="100">
                        <a:effectLst/>
                        <a:latin typeface="Aptos" panose="020B0004020202020204" pitchFamily="34" charset="0"/>
                        <a:ea typeface="Aptos" panose="020B0004020202020204" pitchFamily="34" charset="0"/>
                        <a:cs typeface="Times New Roman" panose="02020603050405020304" pitchFamily="18" charset="0"/>
                      </a:endParaRPr>
                    </a:p>
                  </a:txBody>
                  <a:tcPr marL="65536" marR="6553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1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Training Set</a:t>
                      </a:r>
                      <a:endParaRPr lang="en-MY" sz="1800" kern="100">
                        <a:effectLst/>
                        <a:latin typeface="Aptos" panose="020B0004020202020204" pitchFamily="34" charset="0"/>
                        <a:ea typeface="Aptos" panose="020B0004020202020204" pitchFamily="34" charset="0"/>
                        <a:cs typeface="Times New Roman" panose="02020603050405020304" pitchFamily="18" charset="0"/>
                      </a:endParaRPr>
                    </a:p>
                  </a:txBody>
                  <a:tcPr marL="65536" marR="6553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F0"/>
                    </a:solidFill>
                  </a:tcPr>
                </a:tc>
                <a:extLst>
                  <a:ext uri="{0D108BD9-81ED-4DB2-BD59-A6C34878D82A}">
                    <a16:rowId xmlns:a16="http://schemas.microsoft.com/office/drawing/2014/main" val="3109143958"/>
                  </a:ext>
                </a:extLst>
              </a:tr>
              <a:tr h="232694">
                <a:tc>
                  <a:txBody>
                    <a:bodyPr/>
                    <a:lstStyle/>
                    <a:p>
                      <a:pPr algn="just">
                        <a:lnSpc>
                          <a:spcPct val="150000"/>
                        </a:lnSpc>
                        <a:spcAft>
                          <a:spcPts val="800"/>
                        </a:spcAft>
                      </a:pPr>
                      <a:r>
                        <a:rPr lang="it-IT" sz="11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33</a:t>
                      </a:r>
                      <a:endParaRPr lang="en-MY" sz="1800" kern="100">
                        <a:effectLst/>
                        <a:latin typeface="Aptos" panose="020B0004020202020204" pitchFamily="34" charset="0"/>
                        <a:ea typeface="Aptos" panose="020B0004020202020204" pitchFamily="34" charset="0"/>
                        <a:cs typeface="Times New Roman" panose="02020603050405020304" pitchFamily="18" charset="0"/>
                      </a:endParaRPr>
                    </a:p>
                  </a:txBody>
                  <a:tcPr marL="65536" marR="6553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1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1775969</a:t>
                      </a:r>
                      <a:endParaRPr lang="en-MY" sz="1800" kern="100">
                        <a:effectLst/>
                        <a:latin typeface="Aptos" panose="020B0004020202020204" pitchFamily="34" charset="0"/>
                        <a:ea typeface="Aptos" panose="020B0004020202020204" pitchFamily="34" charset="0"/>
                        <a:cs typeface="Times New Roman" panose="02020603050405020304" pitchFamily="18" charset="0"/>
                      </a:endParaRPr>
                    </a:p>
                  </a:txBody>
                  <a:tcPr marL="65536" marR="6553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1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3e</a:t>
                      </a:r>
                      <a:endParaRPr lang="en-MY" sz="1800" kern="100">
                        <a:effectLst/>
                        <a:latin typeface="Aptos" panose="020B0004020202020204" pitchFamily="34" charset="0"/>
                        <a:ea typeface="Aptos" panose="020B0004020202020204" pitchFamily="34" charset="0"/>
                        <a:cs typeface="Times New Roman" panose="02020603050405020304" pitchFamily="18" charset="0"/>
                      </a:endParaRPr>
                    </a:p>
                  </a:txBody>
                  <a:tcPr marL="65536" marR="6553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1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6.35</a:t>
                      </a:r>
                      <a:endParaRPr lang="en-MY" sz="1800" kern="100">
                        <a:effectLst/>
                        <a:latin typeface="Aptos" panose="020B0004020202020204" pitchFamily="34" charset="0"/>
                        <a:ea typeface="Aptos" panose="020B0004020202020204" pitchFamily="34" charset="0"/>
                        <a:cs typeface="Times New Roman" panose="02020603050405020304" pitchFamily="18" charset="0"/>
                      </a:endParaRPr>
                    </a:p>
                  </a:txBody>
                  <a:tcPr marL="65536" marR="6553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1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6.348</a:t>
                      </a:r>
                      <a:endParaRPr lang="en-MY" sz="1800" kern="100">
                        <a:effectLst/>
                        <a:latin typeface="Aptos" panose="020B0004020202020204" pitchFamily="34" charset="0"/>
                        <a:ea typeface="Aptos" panose="020B0004020202020204" pitchFamily="34" charset="0"/>
                        <a:cs typeface="Times New Roman" panose="02020603050405020304" pitchFamily="18" charset="0"/>
                      </a:endParaRPr>
                    </a:p>
                  </a:txBody>
                  <a:tcPr marL="65536" marR="6553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1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0.002</a:t>
                      </a:r>
                      <a:endParaRPr lang="en-MY" sz="1800" kern="100">
                        <a:effectLst/>
                        <a:latin typeface="Aptos" panose="020B0004020202020204" pitchFamily="34" charset="0"/>
                        <a:ea typeface="Aptos" panose="020B0004020202020204" pitchFamily="34" charset="0"/>
                        <a:cs typeface="Times New Roman" panose="02020603050405020304" pitchFamily="18" charset="0"/>
                      </a:endParaRPr>
                    </a:p>
                  </a:txBody>
                  <a:tcPr marL="65536" marR="6553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1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6.338</a:t>
                      </a:r>
                      <a:endParaRPr lang="en-MY" sz="1800" kern="100">
                        <a:effectLst/>
                        <a:latin typeface="Aptos" panose="020B0004020202020204" pitchFamily="34" charset="0"/>
                        <a:ea typeface="Aptos" panose="020B0004020202020204" pitchFamily="34" charset="0"/>
                        <a:cs typeface="Times New Roman" panose="02020603050405020304" pitchFamily="18" charset="0"/>
                      </a:endParaRPr>
                    </a:p>
                  </a:txBody>
                  <a:tcPr marL="65536" marR="6553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1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0.012</a:t>
                      </a:r>
                      <a:endParaRPr lang="en-MY" sz="1800" kern="100">
                        <a:effectLst/>
                        <a:latin typeface="Aptos" panose="020B0004020202020204" pitchFamily="34" charset="0"/>
                        <a:ea typeface="Aptos" panose="020B0004020202020204" pitchFamily="34" charset="0"/>
                        <a:cs typeface="Times New Roman" panose="02020603050405020304" pitchFamily="18" charset="0"/>
                      </a:endParaRPr>
                    </a:p>
                  </a:txBody>
                  <a:tcPr marL="65536" marR="6553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1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Training Set</a:t>
                      </a:r>
                      <a:endParaRPr lang="en-MY" sz="1800" kern="100">
                        <a:effectLst/>
                        <a:latin typeface="Aptos" panose="020B0004020202020204" pitchFamily="34" charset="0"/>
                        <a:ea typeface="Aptos" panose="020B0004020202020204" pitchFamily="34" charset="0"/>
                        <a:cs typeface="Times New Roman" panose="02020603050405020304" pitchFamily="18" charset="0"/>
                      </a:endParaRPr>
                    </a:p>
                  </a:txBody>
                  <a:tcPr marL="65536" marR="6553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F0"/>
                    </a:solidFill>
                  </a:tcPr>
                </a:tc>
                <a:extLst>
                  <a:ext uri="{0D108BD9-81ED-4DB2-BD59-A6C34878D82A}">
                    <a16:rowId xmlns:a16="http://schemas.microsoft.com/office/drawing/2014/main" val="2169471053"/>
                  </a:ext>
                </a:extLst>
              </a:tr>
              <a:tr h="232694">
                <a:tc>
                  <a:txBody>
                    <a:bodyPr/>
                    <a:lstStyle/>
                    <a:p>
                      <a:pPr algn="just">
                        <a:lnSpc>
                          <a:spcPct val="150000"/>
                        </a:lnSpc>
                        <a:spcAft>
                          <a:spcPts val="800"/>
                        </a:spcAft>
                      </a:pPr>
                      <a:r>
                        <a:rPr lang="it-IT" sz="11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34</a:t>
                      </a:r>
                      <a:endParaRPr lang="en-MY" sz="1800" kern="100">
                        <a:effectLst/>
                        <a:latin typeface="Aptos" panose="020B0004020202020204" pitchFamily="34" charset="0"/>
                        <a:ea typeface="Aptos" panose="020B0004020202020204" pitchFamily="34" charset="0"/>
                        <a:cs typeface="Times New Roman" panose="02020603050405020304" pitchFamily="18" charset="0"/>
                      </a:endParaRPr>
                    </a:p>
                  </a:txBody>
                  <a:tcPr marL="65536" marR="6553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1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1775970</a:t>
                      </a:r>
                      <a:endParaRPr lang="en-MY" sz="1800" kern="100">
                        <a:effectLst/>
                        <a:latin typeface="Aptos" panose="020B0004020202020204" pitchFamily="34" charset="0"/>
                        <a:ea typeface="Aptos" panose="020B0004020202020204" pitchFamily="34" charset="0"/>
                        <a:cs typeface="Times New Roman" panose="02020603050405020304" pitchFamily="18" charset="0"/>
                      </a:endParaRPr>
                    </a:p>
                  </a:txBody>
                  <a:tcPr marL="65536" marR="6553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1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3f</a:t>
                      </a:r>
                      <a:endParaRPr lang="en-MY" sz="1800" kern="100">
                        <a:effectLst/>
                        <a:latin typeface="Aptos" panose="020B0004020202020204" pitchFamily="34" charset="0"/>
                        <a:ea typeface="Aptos" panose="020B0004020202020204" pitchFamily="34" charset="0"/>
                        <a:cs typeface="Times New Roman" panose="02020603050405020304" pitchFamily="18" charset="0"/>
                      </a:endParaRPr>
                    </a:p>
                  </a:txBody>
                  <a:tcPr marL="65536" marR="6553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1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7.7</a:t>
                      </a:r>
                      <a:endParaRPr lang="en-MY" sz="1800" kern="100">
                        <a:effectLst/>
                        <a:latin typeface="Aptos" panose="020B0004020202020204" pitchFamily="34" charset="0"/>
                        <a:ea typeface="Aptos" panose="020B0004020202020204" pitchFamily="34" charset="0"/>
                        <a:cs typeface="Times New Roman" panose="02020603050405020304" pitchFamily="18" charset="0"/>
                      </a:endParaRPr>
                    </a:p>
                  </a:txBody>
                  <a:tcPr marL="65536" marR="6553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1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7.535</a:t>
                      </a:r>
                      <a:endParaRPr lang="en-MY" sz="1800" kern="100">
                        <a:effectLst/>
                        <a:latin typeface="Aptos" panose="020B0004020202020204" pitchFamily="34" charset="0"/>
                        <a:ea typeface="Aptos" panose="020B0004020202020204" pitchFamily="34" charset="0"/>
                        <a:cs typeface="Times New Roman" panose="02020603050405020304" pitchFamily="18" charset="0"/>
                      </a:endParaRPr>
                    </a:p>
                  </a:txBody>
                  <a:tcPr marL="65536" marR="6553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1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0.165</a:t>
                      </a:r>
                      <a:endParaRPr lang="en-MY" sz="1800" kern="100">
                        <a:effectLst/>
                        <a:latin typeface="Aptos" panose="020B0004020202020204" pitchFamily="34" charset="0"/>
                        <a:ea typeface="Aptos" panose="020B0004020202020204" pitchFamily="34" charset="0"/>
                        <a:cs typeface="Times New Roman" panose="02020603050405020304" pitchFamily="18" charset="0"/>
                      </a:endParaRPr>
                    </a:p>
                  </a:txBody>
                  <a:tcPr marL="65536" marR="6553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1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7.001</a:t>
                      </a:r>
                      <a:endParaRPr lang="en-MY" sz="1800" kern="100">
                        <a:effectLst/>
                        <a:latin typeface="Aptos" panose="020B0004020202020204" pitchFamily="34" charset="0"/>
                        <a:ea typeface="Aptos" panose="020B0004020202020204" pitchFamily="34" charset="0"/>
                        <a:cs typeface="Times New Roman" panose="02020603050405020304" pitchFamily="18" charset="0"/>
                      </a:endParaRPr>
                    </a:p>
                  </a:txBody>
                  <a:tcPr marL="65536" marR="6553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1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0.699</a:t>
                      </a:r>
                      <a:endParaRPr lang="en-MY" sz="1800" kern="100">
                        <a:effectLst/>
                        <a:latin typeface="Aptos" panose="020B0004020202020204" pitchFamily="34" charset="0"/>
                        <a:ea typeface="Aptos" panose="020B0004020202020204" pitchFamily="34" charset="0"/>
                        <a:cs typeface="Times New Roman" panose="02020603050405020304" pitchFamily="18" charset="0"/>
                      </a:endParaRPr>
                    </a:p>
                  </a:txBody>
                  <a:tcPr marL="65536" marR="6553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1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Training Set</a:t>
                      </a:r>
                      <a:endParaRPr lang="en-MY" sz="1800" kern="100">
                        <a:effectLst/>
                        <a:latin typeface="Aptos" panose="020B0004020202020204" pitchFamily="34" charset="0"/>
                        <a:ea typeface="Aptos" panose="020B0004020202020204" pitchFamily="34" charset="0"/>
                        <a:cs typeface="Times New Roman" panose="02020603050405020304" pitchFamily="18" charset="0"/>
                      </a:endParaRPr>
                    </a:p>
                  </a:txBody>
                  <a:tcPr marL="65536" marR="6553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F0"/>
                    </a:solidFill>
                  </a:tcPr>
                </a:tc>
                <a:extLst>
                  <a:ext uri="{0D108BD9-81ED-4DB2-BD59-A6C34878D82A}">
                    <a16:rowId xmlns:a16="http://schemas.microsoft.com/office/drawing/2014/main" val="3741578269"/>
                  </a:ext>
                </a:extLst>
              </a:tr>
              <a:tr h="232694">
                <a:tc>
                  <a:txBody>
                    <a:bodyPr/>
                    <a:lstStyle/>
                    <a:p>
                      <a:pPr algn="just">
                        <a:lnSpc>
                          <a:spcPct val="150000"/>
                        </a:lnSpc>
                        <a:spcAft>
                          <a:spcPts val="800"/>
                        </a:spcAft>
                      </a:pPr>
                      <a:r>
                        <a:rPr lang="it-IT" sz="11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35</a:t>
                      </a:r>
                      <a:endParaRPr lang="en-MY" sz="1800" kern="100">
                        <a:effectLst/>
                        <a:latin typeface="Aptos" panose="020B0004020202020204" pitchFamily="34" charset="0"/>
                        <a:ea typeface="Aptos" panose="020B0004020202020204" pitchFamily="34" charset="0"/>
                        <a:cs typeface="Times New Roman" panose="02020603050405020304" pitchFamily="18" charset="0"/>
                      </a:endParaRPr>
                    </a:p>
                  </a:txBody>
                  <a:tcPr marL="65536" marR="6553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1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1775971</a:t>
                      </a:r>
                      <a:endParaRPr lang="en-MY" sz="1800" kern="100">
                        <a:effectLst/>
                        <a:latin typeface="Aptos" panose="020B0004020202020204" pitchFamily="34" charset="0"/>
                        <a:ea typeface="Aptos" panose="020B0004020202020204" pitchFamily="34" charset="0"/>
                        <a:cs typeface="Times New Roman" panose="02020603050405020304" pitchFamily="18" charset="0"/>
                      </a:endParaRPr>
                    </a:p>
                  </a:txBody>
                  <a:tcPr marL="65536" marR="6553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1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3g</a:t>
                      </a:r>
                      <a:endParaRPr lang="en-MY" sz="1800" kern="100">
                        <a:effectLst/>
                        <a:latin typeface="Aptos" panose="020B0004020202020204" pitchFamily="34" charset="0"/>
                        <a:ea typeface="Aptos" panose="020B0004020202020204" pitchFamily="34" charset="0"/>
                        <a:cs typeface="Times New Roman" panose="02020603050405020304" pitchFamily="18" charset="0"/>
                      </a:endParaRPr>
                    </a:p>
                  </a:txBody>
                  <a:tcPr marL="65536" marR="6553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1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7.58</a:t>
                      </a:r>
                      <a:endParaRPr lang="en-MY" sz="1800" kern="100">
                        <a:effectLst/>
                        <a:latin typeface="Aptos" panose="020B0004020202020204" pitchFamily="34" charset="0"/>
                        <a:ea typeface="Aptos" panose="020B0004020202020204" pitchFamily="34" charset="0"/>
                        <a:cs typeface="Times New Roman" panose="02020603050405020304" pitchFamily="18" charset="0"/>
                      </a:endParaRPr>
                    </a:p>
                  </a:txBody>
                  <a:tcPr marL="65536" marR="6553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1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7.595</a:t>
                      </a:r>
                      <a:endParaRPr lang="en-MY" sz="1800" kern="100">
                        <a:effectLst/>
                        <a:latin typeface="Aptos" panose="020B0004020202020204" pitchFamily="34" charset="0"/>
                        <a:ea typeface="Aptos" panose="020B0004020202020204" pitchFamily="34" charset="0"/>
                        <a:cs typeface="Times New Roman" panose="02020603050405020304" pitchFamily="18" charset="0"/>
                      </a:endParaRPr>
                    </a:p>
                  </a:txBody>
                  <a:tcPr marL="65536" marR="6553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1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-0.015</a:t>
                      </a:r>
                      <a:endParaRPr lang="en-MY" sz="1800" kern="100">
                        <a:effectLst/>
                        <a:latin typeface="Aptos" panose="020B0004020202020204" pitchFamily="34" charset="0"/>
                        <a:ea typeface="Aptos" panose="020B0004020202020204" pitchFamily="34" charset="0"/>
                        <a:cs typeface="Times New Roman" panose="02020603050405020304" pitchFamily="18" charset="0"/>
                      </a:endParaRPr>
                    </a:p>
                  </a:txBody>
                  <a:tcPr marL="65536" marR="6553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1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7.616</a:t>
                      </a:r>
                      <a:endParaRPr lang="en-MY" sz="1800" kern="100">
                        <a:effectLst/>
                        <a:latin typeface="Aptos" panose="020B0004020202020204" pitchFamily="34" charset="0"/>
                        <a:ea typeface="Aptos" panose="020B0004020202020204" pitchFamily="34" charset="0"/>
                        <a:cs typeface="Times New Roman" panose="02020603050405020304" pitchFamily="18" charset="0"/>
                      </a:endParaRPr>
                    </a:p>
                  </a:txBody>
                  <a:tcPr marL="65536" marR="6553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1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-0.036</a:t>
                      </a:r>
                      <a:endParaRPr lang="en-MY" sz="1800" kern="100">
                        <a:effectLst/>
                        <a:latin typeface="Aptos" panose="020B0004020202020204" pitchFamily="34" charset="0"/>
                        <a:ea typeface="Aptos" panose="020B0004020202020204" pitchFamily="34" charset="0"/>
                        <a:cs typeface="Times New Roman" panose="02020603050405020304" pitchFamily="18" charset="0"/>
                      </a:endParaRPr>
                    </a:p>
                  </a:txBody>
                  <a:tcPr marL="65536" marR="6553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1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Training Set</a:t>
                      </a:r>
                      <a:endParaRPr lang="en-MY" sz="1800" kern="100">
                        <a:effectLst/>
                        <a:latin typeface="Aptos" panose="020B0004020202020204" pitchFamily="34" charset="0"/>
                        <a:ea typeface="Aptos" panose="020B0004020202020204" pitchFamily="34" charset="0"/>
                        <a:cs typeface="Times New Roman" panose="02020603050405020304" pitchFamily="18" charset="0"/>
                      </a:endParaRPr>
                    </a:p>
                  </a:txBody>
                  <a:tcPr marL="65536" marR="6553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F0"/>
                    </a:solidFill>
                  </a:tcPr>
                </a:tc>
                <a:extLst>
                  <a:ext uri="{0D108BD9-81ED-4DB2-BD59-A6C34878D82A}">
                    <a16:rowId xmlns:a16="http://schemas.microsoft.com/office/drawing/2014/main" val="4175227077"/>
                  </a:ext>
                </a:extLst>
              </a:tr>
              <a:tr h="232694">
                <a:tc>
                  <a:txBody>
                    <a:bodyPr/>
                    <a:lstStyle/>
                    <a:p>
                      <a:pPr algn="just">
                        <a:lnSpc>
                          <a:spcPct val="150000"/>
                        </a:lnSpc>
                        <a:spcAft>
                          <a:spcPts val="800"/>
                        </a:spcAft>
                      </a:pPr>
                      <a:r>
                        <a:rPr lang="it-IT" sz="11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36</a:t>
                      </a:r>
                      <a:endParaRPr lang="en-MY" sz="1800" kern="100">
                        <a:effectLst/>
                        <a:latin typeface="Aptos" panose="020B0004020202020204" pitchFamily="34" charset="0"/>
                        <a:ea typeface="Aptos" panose="020B0004020202020204" pitchFamily="34" charset="0"/>
                        <a:cs typeface="Times New Roman" panose="02020603050405020304" pitchFamily="18" charset="0"/>
                      </a:endParaRPr>
                    </a:p>
                  </a:txBody>
                  <a:tcPr marL="65536" marR="6553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1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1775972</a:t>
                      </a:r>
                      <a:endParaRPr lang="en-MY" sz="1800" kern="100">
                        <a:effectLst/>
                        <a:latin typeface="Aptos" panose="020B0004020202020204" pitchFamily="34" charset="0"/>
                        <a:ea typeface="Aptos" panose="020B0004020202020204" pitchFamily="34" charset="0"/>
                        <a:cs typeface="Times New Roman" panose="02020603050405020304" pitchFamily="18" charset="0"/>
                      </a:endParaRPr>
                    </a:p>
                  </a:txBody>
                  <a:tcPr marL="65536" marR="6553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1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3h</a:t>
                      </a:r>
                      <a:endParaRPr lang="en-MY" sz="1800" kern="100">
                        <a:effectLst/>
                        <a:latin typeface="Aptos" panose="020B0004020202020204" pitchFamily="34" charset="0"/>
                        <a:ea typeface="Aptos" panose="020B0004020202020204" pitchFamily="34" charset="0"/>
                        <a:cs typeface="Times New Roman" panose="02020603050405020304" pitchFamily="18" charset="0"/>
                      </a:endParaRPr>
                    </a:p>
                  </a:txBody>
                  <a:tcPr marL="65536" marR="6553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1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7.37</a:t>
                      </a:r>
                      <a:endParaRPr lang="en-MY" sz="1800" kern="100">
                        <a:effectLst/>
                        <a:latin typeface="Aptos" panose="020B0004020202020204" pitchFamily="34" charset="0"/>
                        <a:ea typeface="Aptos" panose="020B0004020202020204" pitchFamily="34" charset="0"/>
                        <a:cs typeface="Times New Roman" panose="02020603050405020304" pitchFamily="18" charset="0"/>
                      </a:endParaRPr>
                    </a:p>
                  </a:txBody>
                  <a:tcPr marL="65536" marR="6553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1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7.37</a:t>
                      </a:r>
                      <a:endParaRPr lang="en-MY" sz="1800" kern="100">
                        <a:effectLst/>
                        <a:latin typeface="Aptos" panose="020B0004020202020204" pitchFamily="34" charset="0"/>
                        <a:ea typeface="Aptos" panose="020B0004020202020204" pitchFamily="34" charset="0"/>
                        <a:cs typeface="Times New Roman" panose="02020603050405020304" pitchFamily="18" charset="0"/>
                      </a:endParaRPr>
                    </a:p>
                  </a:txBody>
                  <a:tcPr marL="65536" marR="6553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1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0</a:t>
                      </a:r>
                      <a:endParaRPr lang="en-MY" sz="1800" kern="100">
                        <a:effectLst/>
                        <a:latin typeface="Aptos" panose="020B0004020202020204" pitchFamily="34" charset="0"/>
                        <a:ea typeface="Aptos" panose="020B0004020202020204" pitchFamily="34" charset="0"/>
                        <a:cs typeface="Times New Roman" panose="02020603050405020304" pitchFamily="18" charset="0"/>
                      </a:endParaRPr>
                    </a:p>
                  </a:txBody>
                  <a:tcPr marL="65536" marR="6553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1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7.12</a:t>
                      </a:r>
                      <a:endParaRPr lang="en-MY" sz="1800" kern="100">
                        <a:effectLst/>
                        <a:latin typeface="Aptos" panose="020B0004020202020204" pitchFamily="34" charset="0"/>
                        <a:ea typeface="Aptos" panose="020B0004020202020204" pitchFamily="34" charset="0"/>
                        <a:cs typeface="Times New Roman" panose="02020603050405020304" pitchFamily="18" charset="0"/>
                      </a:endParaRPr>
                    </a:p>
                  </a:txBody>
                  <a:tcPr marL="65536" marR="6553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1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0.25</a:t>
                      </a:r>
                      <a:endParaRPr lang="en-MY" sz="1800" kern="100">
                        <a:effectLst/>
                        <a:latin typeface="Aptos" panose="020B0004020202020204" pitchFamily="34" charset="0"/>
                        <a:ea typeface="Aptos" panose="020B0004020202020204" pitchFamily="34" charset="0"/>
                        <a:cs typeface="Times New Roman" panose="02020603050405020304" pitchFamily="18" charset="0"/>
                      </a:endParaRPr>
                    </a:p>
                  </a:txBody>
                  <a:tcPr marL="65536" marR="6553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1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Training Set</a:t>
                      </a:r>
                      <a:endParaRPr lang="en-MY" sz="1800" kern="100">
                        <a:effectLst/>
                        <a:latin typeface="Aptos" panose="020B0004020202020204" pitchFamily="34" charset="0"/>
                        <a:ea typeface="Aptos" panose="020B0004020202020204" pitchFamily="34" charset="0"/>
                        <a:cs typeface="Times New Roman" panose="02020603050405020304" pitchFamily="18" charset="0"/>
                      </a:endParaRPr>
                    </a:p>
                  </a:txBody>
                  <a:tcPr marL="65536" marR="6553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F0"/>
                    </a:solidFill>
                  </a:tcPr>
                </a:tc>
                <a:extLst>
                  <a:ext uri="{0D108BD9-81ED-4DB2-BD59-A6C34878D82A}">
                    <a16:rowId xmlns:a16="http://schemas.microsoft.com/office/drawing/2014/main" val="2380609685"/>
                  </a:ext>
                </a:extLst>
              </a:tr>
              <a:tr h="232694">
                <a:tc>
                  <a:txBody>
                    <a:bodyPr/>
                    <a:lstStyle/>
                    <a:p>
                      <a:pPr algn="just">
                        <a:lnSpc>
                          <a:spcPct val="150000"/>
                        </a:lnSpc>
                        <a:spcAft>
                          <a:spcPts val="800"/>
                        </a:spcAft>
                      </a:pPr>
                      <a:r>
                        <a:rPr lang="it-IT" sz="11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37</a:t>
                      </a:r>
                      <a:endParaRPr lang="en-MY" sz="1800" kern="100">
                        <a:effectLst/>
                        <a:latin typeface="Aptos" panose="020B0004020202020204" pitchFamily="34" charset="0"/>
                        <a:ea typeface="Aptos" panose="020B0004020202020204" pitchFamily="34" charset="0"/>
                        <a:cs typeface="Times New Roman" panose="02020603050405020304" pitchFamily="18" charset="0"/>
                      </a:endParaRPr>
                    </a:p>
                  </a:txBody>
                  <a:tcPr marL="65536" marR="6553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1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1775973</a:t>
                      </a:r>
                      <a:endParaRPr lang="en-MY" sz="1800" kern="100">
                        <a:effectLst/>
                        <a:latin typeface="Aptos" panose="020B0004020202020204" pitchFamily="34" charset="0"/>
                        <a:ea typeface="Aptos" panose="020B0004020202020204" pitchFamily="34" charset="0"/>
                        <a:cs typeface="Times New Roman" panose="02020603050405020304" pitchFamily="18" charset="0"/>
                      </a:endParaRPr>
                    </a:p>
                  </a:txBody>
                  <a:tcPr marL="65536" marR="6553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1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Mol_1e</a:t>
                      </a:r>
                      <a:endParaRPr lang="en-MY" sz="1800" kern="100">
                        <a:effectLst/>
                        <a:latin typeface="Aptos" panose="020B0004020202020204" pitchFamily="34" charset="0"/>
                        <a:ea typeface="Aptos" panose="020B0004020202020204" pitchFamily="34" charset="0"/>
                        <a:cs typeface="Times New Roman" panose="02020603050405020304" pitchFamily="18" charset="0"/>
                      </a:endParaRPr>
                    </a:p>
                  </a:txBody>
                  <a:tcPr marL="65536" marR="6553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1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6.04</a:t>
                      </a:r>
                      <a:endParaRPr lang="en-MY" sz="1800" kern="100">
                        <a:effectLst/>
                        <a:latin typeface="Aptos" panose="020B0004020202020204" pitchFamily="34" charset="0"/>
                        <a:ea typeface="Aptos" panose="020B0004020202020204" pitchFamily="34" charset="0"/>
                        <a:cs typeface="Times New Roman" panose="02020603050405020304" pitchFamily="18" charset="0"/>
                      </a:endParaRPr>
                    </a:p>
                  </a:txBody>
                  <a:tcPr marL="65536" marR="6553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1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6.028</a:t>
                      </a:r>
                      <a:endParaRPr lang="en-MY" sz="1800" kern="100">
                        <a:effectLst/>
                        <a:latin typeface="Aptos" panose="020B0004020202020204" pitchFamily="34" charset="0"/>
                        <a:ea typeface="Aptos" panose="020B0004020202020204" pitchFamily="34" charset="0"/>
                        <a:cs typeface="Times New Roman" panose="02020603050405020304" pitchFamily="18" charset="0"/>
                      </a:endParaRPr>
                    </a:p>
                  </a:txBody>
                  <a:tcPr marL="65536" marR="6553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1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0.012</a:t>
                      </a:r>
                      <a:endParaRPr lang="en-MY" sz="1800" kern="100">
                        <a:effectLst/>
                        <a:latin typeface="Aptos" panose="020B0004020202020204" pitchFamily="34" charset="0"/>
                        <a:ea typeface="Aptos" panose="020B0004020202020204" pitchFamily="34" charset="0"/>
                        <a:cs typeface="Times New Roman" panose="02020603050405020304" pitchFamily="18" charset="0"/>
                      </a:endParaRPr>
                    </a:p>
                  </a:txBody>
                  <a:tcPr marL="65536" marR="6553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endParaRPr lang="en-MY" sz="1800" kern="100">
                        <a:effectLst/>
                        <a:latin typeface="Times New Roman" panose="02020603050405020304" pitchFamily="18" charset="0"/>
                      </a:endParaRPr>
                    </a:p>
                  </a:txBody>
                  <a:tcPr marL="65536" marR="6553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endParaRPr lang="en-MY" sz="1800" kern="100">
                        <a:effectLst/>
                        <a:latin typeface="Times New Roman" panose="02020603050405020304" pitchFamily="18" charset="0"/>
                      </a:endParaRPr>
                    </a:p>
                  </a:txBody>
                  <a:tcPr marL="65536" marR="6553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1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Test Set</a:t>
                      </a:r>
                      <a:endParaRPr lang="en-MY" sz="1800" kern="100">
                        <a:effectLst/>
                        <a:latin typeface="Aptos" panose="020B0004020202020204" pitchFamily="34" charset="0"/>
                        <a:ea typeface="Aptos" panose="020B0004020202020204" pitchFamily="34" charset="0"/>
                        <a:cs typeface="Times New Roman" panose="02020603050405020304" pitchFamily="18" charset="0"/>
                      </a:endParaRPr>
                    </a:p>
                  </a:txBody>
                  <a:tcPr marL="65536" marR="6553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4175214249"/>
                  </a:ext>
                </a:extLst>
              </a:tr>
              <a:tr h="232694">
                <a:tc>
                  <a:txBody>
                    <a:bodyPr/>
                    <a:lstStyle/>
                    <a:p>
                      <a:pPr algn="just">
                        <a:lnSpc>
                          <a:spcPct val="150000"/>
                        </a:lnSpc>
                        <a:spcAft>
                          <a:spcPts val="800"/>
                        </a:spcAft>
                      </a:pPr>
                      <a:r>
                        <a:rPr lang="it-IT" sz="11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38</a:t>
                      </a:r>
                      <a:endParaRPr lang="en-MY" sz="1800" kern="100">
                        <a:effectLst/>
                        <a:latin typeface="Aptos" panose="020B0004020202020204" pitchFamily="34" charset="0"/>
                        <a:ea typeface="Aptos" panose="020B0004020202020204" pitchFamily="34" charset="0"/>
                        <a:cs typeface="Times New Roman" panose="02020603050405020304" pitchFamily="18" charset="0"/>
                      </a:endParaRPr>
                    </a:p>
                  </a:txBody>
                  <a:tcPr marL="65536" marR="6553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1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1775974</a:t>
                      </a:r>
                      <a:endParaRPr lang="en-MY" sz="1800" kern="100">
                        <a:effectLst/>
                        <a:latin typeface="Aptos" panose="020B0004020202020204" pitchFamily="34" charset="0"/>
                        <a:ea typeface="Aptos" panose="020B0004020202020204" pitchFamily="34" charset="0"/>
                        <a:cs typeface="Times New Roman" panose="02020603050405020304" pitchFamily="18" charset="0"/>
                      </a:endParaRPr>
                    </a:p>
                  </a:txBody>
                  <a:tcPr marL="65536" marR="6553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1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Mol_1n</a:t>
                      </a:r>
                      <a:endParaRPr lang="en-MY" sz="1800" kern="100">
                        <a:effectLst/>
                        <a:latin typeface="Aptos" panose="020B0004020202020204" pitchFamily="34" charset="0"/>
                        <a:ea typeface="Aptos" panose="020B0004020202020204" pitchFamily="34" charset="0"/>
                        <a:cs typeface="Times New Roman" panose="02020603050405020304" pitchFamily="18" charset="0"/>
                      </a:endParaRPr>
                    </a:p>
                  </a:txBody>
                  <a:tcPr marL="65536" marR="6553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1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6.3</a:t>
                      </a:r>
                      <a:endParaRPr lang="en-MY" sz="1800" kern="100">
                        <a:effectLst/>
                        <a:latin typeface="Aptos" panose="020B0004020202020204" pitchFamily="34" charset="0"/>
                        <a:ea typeface="Aptos" panose="020B0004020202020204" pitchFamily="34" charset="0"/>
                        <a:cs typeface="Times New Roman" panose="02020603050405020304" pitchFamily="18" charset="0"/>
                      </a:endParaRPr>
                    </a:p>
                  </a:txBody>
                  <a:tcPr marL="65536" marR="6553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1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6.037</a:t>
                      </a:r>
                      <a:endParaRPr lang="en-MY" sz="1800" kern="100">
                        <a:effectLst/>
                        <a:latin typeface="Aptos" panose="020B0004020202020204" pitchFamily="34" charset="0"/>
                        <a:ea typeface="Aptos" panose="020B0004020202020204" pitchFamily="34" charset="0"/>
                        <a:cs typeface="Times New Roman" panose="02020603050405020304" pitchFamily="18" charset="0"/>
                      </a:endParaRPr>
                    </a:p>
                  </a:txBody>
                  <a:tcPr marL="65536" marR="6553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1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0.263</a:t>
                      </a:r>
                      <a:endParaRPr lang="en-MY" sz="1800" kern="100">
                        <a:effectLst/>
                        <a:latin typeface="Aptos" panose="020B0004020202020204" pitchFamily="34" charset="0"/>
                        <a:ea typeface="Aptos" panose="020B0004020202020204" pitchFamily="34" charset="0"/>
                        <a:cs typeface="Times New Roman" panose="02020603050405020304" pitchFamily="18" charset="0"/>
                      </a:endParaRPr>
                    </a:p>
                  </a:txBody>
                  <a:tcPr marL="65536" marR="6553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endParaRPr lang="en-MY" sz="1800" kern="100">
                        <a:effectLst/>
                        <a:latin typeface="Times New Roman" panose="02020603050405020304" pitchFamily="18" charset="0"/>
                      </a:endParaRPr>
                    </a:p>
                  </a:txBody>
                  <a:tcPr marL="65536" marR="6553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endParaRPr lang="en-MY" sz="1800" kern="100">
                        <a:effectLst/>
                        <a:latin typeface="Times New Roman" panose="02020603050405020304" pitchFamily="18" charset="0"/>
                      </a:endParaRPr>
                    </a:p>
                  </a:txBody>
                  <a:tcPr marL="65536" marR="6553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1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Test Set</a:t>
                      </a:r>
                      <a:endParaRPr lang="en-MY" sz="1800" kern="100">
                        <a:effectLst/>
                        <a:latin typeface="Aptos" panose="020B0004020202020204" pitchFamily="34" charset="0"/>
                        <a:ea typeface="Aptos" panose="020B0004020202020204" pitchFamily="34" charset="0"/>
                        <a:cs typeface="Times New Roman" panose="02020603050405020304" pitchFamily="18" charset="0"/>
                      </a:endParaRPr>
                    </a:p>
                  </a:txBody>
                  <a:tcPr marL="65536" marR="6553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2048916958"/>
                  </a:ext>
                </a:extLst>
              </a:tr>
              <a:tr h="232694">
                <a:tc>
                  <a:txBody>
                    <a:bodyPr/>
                    <a:lstStyle/>
                    <a:p>
                      <a:pPr algn="just">
                        <a:lnSpc>
                          <a:spcPct val="150000"/>
                        </a:lnSpc>
                        <a:spcAft>
                          <a:spcPts val="800"/>
                        </a:spcAft>
                      </a:pPr>
                      <a:r>
                        <a:rPr lang="it-IT" sz="11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39</a:t>
                      </a:r>
                      <a:endParaRPr lang="en-MY" sz="1800" kern="100">
                        <a:effectLst/>
                        <a:latin typeface="Aptos" panose="020B0004020202020204" pitchFamily="34" charset="0"/>
                        <a:ea typeface="Aptos" panose="020B0004020202020204" pitchFamily="34" charset="0"/>
                        <a:cs typeface="Times New Roman" panose="02020603050405020304" pitchFamily="18" charset="0"/>
                      </a:endParaRPr>
                    </a:p>
                  </a:txBody>
                  <a:tcPr marL="65536" marR="6553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1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1775975</a:t>
                      </a:r>
                      <a:endParaRPr lang="en-MY" sz="1800" kern="100">
                        <a:effectLst/>
                        <a:latin typeface="Aptos" panose="020B0004020202020204" pitchFamily="34" charset="0"/>
                        <a:ea typeface="Aptos" panose="020B0004020202020204" pitchFamily="34" charset="0"/>
                        <a:cs typeface="Times New Roman" panose="02020603050405020304" pitchFamily="18" charset="0"/>
                      </a:endParaRPr>
                    </a:p>
                  </a:txBody>
                  <a:tcPr marL="65536" marR="6553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1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Mol_1r</a:t>
                      </a:r>
                      <a:endParaRPr lang="en-MY" sz="1800" kern="100">
                        <a:effectLst/>
                        <a:latin typeface="Aptos" panose="020B0004020202020204" pitchFamily="34" charset="0"/>
                        <a:ea typeface="Aptos" panose="020B0004020202020204" pitchFamily="34" charset="0"/>
                        <a:cs typeface="Times New Roman" panose="02020603050405020304" pitchFamily="18" charset="0"/>
                      </a:endParaRPr>
                    </a:p>
                  </a:txBody>
                  <a:tcPr marL="65536" marR="6553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1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6.53</a:t>
                      </a:r>
                      <a:endParaRPr lang="en-MY" sz="1800" kern="100">
                        <a:effectLst/>
                        <a:latin typeface="Aptos" panose="020B0004020202020204" pitchFamily="34" charset="0"/>
                        <a:ea typeface="Aptos" panose="020B0004020202020204" pitchFamily="34" charset="0"/>
                        <a:cs typeface="Times New Roman" panose="02020603050405020304" pitchFamily="18" charset="0"/>
                      </a:endParaRPr>
                    </a:p>
                  </a:txBody>
                  <a:tcPr marL="65536" marR="6553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1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6.245</a:t>
                      </a:r>
                      <a:endParaRPr lang="en-MY" sz="1800" kern="100">
                        <a:effectLst/>
                        <a:latin typeface="Aptos" panose="020B0004020202020204" pitchFamily="34" charset="0"/>
                        <a:ea typeface="Aptos" panose="020B0004020202020204" pitchFamily="34" charset="0"/>
                        <a:cs typeface="Times New Roman" panose="02020603050405020304" pitchFamily="18" charset="0"/>
                      </a:endParaRPr>
                    </a:p>
                  </a:txBody>
                  <a:tcPr marL="65536" marR="6553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1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0.285</a:t>
                      </a:r>
                      <a:endParaRPr lang="en-MY" sz="1800" kern="100">
                        <a:effectLst/>
                        <a:latin typeface="Aptos" panose="020B0004020202020204" pitchFamily="34" charset="0"/>
                        <a:ea typeface="Aptos" panose="020B0004020202020204" pitchFamily="34" charset="0"/>
                        <a:cs typeface="Times New Roman" panose="02020603050405020304" pitchFamily="18" charset="0"/>
                      </a:endParaRPr>
                    </a:p>
                  </a:txBody>
                  <a:tcPr marL="65536" marR="6553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endParaRPr lang="en-MY" sz="1800" kern="100">
                        <a:effectLst/>
                        <a:latin typeface="Times New Roman" panose="02020603050405020304" pitchFamily="18" charset="0"/>
                      </a:endParaRPr>
                    </a:p>
                  </a:txBody>
                  <a:tcPr marL="65536" marR="6553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endParaRPr lang="en-MY" sz="1800" kern="100">
                        <a:effectLst/>
                        <a:latin typeface="Times New Roman" panose="02020603050405020304" pitchFamily="18" charset="0"/>
                      </a:endParaRPr>
                    </a:p>
                  </a:txBody>
                  <a:tcPr marL="65536" marR="6553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1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Test Set</a:t>
                      </a:r>
                      <a:endParaRPr lang="en-MY" sz="1800" kern="100">
                        <a:effectLst/>
                        <a:latin typeface="Aptos" panose="020B0004020202020204" pitchFamily="34" charset="0"/>
                        <a:ea typeface="Aptos" panose="020B0004020202020204" pitchFamily="34" charset="0"/>
                        <a:cs typeface="Times New Roman" panose="02020603050405020304" pitchFamily="18" charset="0"/>
                      </a:endParaRPr>
                    </a:p>
                  </a:txBody>
                  <a:tcPr marL="65536" marR="6553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1782385891"/>
                  </a:ext>
                </a:extLst>
              </a:tr>
              <a:tr h="232694">
                <a:tc>
                  <a:txBody>
                    <a:bodyPr/>
                    <a:lstStyle/>
                    <a:p>
                      <a:pPr algn="just">
                        <a:lnSpc>
                          <a:spcPct val="150000"/>
                        </a:lnSpc>
                        <a:spcAft>
                          <a:spcPts val="800"/>
                        </a:spcAft>
                      </a:pPr>
                      <a:r>
                        <a:rPr lang="it-IT" sz="11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40</a:t>
                      </a:r>
                      <a:endParaRPr lang="en-MY" sz="1800" kern="100">
                        <a:effectLst/>
                        <a:latin typeface="Aptos" panose="020B0004020202020204" pitchFamily="34" charset="0"/>
                        <a:ea typeface="Aptos" panose="020B0004020202020204" pitchFamily="34" charset="0"/>
                        <a:cs typeface="Times New Roman" panose="02020603050405020304" pitchFamily="18" charset="0"/>
                      </a:endParaRPr>
                    </a:p>
                  </a:txBody>
                  <a:tcPr marL="65536" marR="6553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1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1775976</a:t>
                      </a:r>
                      <a:endParaRPr lang="en-MY" sz="1800" kern="100">
                        <a:effectLst/>
                        <a:latin typeface="Aptos" panose="020B0004020202020204" pitchFamily="34" charset="0"/>
                        <a:ea typeface="Aptos" panose="020B0004020202020204" pitchFamily="34" charset="0"/>
                        <a:cs typeface="Times New Roman" panose="02020603050405020304" pitchFamily="18" charset="0"/>
                      </a:endParaRPr>
                    </a:p>
                  </a:txBody>
                  <a:tcPr marL="65536" marR="6553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1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Mol_1x</a:t>
                      </a:r>
                      <a:endParaRPr lang="en-MY" sz="1800" kern="100">
                        <a:effectLst/>
                        <a:latin typeface="Aptos" panose="020B0004020202020204" pitchFamily="34" charset="0"/>
                        <a:ea typeface="Aptos" panose="020B0004020202020204" pitchFamily="34" charset="0"/>
                        <a:cs typeface="Times New Roman" panose="02020603050405020304" pitchFamily="18" charset="0"/>
                      </a:endParaRPr>
                    </a:p>
                  </a:txBody>
                  <a:tcPr marL="65536" marR="6553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1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7.04</a:t>
                      </a:r>
                      <a:endParaRPr lang="en-MY" sz="1800" kern="100">
                        <a:effectLst/>
                        <a:latin typeface="Aptos" panose="020B0004020202020204" pitchFamily="34" charset="0"/>
                        <a:ea typeface="Aptos" panose="020B0004020202020204" pitchFamily="34" charset="0"/>
                        <a:cs typeface="Times New Roman" panose="02020603050405020304" pitchFamily="18" charset="0"/>
                      </a:endParaRPr>
                    </a:p>
                  </a:txBody>
                  <a:tcPr marL="65536" marR="6553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1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6.498</a:t>
                      </a:r>
                      <a:endParaRPr lang="en-MY" sz="1800" kern="100">
                        <a:effectLst/>
                        <a:latin typeface="Aptos" panose="020B0004020202020204" pitchFamily="34" charset="0"/>
                        <a:ea typeface="Aptos" panose="020B0004020202020204" pitchFamily="34" charset="0"/>
                        <a:cs typeface="Times New Roman" panose="02020603050405020304" pitchFamily="18" charset="0"/>
                      </a:endParaRPr>
                    </a:p>
                  </a:txBody>
                  <a:tcPr marL="65536" marR="6553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1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0.542</a:t>
                      </a:r>
                      <a:endParaRPr lang="en-MY" sz="1800" kern="100">
                        <a:effectLst/>
                        <a:latin typeface="Aptos" panose="020B0004020202020204" pitchFamily="34" charset="0"/>
                        <a:ea typeface="Aptos" panose="020B0004020202020204" pitchFamily="34" charset="0"/>
                        <a:cs typeface="Times New Roman" panose="02020603050405020304" pitchFamily="18" charset="0"/>
                      </a:endParaRPr>
                    </a:p>
                  </a:txBody>
                  <a:tcPr marL="65536" marR="6553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endParaRPr lang="en-MY" sz="1800" kern="100">
                        <a:effectLst/>
                        <a:latin typeface="Times New Roman" panose="02020603050405020304" pitchFamily="18" charset="0"/>
                      </a:endParaRPr>
                    </a:p>
                  </a:txBody>
                  <a:tcPr marL="65536" marR="6553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endParaRPr lang="en-MY" sz="1800" kern="100">
                        <a:effectLst/>
                        <a:latin typeface="Times New Roman" panose="02020603050405020304" pitchFamily="18" charset="0"/>
                      </a:endParaRPr>
                    </a:p>
                  </a:txBody>
                  <a:tcPr marL="65536" marR="6553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1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Test Set</a:t>
                      </a:r>
                      <a:endParaRPr lang="en-MY" sz="1800" kern="100">
                        <a:effectLst/>
                        <a:latin typeface="Aptos" panose="020B0004020202020204" pitchFamily="34" charset="0"/>
                        <a:ea typeface="Aptos" panose="020B0004020202020204" pitchFamily="34" charset="0"/>
                        <a:cs typeface="Times New Roman" panose="02020603050405020304" pitchFamily="18" charset="0"/>
                      </a:endParaRPr>
                    </a:p>
                  </a:txBody>
                  <a:tcPr marL="65536" marR="6553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3782575591"/>
                  </a:ext>
                </a:extLst>
              </a:tr>
              <a:tr h="232694">
                <a:tc>
                  <a:txBody>
                    <a:bodyPr/>
                    <a:lstStyle/>
                    <a:p>
                      <a:pPr algn="just">
                        <a:lnSpc>
                          <a:spcPct val="150000"/>
                        </a:lnSpc>
                        <a:spcAft>
                          <a:spcPts val="800"/>
                        </a:spcAft>
                      </a:pPr>
                      <a:r>
                        <a:rPr lang="it-IT" sz="11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41</a:t>
                      </a:r>
                      <a:endParaRPr lang="en-MY" sz="1800" kern="100">
                        <a:effectLst/>
                        <a:latin typeface="Aptos" panose="020B0004020202020204" pitchFamily="34" charset="0"/>
                        <a:ea typeface="Aptos" panose="020B0004020202020204" pitchFamily="34" charset="0"/>
                        <a:cs typeface="Times New Roman" panose="02020603050405020304" pitchFamily="18" charset="0"/>
                      </a:endParaRPr>
                    </a:p>
                  </a:txBody>
                  <a:tcPr marL="65536" marR="6553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1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1775977</a:t>
                      </a:r>
                      <a:endParaRPr lang="en-MY" sz="1800" kern="100">
                        <a:effectLst/>
                        <a:latin typeface="Aptos" panose="020B0004020202020204" pitchFamily="34" charset="0"/>
                        <a:ea typeface="Aptos" panose="020B0004020202020204" pitchFamily="34" charset="0"/>
                        <a:cs typeface="Times New Roman" panose="02020603050405020304" pitchFamily="18" charset="0"/>
                      </a:endParaRPr>
                    </a:p>
                  </a:txBody>
                  <a:tcPr marL="65536" marR="6553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1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Mol_2h</a:t>
                      </a:r>
                      <a:endParaRPr lang="en-MY" sz="1800" kern="100">
                        <a:effectLst/>
                        <a:latin typeface="Aptos" panose="020B0004020202020204" pitchFamily="34" charset="0"/>
                        <a:ea typeface="Aptos" panose="020B0004020202020204" pitchFamily="34" charset="0"/>
                        <a:cs typeface="Times New Roman" panose="02020603050405020304" pitchFamily="18" charset="0"/>
                      </a:endParaRPr>
                    </a:p>
                  </a:txBody>
                  <a:tcPr marL="65536" marR="6553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1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6.78</a:t>
                      </a:r>
                      <a:endParaRPr lang="en-MY" sz="1800" kern="100">
                        <a:effectLst/>
                        <a:latin typeface="Aptos" panose="020B0004020202020204" pitchFamily="34" charset="0"/>
                        <a:ea typeface="Aptos" panose="020B0004020202020204" pitchFamily="34" charset="0"/>
                        <a:cs typeface="Times New Roman" panose="02020603050405020304" pitchFamily="18" charset="0"/>
                      </a:endParaRPr>
                    </a:p>
                  </a:txBody>
                  <a:tcPr marL="65536" marR="6553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1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6.895</a:t>
                      </a:r>
                      <a:endParaRPr lang="en-MY" sz="1800" kern="100">
                        <a:effectLst/>
                        <a:latin typeface="Aptos" panose="020B0004020202020204" pitchFamily="34" charset="0"/>
                        <a:ea typeface="Aptos" panose="020B0004020202020204" pitchFamily="34" charset="0"/>
                        <a:cs typeface="Times New Roman" panose="02020603050405020304" pitchFamily="18" charset="0"/>
                      </a:endParaRPr>
                    </a:p>
                  </a:txBody>
                  <a:tcPr marL="65536" marR="6553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1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-0.115</a:t>
                      </a:r>
                      <a:endParaRPr lang="en-MY" sz="1800" kern="100">
                        <a:effectLst/>
                        <a:latin typeface="Aptos" panose="020B0004020202020204" pitchFamily="34" charset="0"/>
                        <a:ea typeface="Aptos" panose="020B0004020202020204" pitchFamily="34" charset="0"/>
                        <a:cs typeface="Times New Roman" panose="02020603050405020304" pitchFamily="18" charset="0"/>
                      </a:endParaRPr>
                    </a:p>
                  </a:txBody>
                  <a:tcPr marL="65536" marR="6553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endParaRPr lang="en-MY" sz="1800" kern="100">
                        <a:effectLst/>
                        <a:latin typeface="Times New Roman" panose="02020603050405020304" pitchFamily="18" charset="0"/>
                      </a:endParaRPr>
                    </a:p>
                  </a:txBody>
                  <a:tcPr marL="65536" marR="6553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endParaRPr lang="en-MY" sz="1800" kern="100">
                        <a:effectLst/>
                        <a:latin typeface="Times New Roman" panose="02020603050405020304" pitchFamily="18" charset="0"/>
                      </a:endParaRPr>
                    </a:p>
                  </a:txBody>
                  <a:tcPr marL="65536" marR="6553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1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Test Set</a:t>
                      </a:r>
                      <a:endParaRPr lang="en-MY" sz="1800" kern="100">
                        <a:effectLst/>
                        <a:latin typeface="Aptos" panose="020B0004020202020204" pitchFamily="34" charset="0"/>
                        <a:ea typeface="Aptos" panose="020B0004020202020204" pitchFamily="34" charset="0"/>
                        <a:cs typeface="Times New Roman" panose="02020603050405020304" pitchFamily="18" charset="0"/>
                      </a:endParaRPr>
                    </a:p>
                  </a:txBody>
                  <a:tcPr marL="65536" marR="6553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480060672"/>
                  </a:ext>
                </a:extLst>
              </a:tr>
              <a:tr h="232694">
                <a:tc>
                  <a:txBody>
                    <a:bodyPr/>
                    <a:lstStyle/>
                    <a:p>
                      <a:pPr algn="just">
                        <a:lnSpc>
                          <a:spcPct val="150000"/>
                        </a:lnSpc>
                        <a:spcAft>
                          <a:spcPts val="800"/>
                        </a:spcAft>
                      </a:pPr>
                      <a:r>
                        <a:rPr lang="it-IT" sz="11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42</a:t>
                      </a:r>
                      <a:endParaRPr lang="en-MY" sz="1800" kern="100">
                        <a:effectLst/>
                        <a:latin typeface="Aptos" panose="020B0004020202020204" pitchFamily="34" charset="0"/>
                        <a:ea typeface="Aptos" panose="020B0004020202020204" pitchFamily="34" charset="0"/>
                        <a:cs typeface="Times New Roman" panose="02020603050405020304" pitchFamily="18" charset="0"/>
                      </a:endParaRPr>
                    </a:p>
                  </a:txBody>
                  <a:tcPr marL="65536" marR="6553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1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1775978</a:t>
                      </a:r>
                      <a:endParaRPr lang="en-MY" sz="1800" kern="100">
                        <a:effectLst/>
                        <a:latin typeface="Aptos" panose="020B0004020202020204" pitchFamily="34" charset="0"/>
                        <a:ea typeface="Aptos" panose="020B0004020202020204" pitchFamily="34" charset="0"/>
                        <a:cs typeface="Times New Roman" panose="02020603050405020304" pitchFamily="18" charset="0"/>
                      </a:endParaRPr>
                    </a:p>
                  </a:txBody>
                  <a:tcPr marL="65536" marR="6553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1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Mol_3b</a:t>
                      </a:r>
                      <a:endParaRPr lang="en-MY" sz="1800" kern="100">
                        <a:effectLst/>
                        <a:latin typeface="Aptos" panose="020B0004020202020204" pitchFamily="34" charset="0"/>
                        <a:ea typeface="Aptos" panose="020B0004020202020204" pitchFamily="34" charset="0"/>
                        <a:cs typeface="Times New Roman" panose="02020603050405020304" pitchFamily="18" charset="0"/>
                      </a:endParaRPr>
                    </a:p>
                  </a:txBody>
                  <a:tcPr marL="65536" marR="6553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1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7.16</a:t>
                      </a:r>
                      <a:endParaRPr lang="en-MY" sz="1800" kern="100">
                        <a:effectLst/>
                        <a:latin typeface="Aptos" panose="020B0004020202020204" pitchFamily="34" charset="0"/>
                        <a:ea typeface="Aptos" panose="020B0004020202020204" pitchFamily="34" charset="0"/>
                        <a:cs typeface="Times New Roman" panose="02020603050405020304" pitchFamily="18" charset="0"/>
                      </a:endParaRPr>
                    </a:p>
                  </a:txBody>
                  <a:tcPr marL="65536" marR="6553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1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7.042</a:t>
                      </a:r>
                      <a:endParaRPr lang="en-MY" sz="1800" kern="100">
                        <a:effectLst/>
                        <a:latin typeface="Aptos" panose="020B0004020202020204" pitchFamily="34" charset="0"/>
                        <a:ea typeface="Aptos" panose="020B0004020202020204" pitchFamily="34" charset="0"/>
                        <a:cs typeface="Times New Roman" panose="02020603050405020304" pitchFamily="18" charset="0"/>
                      </a:endParaRPr>
                    </a:p>
                  </a:txBody>
                  <a:tcPr marL="65536" marR="6553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1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0.118</a:t>
                      </a:r>
                      <a:endParaRPr lang="en-MY" sz="1800" kern="100">
                        <a:effectLst/>
                        <a:latin typeface="Aptos" panose="020B0004020202020204" pitchFamily="34" charset="0"/>
                        <a:ea typeface="Aptos" panose="020B0004020202020204" pitchFamily="34" charset="0"/>
                        <a:cs typeface="Times New Roman" panose="02020603050405020304" pitchFamily="18" charset="0"/>
                      </a:endParaRPr>
                    </a:p>
                  </a:txBody>
                  <a:tcPr marL="65536" marR="6553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endParaRPr lang="en-MY" sz="1800" kern="100">
                        <a:effectLst/>
                        <a:latin typeface="Times New Roman" panose="02020603050405020304" pitchFamily="18" charset="0"/>
                      </a:endParaRPr>
                    </a:p>
                  </a:txBody>
                  <a:tcPr marL="65536" marR="6553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endParaRPr lang="en-MY" sz="1800" kern="100">
                        <a:effectLst/>
                        <a:latin typeface="Times New Roman" panose="02020603050405020304" pitchFamily="18" charset="0"/>
                      </a:endParaRPr>
                    </a:p>
                  </a:txBody>
                  <a:tcPr marL="65536" marR="6553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50000"/>
                        </a:lnSpc>
                        <a:spcAft>
                          <a:spcPts val="800"/>
                        </a:spcAft>
                      </a:pPr>
                      <a:r>
                        <a:rPr lang="it-IT" sz="11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Test Set</a:t>
                      </a:r>
                      <a:endParaRPr lang="en-MY" sz="1800" kern="100">
                        <a:effectLst/>
                        <a:latin typeface="Aptos" panose="020B0004020202020204" pitchFamily="34" charset="0"/>
                        <a:ea typeface="Aptos" panose="020B0004020202020204" pitchFamily="34" charset="0"/>
                        <a:cs typeface="Times New Roman" panose="02020603050405020304" pitchFamily="18" charset="0"/>
                      </a:endParaRPr>
                    </a:p>
                  </a:txBody>
                  <a:tcPr marL="65536" marR="6553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3616808579"/>
                  </a:ext>
                </a:extLst>
              </a:tr>
              <a:tr h="462317">
                <a:tc>
                  <a:txBody>
                    <a:bodyPr/>
                    <a:lstStyle/>
                    <a:p>
                      <a:endParaRPr lang="en-MY" sz="1800" kern="100">
                        <a:effectLst/>
                        <a:latin typeface="Times New Roman" panose="02020603050405020304" pitchFamily="18" charset="0"/>
                      </a:endParaRPr>
                    </a:p>
                  </a:txBody>
                  <a:tcPr marL="65536" marR="6553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just">
                        <a:lnSpc>
                          <a:spcPct val="150000"/>
                        </a:lnSpc>
                        <a:spcAft>
                          <a:spcPts val="800"/>
                        </a:spcAft>
                      </a:pPr>
                      <a:r>
                        <a:rPr lang="it-IT" sz="11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ID</a:t>
                      </a:r>
                      <a:endParaRPr lang="en-MY" sz="1800" kern="100">
                        <a:effectLst/>
                        <a:latin typeface="Aptos" panose="020B0004020202020204" pitchFamily="34" charset="0"/>
                        <a:ea typeface="Aptos" panose="020B0004020202020204" pitchFamily="34" charset="0"/>
                        <a:cs typeface="Times New Roman" panose="02020603050405020304" pitchFamily="18" charset="0"/>
                      </a:endParaRPr>
                    </a:p>
                  </a:txBody>
                  <a:tcPr marL="65536" marR="6553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just">
                        <a:lnSpc>
                          <a:spcPct val="150000"/>
                        </a:lnSpc>
                        <a:spcAft>
                          <a:spcPts val="800"/>
                        </a:spcAft>
                      </a:pPr>
                      <a:r>
                        <a:rPr lang="it-IT" sz="11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Name</a:t>
                      </a:r>
                      <a:endParaRPr lang="en-MY" sz="1800" kern="100">
                        <a:effectLst/>
                        <a:latin typeface="Aptos" panose="020B0004020202020204" pitchFamily="34" charset="0"/>
                        <a:ea typeface="Aptos" panose="020B0004020202020204" pitchFamily="34" charset="0"/>
                        <a:cs typeface="Times New Roman" panose="02020603050405020304" pitchFamily="18" charset="0"/>
                      </a:endParaRPr>
                    </a:p>
                  </a:txBody>
                  <a:tcPr marL="65536" marR="6553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just">
                        <a:lnSpc>
                          <a:spcPct val="150000"/>
                        </a:lnSpc>
                        <a:spcAft>
                          <a:spcPts val="800"/>
                        </a:spcAft>
                      </a:pPr>
                      <a:r>
                        <a:rPr lang="it-IT" sz="11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Exp</a:t>
                      </a:r>
                      <a:endParaRPr lang="en-MY" sz="1800" kern="100">
                        <a:effectLst/>
                        <a:latin typeface="Aptos" panose="020B0004020202020204" pitchFamily="34" charset="0"/>
                        <a:ea typeface="Aptos" panose="020B0004020202020204" pitchFamily="34" charset="0"/>
                        <a:cs typeface="Times New Roman" panose="02020603050405020304" pitchFamily="18" charset="0"/>
                      </a:endParaRPr>
                    </a:p>
                  </a:txBody>
                  <a:tcPr marL="65536" marR="6553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just">
                        <a:lnSpc>
                          <a:spcPct val="150000"/>
                        </a:lnSpc>
                        <a:spcAft>
                          <a:spcPts val="800"/>
                        </a:spcAft>
                      </a:pPr>
                      <a:r>
                        <a:rPr lang="it-IT" sz="11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Fit/Pred</a:t>
                      </a:r>
                      <a:endParaRPr lang="en-MY" sz="1800" kern="100">
                        <a:effectLst/>
                        <a:latin typeface="Aptos" panose="020B0004020202020204" pitchFamily="34" charset="0"/>
                        <a:ea typeface="Aptos" panose="020B0004020202020204" pitchFamily="34" charset="0"/>
                        <a:cs typeface="Times New Roman" panose="02020603050405020304" pitchFamily="18" charset="0"/>
                      </a:endParaRPr>
                    </a:p>
                  </a:txBody>
                  <a:tcPr marL="65536" marR="6553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just">
                        <a:lnSpc>
                          <a:spcPct val="150000"/>
                        </a:lnSpc>
                        <a:spcAft>
                          <a:spcPts val="800"/>
                        </a:spcAft>
                      </a:pPr>
                      <a:r>
                        <a:rPr lang="it-IT" sz="11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Err Fit/Pred</a:t>
                      </a:r>
                      <a:endParaRPr lang="en-MY" sz="1800" kern="100">
                        <a:effectLst/>
                        <a:latin typeface="Aptos" panose="020B0004020202020204" pitchFamily="34" charset="0"/>
                        <a:ea typeface="Aptos" panose="020B0004020202020204" pitchFamily="34" charset="0"/>
                        <a:cs typeface="Times New Roman" panose="02020603050405020304" pitchFamily="18" charset="0"/>
                      </a:endParaRPr>
                    </a:p>
                  </a:txBody>
                  <a:tcPr marL="65536" marR="6553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just">
                        <a:lnSpc>
                          <a:spcPct val="150000"/>
                        </a:lnSpc>
                        <a:spcAft>
                          <a:spcPts val="800"/>
                        </a:spcAft>
                      </a:pPr>
                      <a:r>
                        <a:rPr lang="it-IT" sz="11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CV</a:t>
                      </a:r>
                      <a:endParaRPr lang="en-MY" sz="1800" kern="100">
                        <a:effectLst/>
                        <a:latin typeface="Aptos" panose="020B0004020202020204" pitchFamily="34" charset="0"/>
                        <a:ea typeface="Aptos" panose="020B0004020202020204" pitchFamily="34" charset="0"/>
                        <a:cs typeface="Times New Roman" panose="02020603050405020304" pitchFamily="18" charset="0"/>
                      </a:endParaRPr>
                    </a:p>
                  </a:txBody>
                  <a:tcPr marL="65536" marR="6553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just">
                        <a:lnSpc>
                          <a:spcPct val="150000"/>
                        </a:lnSpc>
                        <a:spcAft>
                          <a:spcPts val="800"/>
                        </a:spcAft>
                      </a:pPr>
                      <a:r>
                        <a:rPr lang="it-IT" sz="1100" kern="10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Err CV</a:t>
                      </a:r>
                      <a:endParaRPr lang="en-MY" sz="1800" kern="100">
                        <a:effectLst/>
                        <a:latin typeface="Aptos" panose="020B0004020202020204" pitchFamily="34" charset="0"/>
                        <a:ea typeface="Aptos" panose="020B0004020202020204" pitchFamily="34" charset="0"/>
                        <a:cs typeface="Times New Roman" panose="02020603050405020304" pitchFamily="18" charset="0"/>
                      </a:endParaRPr>
                    </a:p>
                  </a:txBody>
                  <a:tcPr marL="65536" marR="6553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just">
                        <a:lnSpc>
                          <a:spcPct val="150000"/>
                        </a:lnSpc>
                        <a:spcAft>
                          <a:spcPts val="800"/>
                        </a:spcAft>
                      </a:pPr>
                      <a:r>
                        <a:rPr lang="it-IT" sz="1100" kern="100"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Mol Set</a:t>
                      </a:r>
                      <a:endParaRPr lang="en-MY" sz="1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5536" marR="6553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extLst>
                  <a:ext uri="{0D108BD9-81ED-4DB2-BD59-A6C34878D82A}">
                    <a16:rowId xmlns:a16="http://schemas.microsoft.com/office/drawing/2014/main" val="4019717912"/>
                  </a:ext>
                </a:extLst>
              </a:tr>
            </a:tbl>
          </a:graphicData>
        </a:graphic>
      </p:graphicFrame>
    </p:spTree>
    <p:extLst>
      <p:ext uri="{BB962C8B-B14F-4D97-AF65-F5344CB8AC3E}">
        <p14:creationId xmlns:p14="http://schemas.microsoft.com/office/powerpoint/2010/main" val="29972280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5129F4-11C6-82F6-ECFB-FA35674D29AD}"/>
              </a:ext>
            </a:extLst>
          </p:cNvPr>
          <p:cNvSpPr>
            <a:spLocks noGrp="1"/>
          </p:cNvSpPr>
          <p:nvPr>
            <p:ph type="title"/>
          </p:nvPr>
        </p:nvSpPr>
        <p:spPr/>
        <p:txBody>
          <a:bodyPr/>
          <a:lstStyle/>
          <a:p>
            <a:r>
              <a:rPr lang="en-US" dirty="0"/>
              <a:t>Interpretation of the </a:t>
            </a:r>
            <a:r>
              <a:rPr lang="en-US" dirty="0" err="1"/>
              <a:t>CoMFA</a:t>
            </a:r>
            <a:r>
              <a:rPr lang="en-US" dirty="0"/>
              <a:t> maps</a:t>
            </a:r>
            <a:endParaRPr lang="en-MY" dirty="0"/>
          </a:p>
        </p:txBody>
      </p:sp>
      <p:sp>
        <p:nvSpPr>
          <p:cNvPr id="3" name="Content Placeholder 2">
            <a:extLst>
              <a:ext uri="{FF2B5EF4-FFF2-40B4-BE49-F238E27FC236}">
                <a16:creationId xmlns:a16="http://schemas.microsoft.com/office/drawing/2014/main" id="{47F1010C-AC0B-298F-1F24-9E3D3DE58C06}"/>
              </a:ext>
            </a:extLst>
          </p:cNvPr>
          <p:cNvSpPr>
            <a:spLocks noGrp="1"/>
          </p:cNvSpPr>
          <p:nvPr>
            <p:ph idx="1"/>
          </p:nvPr>
        </p:nvSpPr>
        <p:spPr>
          <a:xfrm>
            <a:off x="654657" y="1607697"/>
            <a:ext cx="10882685" cy="5561729"/>
          </a:xfrm>
        </p:spPr>
        <p:txBody>
          <a:bodyPr>
            <a:normAutofit/>
          </a:bodyPr>
          <a:lstStyle/>
          <a:p>
            <a:pPr algn="just">
              <a:lnSpc>
                <a:spcPct val="150000"/>
              </a:lnSpc>
              <a:spcBef>
                <a:spcPts val="800"/>
              </a:spcBef>
              <a:spcAft>
                <a:spcPts val="400"/>
              </a:spcAft>
            </a:pPr>
            <a:r>
              <a:rPr lang="en-US" sz="1800" b="1" dirty="0">
                <a:solidFill>
                  <a:srgbClr val="000000"/>
                </a:solidFill>
                <a:effectLst/>
                <a:latin typeface="Times New Roman" panose="02020603050405020304" pitchFamily="18" charset="0"/>
                <a:ea typeface="DengXian Light" panose="02010600030101010101" pitchFamily="2" charset="-122"/>
              </a:rPr>
              <a:t>Dataset contour maps</a:t>
            </a:r>
            <a:endParaRPr lang="en-MY" sz="1800" b="1" dirty="0">
              <a:solidFill>
                <a:srgbClr val="FF0000"/>
              </a:solidFill>
              <a:effectLst/>
              <a:latin typeface="Times New Roman" panose="02020603050405020304" pitchFamily="18" charset="0"/>
              <a:ea typeface="DengXian Light" panose="02010600030101010101" pitchFamily="2" charset="-122"/>
            </a:endParaRPr>
          </a:p>
          <a:p>
            <a:pPr indent="457200" algn="just">
              <a:lnSpc>
                <a:spcPct val="150000"/>
              </a:lnSpc>
              <a:spcAft>
                <a:spcPts val="800"/>
              </a:spcAft>
            </a:pPr>
            <a:r>
              <a:rPr lang="en-US" sz="1800"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In this map, we have four models to inspect, which are STE</a:t>
            </a:r>
            <a:r>
              <a:rPr lang="en-US" sz="1800" dirty="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 (steric)</a:t>
            </a:r>
            <a:r>
              <a:rPr lang="en-US" sz="1800"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 ELE</a:t>
            </a:r>
            <a:r>
              <a:rPr lang="en-US" sz="1800" dirty="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 (electrostatic)</a:t>
            </a:r>
            <a:r>
              <a:rPr lang="en-US" sz="1800"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 SUM(ELE + STE), and the COMBINED(ELE_STE). We will inspect the COMBINED one because it gives us most informative about the model.</a:t>
            </a:r>
            <a:endParaRPr lang="en-MY" sz="1800" dirty="0">
              <a:effectLst/>
              <a:latin typeface="Aptos" panose="020B0004020202020204" pitchFamily="34" charset="0"/>
              <a:ea typeface="Aptos" panose="020B0004020202020204" pitchFamily="34" charset="0"/>
              <a:cs typeface="Times New Roman" panose="02020603050405020304" pitchFamily="18" charset="0"/>
            </a:endParaRPr>
          </a:p>
          <a:p>
            <a:pPr indent="457200" algn="just">
              <a:lnSpc>
                <a:spcPct val="150000"/>
              </a:lnSpc>
              <a:spcAft>
                <a:spcPts val="800"/>
              </a:spcAft>
            </a:pPr>
            <a:r>
              <a:rPr lang="en-US" sz="1800"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The red area and blue area contour are the area for electrostatic interactions, and are mostly related to the ability of molecules to establish hydrogen bond (acceptor and donator)</a:t>
            </a:r>
            <a:r>
              <a:rPr lang="en-US" sz="1800" dirty="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 It is the attractive or repulsive interaction between charged molecules. </a:t>
            </a:r>
          </a:p>
          <a:p>
            <a:pPr indent="457200" algn="just">
              <a:lnSpc>
                <a:spcPct val="150000"/>
              </a:lnSpc>
              <a:spcAft>
                <a:spcPts val="800"/>
              </a:spcAft>
            </a:pPr>
            <a:r>
              <a:rPr lang="en-US" sz="1800" dirty="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The red shows the region of higher electron density, that with high binding affinity (negative charge), meanwhile the blue shows lower electron density, with less affinity of the compound to bind the protein (partial positive charge).</a:t>
            </a:r>
            <a:endParaRPr lang="en-MY" sz="1800" dirty="0">
              <a:effectLst/>
              <a:latin typeface="Aptos" panose="020B0004020202020204" pitchFamily="34" charset="0"/>
              <a:ea typeface="Aptos" panose="020B0004020202020204" pitchFamily="34" charset="0"/>
              <a:cs typeface="Times New Roman" panose="02020603050405020304" pitchFamily="18" charset="0"/>
            </a:endParaRPr>
          </a:p>
          <a:p>
            <a:endParaRPr lang="en-MY" sz="1800" dirty="0"/>
          </a:p>
        </p:txBody>
      </p:sp>
    </p:spTree>
    <p:extLst>
      <p:ext uri="{BB962C8B-B14F-4D97-AF65-F5344CB8AC3E}">
        <p14:creationId xmlns:p14="http://schemas.microsoft.com/office/powerpoint/2010/main" val="314127051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088C14-3A04-CEA9-E1EC-3B95886AC6F5}"/>
              </a:ext>
            </a:extLst>
          </p:cNvPr>
          <p:cNvSpPr>
            <a:spLocks noGrp="1"/>
          </p:cNvSpPr>
          <p:nvPr>
            <p:ph type="title"/>
          </p:nvPr>
        </p:nvSpPr>
        <p:spPr/>
        <p:txBody>
          <a:bodyPr/>
          <a:lstStyle/>
          <a:p>
            <a:endParaRPr lang="en-MY"/>
          </a:p>
        </p:txBody>
      </p:sp>
      <p:sp>
        <p:nvSpPr>
          <p:cNvPr id="3" name="Content Placeholder 2">
            <a:extLst>
              <a:ext uri="{FF2B5EF4-FFF2-40B4-BE49-F238E27FC236}">
                <a16:creationId xmlns:a16="http://schemas.microsoft.com/office/drawing/2014/main" id="{E4925625-E596-069D-47D3-B955EFB964BF}"/>
              </a:ext>
            </a:extLst>
          </p:cNvPr>
          <p:cNvSpPr>
            <a:spLocks noGrp="1"/>
          </p:cNvSpPr>
          <p:nvPr>
            <p:ph idx="1"/>
          </p:nvPr>
        </p:nvSpPr>
        <p:spPr>
          <a:xfrm>
            <a:off x="305610" y="2272220"/>
            <a:ext cx="5790390" cy="5032375"/>
          </a:xfrm>
        </p:spPr>
        <p:txBody>
          <a:bodyPr>
            <a:normAutofit/>
          </a:bodyPr>
          <a:lstStyle/>
          <a:p>
            <a:pPr indent="457200" algn="just">
              <a:lnSpc>
                <a:spcPct val="150000"/>
              </a:lnSpc>
              <a:spcAft>
                <a:spcPts val="800"/>
              </a:spcAft>
            </a:pPr>
            <a:r>
              <a:rPr lang="en-MY" dirty="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Due to the presence of oxygen (red atom), there is a large region of green contour around the atom. The steric contour maps can give us information to increase (positive, green) or decrease (negative, yellow) in activity, based on the presence of certain steric hindrance.</a:t>
            </a:r>
            <a:endParaRPr lang="en-MY" dirty="0">
              <a:effectLst/>
              <a:latin typeface="Aptos" panose="020B0004020202020204" pitchFamily="34" charset="0"/>
              <a:ea typeface="Aptos" panose="020B0004020202020204" pitchFamily="34" charset="0"/>
              <a:cs typeface="Times New Roman" panose="02020603050405020304" pitchFamily="18" charset="0"/>
            </a:endParaRPr>
          </a:p>
          <a:p>
            <a:pPr indent="457200" algn="just">
              <a:lnSpc>
                <a:spcPct val="150000"/>
              </a:lnSpc>
              <a:spcAft>
                <a:spcPts val="800"/>
              </a:spcAft>
            </a:pPr>
            <a:endParaRPr lang="en-MY" dirty="0">
              <a:effectLst/>
              <a:latin typeface="Aptos" panose="020B0004020202020204" pitchFamily="34" charset="0"/>
              <a:ea typeface="Aptos" panose="020B0004020202020204" pitchFamily="34" charset="0"/>
              <a:cs typeface="Times New Roman" panose="02020603050405020304" pitchFamily="18" charset="0"/>
            </a:endParaRPr>
          </a:p>
          <a:p>
            <a:endParaRPr lang="en-MY" sz="2400" dirty="0"/>
          </a:p>
        </p:txBody>
      </p:sp>
      <p:pic>
        <p:nvPicPr>
          <p:cNvPr id="4" name="Picture 3">
            <a:extLst>
              <a:ext uri="{FF2B5EF4-FFF2-40B4-BE49-F238E27FC236}">
                <a16:creationId xmlns:a16="http://schemas.microsoft.com/office/drawing/2014/main" id="{601B12BE-49AD-9074-B204-A9055E5D2502}"/>
              </a:ext>
            </a:extLst>
          </p:cNvPr>
          <p:cNvPicPr>
            <a:picLocks noChangeAspect="1"/>
          </p:cNvPicPr>
          <p:nvPr/>
        </p:nvPicPr>
        <p:blipFill>
          <a:blip r:embed="rId3"/>
          <a:stretch>
            <a:fillRect/>
          </a:stretch>
        </p:blipFill>
        <p:spPr>
          <a:xfrm>
            <a:off x="3274012" y="958596"/>
            <a:ext cx="9903225" cy="4940808"/>
          </a:xfrm>
          <a:prstGeom prst="rect">
            <a:avLst/>
          </a:prstGeom>
        </p:spPr>
      </p:pic>
    </p:spTree>
    <p:extLst>
      <p:ext uri="{BB962C8B-B14F-4D97-AF65-F5344CB8AC3E}">
        <p14:creationId xmlns:p14="http://schemas.microsoft.com/office/powerpoint/2010/main" val="373795533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1CC5CC-1AB3-ACBF-5134-0AA8A01C8FBB}"/>
              </a:ext>
            </a:extLst>
          </p:cNvPr>
          <p:cNvSpPr>
            <a:spLocks noGrp="1"/>
          </p:cNvSpPr>
          <p:nvPr>
            <p:ph type="title"/>
          </p:nvPr>
        </p:nvSpPr>
        <p:spPr/>
        <p:txBody>
          <a:bodyPr/>
          <a:lstStyle/>
          <a:p>
            <a:endParaRPr lang="en-MY"/>
          </a:p>
        </p:txBody>
      </p:sp>
      <p:sp>
        <p:nvSpPr>
          <p:cNvPr id="3" name="Content Placeholder 2">
            <a:extLst>
              <a:ext uri="{FF2B5EF4-FFF2-40B4-BE49-F238E27FC236}">
                <a16:creationId xmlns:a16="http://schemas.microsoft.com/office/drawing/2014/main" id="{7C625F91-4EBE-A24A-F3A6-A696EE41BBF4}"/>
              </a:ext>
            </a:extLst>
          </p:cNvPr>
          <p:cNvSpPr>
            <a:spLocks noGrp="1"/>
          </p:cNvSpPr>
          <p:nvPr>
            <p:ph idx="1"/>
          </p:nvPr>
        </p:nvSpPr>
        <p:spPr>
          <a:xfrm>
            <a:off x="1097280" y="1845734"/>
            <a:ext cx="4998720" cy="4023360"/>
          </a:xfrm>
        </p:spPr>
        <p:txBody>
          <a:bodyPr>
            <a:normAutofit/>
          </a:bodyPr>
          <a:lstStyle/>
          <a:p>
            <a:r>
              <a:rPr lang="en-MY" sz="2400" dirty="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Near the chlorine atom (in light green) has red contour, can be hypothesised by the contribution to the molecules activity. The area around the structure of the molecules show blue contour, shows that activity might not happen in the area. </a:t>
            </a:r>
            <a:endParaRPr lang="en-MY" sz="2800" dirty="0"/>
          </a:p>
        </p:txBody>
      </p:sp>
      <p:pic>
        <p:nvPicPr>
          <p:cNvPr id="4" name="Picture 3">
            <a:extLst>
              <a:ext uri="{FF2B5EF4-FFF2-40B4-BE49-F238E27FC236}">
                <a16:creationId xmlns:a16="http://schemas.microsoft.com/office/drawing/2014/main" id="{7F08D719-6E39-D20E-1927-7086F5B64704}"/>
              </a:ext>
            </a:extLst>
          </p:cNvPr>
          <p:cNvPicPr>
            <a:picLocks noChangeAspect="1"/>
          </p:cNvPicPr>
          <p:nvPr/>
        </p:nvPicPr>
        <p:blipFill>
          <a:blip r:embed="rId3"/>
          <a:stretch>
            <a:fillRect/>
          </a:stretch>
        </p:blipFill>
        <p:spPr>
          <a:xfrm>
            <a:off x="4109543" y="748454"/>
            <a:ext cx="8842528" cy="5120640"/>
          </a:xfrm>
          <a:prstGeom prst="rect">
            <a:avLst/>
          </a:prstGeom>
        </p:spPr>
      </p:pic>
    </p:spTree>
    <p:extLst>
      <p:ext uri="{BB962C8B-B14F-4D97-AF65-F5344CB8AC3E}">
        <p14:creationId xmlns:p14="http://schemas.microsoft.com/office/powerpoint/2010/main" val="268960715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CE820E-800A-CCD9-EAF6-182428E82D62}"/>
              </a:ext>
            </a:extLst>
          </p:cNvPr>
          <p:cNvSpPr>
            <a:spLocks noGrp="1"/>
          </p:cNvSpPr>
          <p:nvPr>
            <p:ph type="title"/>
          </p:nvPr>
        </p:nvSpPr>
        <p:spPr/>
        <p:txBody>
          <a:bodyPr/>
          <a:lstStyle/>
          <a:p>
            <a:r>
              <a:rPr lang="en-MY" dirty="0"/>
              <a:t>Training Molecules Maps</a:t>
            </a:r>
          </a:p>
        </p:txBody>
      </p:sp>
      <p:sp>
        <p:nvSpPr>
          <p:cNvPr id="3" name="Content Placeholder 2">
            <a:extLst>
              <a:ext uri="{FF2B5EF4-FFF2-40B4-BE49-F238E27FC236}">
                <a16:creationId xmlns:a16="http://schemas.microsoft.com/office/drawing/2014/main" id="{6EE117FC-350D-D230-DC13-DB75C0A6353E}"/>
              </a:ext>
            </a:extLst>
          </p:cNvPr>
          <p:cNvSpPr>
            <a:spLocks noGrp="1"/>
          </p:cNvSpPr>
          <p:nvPr>
            <p:ph idx="1"/>
          </p:nvPr>
        </p:nvSpPr>
        <p:spPr/>
        <p:txBody>
          <a:bodyPr>
            <a:normAutofit/>
          </a:bodyPr>
          <a:lstStyle/>
          <a:p>
            <a:pPr>
              <a:lnSpc>
                <a:spcPct val="150000"/>
              </a:lnSpc>
            </a:pPr>
            <a:r>
              <a:rPr lang="en-US" sz="2400"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Now, we can inspect the original MIF for each molecule, and also the transformed MIFS. We will inspect the most important MIF for each molecule, which are those obtained by the multiplication of the MIF value, by the PLS coefficient. This gives us the activity contribution maps, that explain to which part of the molecule the potency related to</a:t>
            </a:r>
            <a:endParaRPr lang="en-MY" sz="2800" dirty="0"/>
          </a:p>
        </p:txBody>
      </p:sp>
    </p:spTree>
    <p:extLst>
      <p:ext uri="{BB962C8B-B14F-4D97-AF65-F5344CB8AC3E}">
        <p14:creationId xmlns:p14="http://schemas.microsoft.com/office/powerpoint/2010/main" val="248988422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44E632-AE05-FBF9-EA0D-ED6D6E9F1909}"/>
              </a:ext>
            </a:extLst>
          </p:cNvPr>
          <p:cNvSpPr>
            <a:spLocks noGrp="1"/>
          </p:cNvSpPr>
          <p:nvPr>
            <p:ph type="title"/>
          </p:nvPr>
        </p:nvSpPr>
        <p:spPr/>
        <p:txBody>
          <a:bodyPr/>
          <a:lstStyle/>
          <a:p>
            <a:endParaRPr lang="en-MY"/>
          </a:p>
        </p:txBody>
      </p:sp>
      <p:sp>
        <p:nvSpPr>
          <p:cNvPr id="4" name="Content Placeholder 2">
            <a:extLst>
              <a:ext uri="{FF2B5EF4-FFF2-40B4-BE49-F238E27FC236}">
                <a16:creationId xmlns:a16="http://schemas.microsoft.com/office/drawing/2014/main" id="{3454592E-1CBA-20E8-97D2-8C6A50AEF2B5}"/>
              </a:ext>
            </a:extLst>
          </p:cNvPr>
          <p:cNvSpPr>
            <a:spLocks noGrp="1"/>
          </p:cNvSpPr>
          <p:nvPr>
            <p:ph idx="1"/>
          </p:nvPr>
        </p:nvSpPr>
        <p:spPr>
          <a:xfrm>
            <a:off x="1096963" y="1846263"/>
            <a:ext cx="10058400" cy="4022725"/>
          </a:xfrm>
        </p:spPr>
        <p:txBody>
          <a:bodyPr>
            <a:normAutofit/>
          </a:bodyPr>
          <a:lstStyle/>
          <a:p>
            <a:r>
              <a:rPr lang="en-US" sz="2400"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We also compared the most potent molecule maps, with the least potent map. This is because of the activity is very different, the maps will be also very different. </a:t>
            </a:r>
          </a:p>
          <a:p>
            <a:r>
              <a:rPr lang="en-US" sz="2400"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The more green means more potent, and more yellow means less potent. In green we see positive steric field, where it is encouraged to add substituent to increase activity, while in yellow we see negative steric fields, and further steric hindrance not recommended that could lead to less activity. </a:t>
            </a:r>
          </a:p>
          <a:p>
            <a:r>
              <a:rPr lang="en-US" sz="2400"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Therefore, we can look at the maps for the highest and lowest activity are different, showing that which important parts that contributed to the activity. </a:t>
            </a:r>
            <a:endParaRPr lang="en-MY" sz="2400" dirty="0">
              <a:effectLst/>
              <a:latin typeface="Aptos" panose="020B0004020202020204" pitchFamily="34" charset="0"/>
              <a:ea typeface="Aptos" panose="020B0004020202020204" pitchFamily="34" charset="0"/>
              <a:cs typeface="Times New Roman" panose="02020603050405020304" pitchFamily="18" charset="0"/>
            </a:endParaRPr>
          </a:p>
          <a:p>
            <a:endParaRPr lang="en-MY" sz="2800" dirty="0"/>
          </a:p>
        </p:txBody>
      </p:sp>
    </p:spTree>
    <p:extLst>
      <p:ext uri="{BB962C8B-B14F-4D97-AF65-F5344CB8AC3E}">
        <p14:creationId xmlns:p14="http://schemas.microsoft.com/office/powerpoint/2010/main" val="164012270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DE2634-9EAE-FFF4-65DA-3352F8C9DA8F}"/>
              </a:ext>
            </a:extLst>
          </p:cNvPr>
          <p:cNvSpPr>
            <a:spLocks noGrp="1"/>
          </p:cNvSpPr>
          <p:nvPr>
            <p:ph type="title"/>
          </p:nvPr>
        </p:nvSpPr>
        <p:spPr/>
        <p:txBody>
          <a:bodyPr/>
          <a:lstStyle/>
          <a:p>
            <a:endParaRPr lang="en-MY"/>
          </a:p>
        </p:txBody>
      </p:sp>
      <p:pic>
        <p:nvPicPr>
          <p:cNvPr id="6" name="Picture 5">
            <a:extLst>
              <a:ext uri="{FF2B5EF4-FFF2-40B4-BE49-F238E27FC236}">
                <a16:creationId xmlns:a16="http://schemas.microsoft.com/office/drawing/2014/main" id="{A5C434DB-25A9-F5FE-F386-AF522FAEF05B}"/>
              </a:ext>
            </a:extLst>
          </p:cNvPr>
          <p:cNvPicPr>
            <a:picLocks noChangeAspect="1"/>
          </p:cNvPicPr>
          <p:nvPr/>
        </p:nvPicPr>
        <p:blipFill>
          <a:blip r:embed="rId3"/>
          <a:stretch>
            <a:fillRect/>
          </a:stretch>
        </p:blipFill>
        <p:spPr>
          <a:xfrm>
            <a:off x="2659668" y="895444"/>
            <a:ext cx="10267476" cy="5067112"/>
          </a:xfrm>
          <a:prstGeom prst="rect">
            <a:avLst/>
          </a:prstGeom>
        </p:spPr>
      </p:pic>
      <p:sp>
        <p:nvSpPr>
          <p:cNvPr id="12" name="TextBox 11">
            <a:extLst>
              <a:ext uri="{FF2B5EF4-FFF2-40B4-BE49-F238E27FC236}">
                <a16:creationId xmlns:a16="http://schemas.microsoft.com/office/drawing/2014/main" id="{F3A3B05D-C97E-8E89-1407-E17B09C93802}"/>
              </a:ext>
            </a:extLst>
          </p:cNvPr>
          <p:cNvSpPr txBox="1"/>
          <p:nvPr/>
        </p:nvSpPr>
        <p:spPr>
          <a:xfrm>
            <a:off x="902208" y="2346201"/>
            <a:ext cx="4771084" cy="2815514"/>
          </a:xfrm>
          <a:prstGeom prst="rect">
            <a:avLst/>
          </a:prstGeom>
          <a:noFill/>
        </p:spPr>
        <p:txBody>
          <a:bodyPr wrap="square">
            <a:spAutoFit/>
          </a:bodyPr>
          <a:lstStyle/>
          <a:p>
            <a:pPr indent="457200" algn="just">
              <a:lnSpc>
                <a:spcPct val="150000"/>
              </a:lnSpc>
              <a:spcAft>
                <a:spcPts val="800"/>
              </a:spcAft>
            </a:pPr>
            <a:r>
              <a:rPr lang="en-US" sz="2000"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In the diagram, we can see a large area of red contour around the -COOH structure, and fluorine atoms for electrostatic contribution in molecule 1a. This is because they have high electron density in that region that cause repulsive interaction. </a:t>
            </a:r>
            <a:endParaRPr lang="en-MY" sz="2000" dirty="0">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169460143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D69A8E-FD32-CC65-14D1-351D809CD3EC}"/>
              </a:ext>
            </a:extLst>
          </p:cNvPr>
          <p:cNvSpPr>
            <a:spLocks noGrp="1"/>
          </p:cNvSpPr>
          <p:nvPr>
            <p:ph type="title"/>
          </p:nvPr>
        </p:nvSpPr>
        <p:spPr/>
        <p:txBody>
          <a:bodyPr/>
          <a:lstStyle/>
          <a:p>
            <a:endParaRPr lang="en-MY"/>
          </a:p>
        </p:txBody>
      </p:sp>
      <p:pic>
        <p:nvPicPr>
          <p:cNvPr id="4" name="Content Placeholder 3">
            <a:extLst>
              <a:ext uri="{FF2B5EF4-FFF2-40B4-BE49-F238E27FC236}">
                <a16:creationId xmlns:a16="http://schemas.microsoft.com/office/drawing/2014/main" id="{65C86E53-2290-203C-E09A-9E7029D0FB27}"/>
              </a:ext>
            </a:extLst>
          </p:cNvPr>
          <p:cNvPicPr>
            <a:picLocks noGrp="1" noChangeAspect="1"/>
          </p:cNvPicPr>
          <p:nvPr>
            <p:ph idx="1"/>
          </p:nvPr>
        </p:nvPicPr>
        <p:blipFill>
          <a:blip r:embed="rId3"/>
          <a:stretch>
            <a:fillRect/>
          </a:stretch>
        </p:blipFill>
        <p:spPr>
          <a:xfrm>
            <a:off x="5168645" y="1423420"/>
            <a:ext cx="7334620" cy="4540880"/>
          </a:xfrm>
          <a:prstGeom prst="rect">
            <a:avLst/>
          </a:prstGeom>
        </p:spPr>
      </p:pic>
      <p:sp>
        <p:nvSpPr>
          <p:cNvPr id="6" name="TextBox 5">
            <a:extLst>
              <a:ext uri="{FF2B5EF4-FFF2-40B4-BE49-F238E27FC236}">
                <a16:creationId xmlns:a16="http://schemas.microsoft.com/office/drawing/2014/main" id="{A778CC07-3FBC-224D-4DC7-CEA31E8F0A5E}"/>
              </a:ext>
            </a:extLst>
          </p:cNvPr>
          <p:cNvSpPr txBox="1"/>
          <p:nvPr/>
        </p:nvSpPr>
        <p:spPr>
          <a:xfrm>
            <a:off x="655320" y="2157401"/>
            <a:ext cx="6096000" cy="3277179"/>
          </a:xfrm>
          <a:prstGeom prst="rect">
            <a:avLst/>
          </a:prstGeom>
          <a:noFill/>
        </p:spPr>
        <p:txBody>
          <a:bodyPr wrap="square">
            <a:spAutoFit/>
          </a:bodyPr>
          <a:lstStyle/>
          <a:p>
            <a:pPr indent="457200" algn="just">
              <a:lnSpc>
                <a:spcPct val="150000"/>
              </a:lnSpc>
              <a:spcAft>
                <a:spcPts val="800"/>
              </a:spcAft>
            </a:pPr>
            <a:r>
              <a:rPr lang="it-IT" sz="2000"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In the diagram, </a:t>
            </a:r>
            <a:r>
              <a:rPr lang="en-US" sz="2000"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most of the region of the molecule 2g has blue contour, but have red contour in the fluorine and oxygen and nitrogen atom. This is more matching to the steric contribution map, showing that this molecule has more specific region where the activity occur. The electrostatic contribution of this two molecules are very different. </a:t>
            </a:r>
            <a:endParaRPr lang="en-MY" sz="2000" dirty="0">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20181463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864F06-A472-35C6-CC96-0C45C21D2B81}"/>
              </a:ext>
            </a:extLst>
          </p:cNvPr>
          <p:cNvSpPr>
            <a:spLocks noGrp="1"/>
          </p:cNvSpPr>
          <p:nvPr>
            <p:ph type="title"/>
          </p:nvPr>
        </p:nvSpPr>
        <p:spPr/>
        <p:txBody>
          <a:bodyPr/>
          <a:lstStyle/>
          <a:p>
            <a:endParaRPr lang="en-MY"/>
          </a:p>
        </p:txBody>
      </p:sp>
      <p:pic>
        <p:nvPicPr>
          <p:cNvPr id="6" name="Content Placeholder 5">
            <a:extLst>
              <a:ext uri="{FF2B5EF4-FFF2-40B4-BE49-F238E27FC236}">
                <a16:creationId xmlns:a16="http://schemas.microsoft.com/office/drawing/2014/main" id="{4B72F471-F65E-FAEE-0C95-F4114DE16E56}"/>
              </a:ext>
            </a:extLst>
          </p:cNvPr>
          <p:cNvPicPr>
            <a:picLocks noGrp="1" noChangeAspect="1"/>
          </p:cNvPicPr>
          <p:nvPr>
            <p:ph idx="1"/>
          </p:nvPr>
        </p:nvPicPr>
        <p:blipFill>
          <a:blip r:embed="rId2"/>
          <a:stretch>
            <a:fillRect/>
          </a:stretch>
        </p:blipFill>
        <p:spPr>
          <a:xfrm>
            <a:off x="4101471" y="1027906"/>
            <a:ext cx="7964418" cy="4290854"/>
          </a:xfrm>
          <a:prstGeom prst="rect">
            <a:avLst/>
          </a:prstGeom>
        </p:spPr>
      </p:pic>
      <p:sp>
        <p:nvSpPr>
          <p:cNvPr id="8" name="TextBox 7">
            <a:extLst>
              <a:ext uri="{FF2B5EF4-FFF2-40B4-BE49-F238E27FC236}">
                <a16:creationId xmlns:a16="http://schemas.microsoft.com/office/drawing/2014/main" id="{92578E49-8541-7796-F6B8-3A0AC91C9BD2}"/>
              </a:ext>
            </a:extLst>
          </p:cNvPr>
          <p:cNvSpPr txBox="1"/>
          <p:nvPr/>
        </p:nvSpPr>
        <p:spPr>
          <a:xfrm>
            <a:off x="624840" y="2103436"/>
            <a:ext cx="5227320" cy="2815514"/>
          </a:xfrm>
          <a:prstGeom prst="rect">
            <a:avLst/>
          </a:prstGeom>
          <a:noFill/>
        </p:spPr>
        <p:txBody>
          <a:bodyPr wrap="square">
            <a:spAutoFit/>
          </a:bodyPr>
          <a:lstStyle/>
          <a:p>
            <a:pPr indent="457200" algn="just">
              <a:lnSpc>
                <a:spcPct val="150000"/>
              </a:lnSpc>
              <a:spcAft>
                <a:spcPts val="800"/>
              </a:spcAft>
            </a:pPr>
            <a:r>
              <a:rPr lang="en-US" sz="2000"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In the diagram, we can see that the less potent of the molecule might because the small area of green steric favorable in around the molecule, and more area of yellow steric unfavorable area, compared to the contour map of 2g below.</a:t>
            </a:r>
            <a:endParaRPr lang="en-MY" sz="2000" dirty="0">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372350715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56F639-15A0-DF97-F2B4-ABC9D753482B}"/>
              </a:ext>
            </a:extLst>
          </p:cNvPr>
          <p:cNvSpPr>
            <a:spLocks noGrp="1"/>
          </p:cNvSpPr>
          <p:nvPr>
            <p:ph type="title"/>
          </p:nvPr>
        </p:nvSpPr>
        <p:spPr/>
        <p:txBody>
          <a:bodyPr/>
          <a:lstStyle/>
          <a:p>
            <a:endParaRPr lang="en-MY"/>
          </a:p>
        </p:txBody>
      </p:sp>
      <p:pic>
        <p:nvPicPr>
          <p:cNvPr id="6" name="Content Placeholder 5">
            <a:extLst>
              <a:ext uri="{FF2B5EF4-FFF2-40B4-BE49-F238E27FC236}">
                <a16:creationId xmlns:a16="http://schemas.microsoft.com/office/drawing/2014/main" id="{C449B5DB-6BEB-7252-8A1E-2C4F4641CC93}"/>
              </a:ext>
            </a:extLst>
          </p:cNvPr>
          <p:cNvPicPr>
            <a:picLocks noGrp="1" noChangeAspect="1"/>
          </p:cNvPicPr>
          <p:nvPr>
            <p:ph idx="1"/>
          </p:nvPr>
        </p:nvPicPr>
        <p:blipFill>
          <a:blip r:embed="rId3"/>
          <a:stretch>
            <a:fillRect/>
          </a:stretch>
        </p:blipFill>
        <p:spPr>
          <a:xfrm>
            <a:off x="4033721" y="1027906"/>
            <a:ext cx="8839140" cy="4863608"/>
          </a:xfrm>
          <a:prstGeom prst="rect">
            <a:avLst/>
          </a:prstGeom>
        </p:spPr>
      </p:pic>
      <p:sp>
        <p:nvSpPr>
          <p:cNvPr id="8" name="TextBox 7">
            <a:extLst>
              <a:ext uri="{FF2B5EF4-FFF2-40B4-BE49-F238E27FC236}">
                <a16:creationId xmlns:a16="http://schemas.microsoft.com/office/drawing/2014/main" id="{F3728259-889C-FA08-D38B-B47C8BB4D276}"/>
              </a:ext>
            </a:extLst>
          </p:cNvPr>
          <p:cNvSpPr txBox="1"/>
          <p:nvPr/>
        </p:nvSpPr>
        <p:spPr>
          <a:xfrm>
            <a:off x="228600" y="1734161"/>
            <a:ext cx="6220968" cy="4662174"/>
          </a:xfrm>
          <a:prstGeom prst="rect">
            <a:avLst/>
          </a:prstGeom>
          <a:noFill/>
        </p:spPr>
        <p:txBody>
          <a:bodyPr wrap="square">
            <a:spAutoFit/>
          </a:bodyPr>
          <a:lstStyle/>
          <a:p>
            <a:pPr indent="457200" algn="just">
              <a:lnSpc>
                <a:spcPct val="150000"/>
              </a:lnSpc>
              <a:spcAft>
                <a:spcPts val="800"/>
              </a:spcAft>
            </a:pPr>
            <a:r>
              <a:rPr lang="en-US" sz="2000"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This showing that the most active part is the nitrogen structure with oxygen nearby, which cause them donating electron pairs, and has large area of green contour. Comparing to molecule 1a, the COOH structure does not contribute as much as the structure in 2g molecule. The steric activity map for molecule 2g has very large green area compare to molecule 1a, chowing that the high activity of compounds. This might also because the ring structure presence as the bulk that reduce the potency of compound in molecule 1a.</a:t>
            </a:r>
            <a:endParaRPr lang="en-MY" sz="2000" dirty="0">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134617405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5C425D-FED7-A8C3-7148-597A07C7594C}"/>
              </a:ext>
            </a:extLst>
          </p:cNvPr>
          <p:cNvSpPr>
            <a:spLocks noGrp="1"/>
          </p:cNvSpPr>
          <p:nvPr>
            <p:ph type="title"/>
          </p:nvPr>
        </p:nvSpPr>
        <p:spPr/>
        <p:txBody>
          <a:bodyPr/>
          <a:lstStyle/>
          <a:p>
            <a:r>
              <a:rPr lang="en-MY" dirty="0"/>
              <a:t>Conclusions</a:t>
            </a:r>
          </a:p>
        </p:txBody>
      </p:sp>
      <p:sp>
        <p:nvSpPr>
          <p:cNvPr id="3" name="Content Placeholder 2">
            <a:extLst>
              <a:ext uri="{FF2B5EF4-FFF2-40B4-BE49-F238E27FC236}">
                <a16:creationId xmlns:a16="http://schemas.microsoft.com/office/drawing/2014/main" id="{4E0F6B45-E04C-6CFB-07D2-9A0FB1105490}"/>
              </a:ext>
            </a:extLst>
          </p:cNvPr>
          <p:cNvSpPr>
            <a:spLocks noGrp="1"/>
          </p:cNvSpPr>
          <p:nvPr>
            <p:ph idx="1"/>
          </p:nvPr>
        </p:nvSpPr>
        <p:spPr/>
        <p:txBody>
          <a:bodyPr>
            <a:normAutofit/>
          </a:bodyPr>
          <a:lstStyle/>
          <a:p>
            <a:r>
              <a:rPr lang="en-US" sz="2400" dirty="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We have constructed highly predictive and statistically significant </a:t>
            </a:r>
            <a:r>
              <a:rPr lang="en-US" sz="2400" dirty="0" err="1">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CoMFA</a:t>
            </a:r>
            <a:r>
              <a:rPr lang="en-US" sz="2400" dirty="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 models for the DAT dataset. </a:t>
            </a:r>
          </a:p>
          <a:p>
            <a:r>
              <a:rPr lang="en-US" sz="2400" dirty="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The statistical results improved when we find the right parameters to make the model, which is perform VPO with Y-scrambling and external test set. </a:t>
            </a:r>
          </a:p>
          <a:p>
            <a:r>
              <a:rPr lang="en-US" sz="2400" dirty="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We have seen that the contour map for different potency of molecules behaved very differently. </a:t>
            </a:r>
            <a:r>
              <a:rPr lang="en-US" sz="2400" dirty="0" err="1">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CoMFA</a:t>
            </a:r>
            <a:r>
              <a:rPr lang="en-US" sz="2400" dirty="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 models suggest us that the steric and electrostatic interactions, play important roles in the binding of the molecules. </a:t>
            </a:r>
          </a:p>
          <a:p>
            <a:r>
              <a:rPr lang="en-US" sz="2400" dirty="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These findings will guide us for the design and improve the compounds with DAT activity. </a:t>
            </a:r>
            <a:endParaRPr lang="en-MY" sz="2400" dirty="0">
              <a:effectLst/>
              <a:latin typeface="Aptos" panose="020B0004020202020204" pitchFamily="34" charset="0"/>
              <a:ea typeface="Aptos" panose="020B0004020202020204" pitchFamily="34" charset="0"/>
              <a:cs typeface="Times New Roman" panose="02020603050405020304" pitchFamily="18" charset="0"/>
            </a:endParaRPr>
          </a:p>
          <a:p>
            <a:endParaRPr lang="en-MY" sz="2800" dirty="0"/>
          </a:p>
        </p:txBody>
      </p:sp>
    </p:spTree>
    <p:extLst>
      <p:ext uri="{BB962C8B-B14F-4D97-AF65-F5344CB8AC3E}">
        <p14:creationId xmlns:p14="http://schemas.microsoft.com/office/powerpoint/2010/main" val="371115568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329023-F9BF-CA99-7E3B-6B944193FDEA}"/>
              </a:ext>
            </a:extLst>
          </p:cNvPr>
          <p:cNvSpPr>
            <a:spLocks noGrp="1"/>
          </p:cNvSpPr>
          <p:nvPr>
            <p:ph type="title"/>
          </p:nvPr>
        </p:nvSpPr>
        <p:spPr/>
        <p:txBody>
          <a:bodyPr/>
          <a:lstStyle/>
          <a:p>
            <a:r>
              <a:rPr lang="en-MY" dirty="0"/>
              <a:t>References</a:t>
            </a:r>
          </a:p>
        </p:txBody>
      </p:sp>
      <p:sp>
        <p:nvSpPr>
          <p:cNvPr id="3" name="Content Placeholder 2">
            <a:extLst>
              <a:ext uri="{FF2B5EF4-FFF2-40B4-BE49-F238E27FC236}">
                <a16:creationId xmlns:a16="http://schemas.microsoft.com/office/drawing/2014/main" id="{99D5ACBA-5245-D436-690B-FFF2E8628F5A}"/>
              </a:ext>
            </a:extLst>
          </p:cNvPr>
          <p:cNvSpPr>
            <a:spLocks noGrp="1"/>
          </p:cNvSpPr>
          <p:nvPr>
            <p:ph idx="1"/>
          </p:nvPr>
        </p:nvSpPr>
        <p:spPr/>
        <p:txBody>
          <a:bodyPr>
            <a:normAutofit lnSpcReduction="10000"/>
          </a:bodyPr>
          <a:lstStyle/>
          <a:p>
            <a:pPr marL="342900" lvl="0" indent="-342900">
              <a:lnSpc>
                <a:spcPct val="150000"/>
              </a:lnSpc>
              <a:buFont typeface="+mj-lt"/>
              <a:buAutoNum type="arabicPeriod"/>
            </a:pPr>
            <a:r>
              <a:rPr lang="en-MY" sz="1600" dirty="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Teaching and Learning Computational Drug Design: Student Investigations of 3D Quantitative Structure–Activity Relationships through Web </a:t>
            </a:r>
            <a:r>
              <a:rPr lang="en-MY" sz="1600" dirty="0" err="1">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Applications.Rino</a:t>
            </a:r>
            <a:r>
              <a:rPr lang="en-MY" sz="1600" dirty="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 </a:t>
            </a:r>
            <a:r>
              <a:rPr lang="en-MY" sz="1600" dirty="0" err="1">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Ragno</a:t>
            </a:r>
            <a:r>
              <a:rPr lang="en-MY" sz="1600" dirty="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 Valeria Esposito, Martina Di Mario, Stefano Masiello, Marco </a:t>
            </a:r>
            <a:r>
              <a:rPr lang="en-MY" sz="1600" dirty="0" err="1">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Viscovo</a:t>
            </a:r>
            <a:r>
              <a:rPr lang="en-MY" sz="1600" dirty="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 and Richard D. </a:t>
            </a:r>
            <a:r>
              <a:rPr lang="en-MY" sz="1600" dirty="0" err="1">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Cramer.Journal</a:t>
            </a:r>
            <a:r>
              <a:rPr lang="en-MY" sz="1600" dirty="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 of Chemical Education 2020 97 (7), 1922-1930.DOI: 10.1021/acs.jchemed.0c00117</a:t>
            </a:r>
            <a:endParaRPr lang="en-MY" sz="16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50000"/>
              </a:lnSpc>
              <a:buFont typeface="+mj-lt"/>
              <a:buAutoNum type="arabicPeriod"/>
            </a:pPr>
            <a:r>
              <a:rPr lang="it-IT" sz="1600" dirty="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Yuan H, Kozikowski AP, Petukhov PA. CoMFA study of piperidine analogues of cocaine at the dopamine transporter: exploring the binding mode of the 3 alpha-substituent of the piperidine ring using pharmacophore-based flexible alignment. J Med Chem. 2004 Dec 2;47(25):6137-43. doi: 10.1021/jm049544s. PMID: 15566285.</a:t>
            </a:r>
            <a:endParaRPr lang="en-MY" sz="16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50000"/>
              </a:lnSpc>
              <a:spcAft>
                <a:spcPts val="800"/>
              </a:spcAft>
              <a:buFont typeface="+mj-lt"/>
              <a:buAutoNum type="arabicPeriod"/>
            </a:pPr>
            <a:r>
              <a:rPr lang="en-MY" sz="1600" dirty="0" err="1">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Ragno</a:t>
            </a:r>
            <a:r>
              <a:rPr lang="en-MY" sz="1600" dirty="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 R. www.3d-qsar.com: a web portal that brings 3-D QSAR to all electronic devices-the </a:t>
            </a:r>
            <a:r>
              <a:rPr lang="en-MY" sz="1600" dirty="0" err="1">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Py-CoMFA</a:t>
            </a:r>
            <a:r>
              <a:rPr lang="en-MY" sz="1600" dirty="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 web application as tool to build models from pre-aligned datasets. J </a:t>
            </a:r>
            <a:r>
              <a:rPr lang="en-MY" sz="1600" dirty="0" err="1">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Comput</a:t>
            </a:r>
            <a:r>
              <a:rPr lang="en-MY" sz="1600" dirty="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 Aided Mol Des. 2019 Sep;33(9):855-864. </a:t>
            </a:r>
            <a:r>
              <a:rPr lang="en-MY" sz="1600" dirty="0" err="1">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doi</a:t>
            </a:r>
            <a:r>
              <a:rPr lang="en-MY" sz="1600" dirty="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 10.1007/s10822-019-00231-x. </a:t>
            </a:r>
            <a:r>
              <a:rPr lang="en-MY" sz="1600" dirty="0" err="1">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Epub</a:t>
            </a:r>
            <a:r>
              <a:rPr lang="en-MY" sz="1600" dirty="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 2019 Oct 8. PMID: 31595406.</a:t>
            </a:r>
            <a:endParaRPr lang="en-MY" sz="1600" dirty="0">
              <a:effectLst/>
              <a:latin typeface="Aptos" panose="020B0004020202020204" pitchFamily="34" charset="0"/>
              <a:ea typeface="Aptos" panose="020B0004020202020204" pitchFamily="34" charset="0"/>
              <a:cs typeface="Times New Roman" panose="02020603050405020304" pitchFamily="18" charset="0"/>
            </a:endParaRPr>
          </a:p>
          <a:p>
            <a:endParaRPr lang="en-MY" sz="1800" dirty="0"/>
          </a:p>
        </p:txBody>
      </p:sp>
    </p:spTree>
    <p:extLst>
      <p:ext uri="{BB962C8B-B14F-4D97-AF65-F5344CB8AC3E}">
        <p14:creationId xmlns:p14="http://schemas.microsoft.com/office/powerpoint/2010/main" val="1733563022"/>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Retrospect</Template>
  <TotalTime>69</TotalTime>
  <Words>4560</Words>
  <Application>Microsoft Office PowerPoint</Application>
  <PresentationFormat>Widescreen</PresentationFormat>
  <Paragraphs>673</Paragraphs>
  <Slides>31</Slides>
  <Notes>22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31</vt:i4>
      </vt:variant>
    </vt:vector>
  </HeadingPairs>
  <TitlesOfParts>
    <vt:vector size="37" baseType="lpstr">
      <vt:lpstr>Aptos</vt:lpstr>
      <vt:lpstr>Calibri</vt:lpstr>
      <vt:lpstr>Calibri Light</vt:lpstr>
      <vt:lpstr>Cambria Math</vt:lpstr>
      <vt:lpstr>Times New Roman</vt:lpstr>
      <vt:lpstr>Retrospect</vt:lpstr>
      <vt:lpstr>Homework for the 3-D QSAR </vt:lpstr>
      <vt:lpstr>Introduction</vt:lpstr>
      <vt:lpstr>PowerPoint Presentation</vt:lpstr>
      <vt:lpstr>Methodology</vt:lpstr>
      <vt:lpstr>Methodology</vt:lpstr>
      <vt:lpstr>Statistical coefficients obtained from the calculation</vt:lpstr>
      <vt:lpstr>PowerPoint Presentation</vt:lpstr>
      <vt:lpstr>PowerPoint Presentation</vt:lpstr>
      <vt:lpstr>Interpretation</vt:lpstr>
      <vt:lpstr>Interpretation</vt:lpstr>
      <vt:lpstr>PowerPoint Presentation</vt:lpstr>
      <vt:lpstr>Results and Discussion</vt:lpstr>
      <vt:lpstr>PowerPoint Presentation</vt:lpstr>
      <vt:lpstr>PowerPoint Presentation</vt:lpstr>
      <vt:lpstr>PowerPoint Presentation</vt:lpstr>
      <vt:lpstr>PowerPoint Presentation</vt:lpstr>
      <vt:lpstr>PowerPoint Presentation</vt:lpstr>
      <vt:lpstr>Exp /Recalcd / Pred Activities</vt:lpstr>
      <vt:lpstr>PowerPoint Presentation</vt:lpstr>
      <vt:lpstr>PowerPoint Presentation</vt:lpstr>
      <vt:lpstr>Interpretation of the CoMFA maps</vt:lpstr>
      <vt:lpstr>PowerPoint Presentation</vt:lpstr>
      <vt:lpstr>PowerPoint Presentation</vt:lpstr>
      <vt:lpstr>Training Molecules Maps</vt:lpstr>
      <vt:lpstr>PowerPoint Presentation</vt:lpstr>
      <vt:lpstr>PowerPoint Presentation</vt:lpstr>
      <vt:lpstr>PowerPoint Presentation</vt:lpstr>
      <vt:lpstr>PowerPoint Presentation</vt:lpstr>
      <vt:lpstr>PowerPoint Presentation</vt:lpstr>
      <vt:lpstr>Conclusions</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Jia Sheng Siow</dc:creator>
  <cp:lastModifiedBy>Jia Sheng Siow</cp:lastModifiedBy>
  <cp:revision>57</cp:revision>
  <dcterms:created xsi:type="dcterms:W3CDTF">2025-01-08T21:03:23Z</dcterms:created>
  <dcterms:modified xsi:type="dcterms:W3CDTF">2025-01-09T09:18:11Z</dcterms:modified>
</cp:coreProperties>
</file>